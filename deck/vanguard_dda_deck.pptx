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framing this as a real project I'm rebuilding to layer in rigor the JD specifically calls for: quasi-experimental causal inference and formal optimization under uncertainty. Say up front that today's data is synthetic (next slide explains why) but the methods and the underlying real project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situation from my actual project. RMs and the retention team had no forward-looking signal, and the retention motion that did exist wasn't differentiated by WHY someone was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very explicit and upfront here: this is honest framing, not a trick. The real project and its real A/B-tested result are true. Today's code/slides are a demonstration I built to show the additional analytical engine skills this role asks for -- quasi-experimental causal inference and formal optimization -- using synthetic data with a KNOWN ground truth so I can validate my own methods before ever trusting them on a real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directly to the JD language: 'design the analytical engine... how relationships are modeled... how outputs are generated for decision-making.' Predict/Explain/Optimize is that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Engagement, DD stability, and liquidity-need scores dominate, as expected -- and region importance sits at noise level, a good sanity check that the model isn't picking up spurious geography effects. I evaluate by ranking quality, not hard-classification accuracy, because forcing balanced weights on an 89%-none target produces garbage precision numbers that don't reflect how the model is actually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what the JD is asking for: causal inference 'in situations where randomized testing is not feasible, practical, or cost-effective.' Both of these are real, non-randomized business rules, so I pick the quasi-experimental design that fits each one's structure rather than forcing an A/B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 matters because RDD's validity hinges entirely on people not being able to precisely manipulate which side of the cutoff they land on. I run this BEFORE trusting any effect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naive comparison looks almost nothing like the true effect because bigger withdrawals were already higher-risk before any outreach -- that confound roughly cancels out the real negative effect of the call. RDD isolates it by comparing only the narrow window right around the cutoff, where the confound is approximately constant on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deliberate methodological choice: I restricted the interaction test to the common pre-period window, because comparing cohorts with very different amounts of pre-period data would itself create a spurious 'differential trend' finding that has nothing to do with the actual assumption being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here if pressed: the gap between naive and CS-style is real but not huge in this simulation -- I'd say the point isn't that naive TWFE blew up spectacularly here, it's that you can't assume it won't. With more cohorts, longer ramps, or more heterogeneity, that gap widens, so checking for it is the discipline, not the headline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multiple-choice knapsack problem, solved with PuLP (CBC solver): each account can get at most one intervention, subject to a total budget and a separate RM-capacity constraint, since RM time -- not dollars -- is actually the binding resource for the withdrawal play. Note I flag the dormant effect honestly as an assumption, not a validated number, exactly the kind of intellectual honesty I'd bring to a real model risk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carefully: the heuristic, run without any cap, actually overspends the RM capacity by roughly 2x on its own -- that's itself a finding worth surfacing to the business, since it means the original process needed an unwritten manual cap that the optimization now formalizes.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bridge back to the STAR story: the real result stands on its own, and everything in this deck is presented as the next iteration of that same project, not a replacement for what actually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deliberate honesty, matching how I handled similar gap questions in the real project's prep -- own the gap, and turn it into the motivation for the role rather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have the bandwidth-sensitivity table and cohort-level ATT table ready if asked to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2011680"/>
            <a:ext cx="5486400" cy="5486400"/>
          </a:xfrm>
          <a:prstGeom prst="ellipse">
            <a:avLst/>
          </a:prstGeom>
          <a:solidFill>
            <a:srgbClr val="2C4870"/>
          </a:solidFill>
          <a:ln/>
        </p:spPr>
      </p:sp>
      <p:sp>
        <p:nvSpPr>
          <p:cNvPr id="3" name="Shape 1"/>
          <p:cNvSpPr/>
          <p:nvPr/>
        </p:nvSpPr>
        <p:spPr>
          <a:xfrm>
            <a:off x="10789920" y="4206240"/>
            <a:ext cx="2926080" cy="2926080"/>
          </a:xfrm>
          <a:prstGeom prst="ellipse">
            <a:avLst/>
          </a:prstGeom>
          <a:solidFill>
            <a:srgbClr val="C1613C"/>
          </a:solidFill>
          <a:ln/>
        </p:spPr>
      </p:sp>
      <p:sp>
        <p:nvSpPr>
          <p:cNvPr id="4" name="Text 2"/>
          <p:cNvSpPr/>
          <p:nvPr/>
        </p:nvSpPr>
        <p:spPr>
          <a:xfrm>
            <a:off x="640080" y="1417320"/>
            <a:ext cx="914400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DDA RETENTION  ·  DECISION ANALYTICS</a:t>
            </a:r>
            <a:endParaRPr lang="en-US" sz="1300" dirty="0"/>
          </a:p>
        </p:txBody>
      </p:sp>
      <p:sp>
        <p:nvSpPr>
          <p:cNvPr id="5" name="Text 3"/>
          <p:cNvSpPr/>
          <p:nvPr/>
        </p:nvSpPr>
        <p:spPr>
          <a:xfrm>
            <a:off x="640080" y="1874520"/>
            <a:ext cx="9875520" cy="1920240"/>
          </a:xfrm>
          <a:prstGeom prst="rect">
            <a:avLst/>
          </a:prstGeom>
          <a:noFill/>
          <a:ln/>
        </p:spPr>
        <p:txBody>
          <a:bodyPr wrap="square" lIns="0" tIns="0" rIns="0" bIns="0" rtlCol="0" anchor="ctr"/>
          <a:lstStyle/>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From a Heuristic Rule to a</a:t>
            </a:r>
            <a:endParaRPr lang="en-US" sz="4000" dirty="0"/>
          </a:p>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Causal, Optimized Decision Engine</a:t>
            </a:r>
            <a:endParaRPr lang="en-US" sz="4000" dirty="0"/>
          </a:p>
        </p:txBody>
      </p:sp>
      <p:sp>
        <p:nvSpPr>
          <p:cNvPr id="6" name="Text 4"/>
          <p:cNvSpPr/>
          <p:nvPr/>
        </p:nvSpPr>
        <p:spPr>
          <a:xfrm>
            <a:off x="640080" y="3703320"/>
            <a:ext cx="8778240" cy="73152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Rebuilding a real DDA retention project with quasi-experimental causal inference (RDD + staggered DiD) and formal budget optimization</a:t>
            </a:r>
            <a:endParaRPr lang="en-US" sz="1500" dirty="0"/>
          </a:p>
        </p:txBody>
      </p:sp>
      <p:sp>
        <p:nvSpPr>
          <p:cNvPr id="7" name="Text 5"/>
          <p:cNvSpPr/>
          <p:nvPr/>
        </p:nvSpPr>
        <p:spPr>
          <a:xfrm>
            <a:off x="640080" y="5989320"/>
            <a:ext cx="9144000" cy="365760"/>
          </a:xfrm>
          <a:prstGeom prst="rect">
            <a:avLst/>
          </a:prstGeom>
          <a:noFill/>
          <a:ln/>
        </p:spPr>
        <p:txBody>
          <a:bodyPr wrap="square" lIns="0" tIns="0" rIns="0" bIns="0" rtlCol="0" anchor="ctr"/>
          <a:lstStyle/>
          <a:p>
            <a:pPr indent="0" marL="0">
              <a:buNone/>
            </a:pPr>
            <a:r>
              <a:rPr lang="en-US" sz="1200" dirty="0">
                <a:solidFill>
                  <a:srgbClr val="5B6B8C"/>
                </a:solidFill>
                <a:latin typeface="Calibri" pitchFamily="34" charset="0"/>
                <a:ea typeface="Calibri" pitchFamily="34" charset="-122"/>
                <a:cs typeface="Calibri" pitchFamily="34" charset="-120"/>
              </a:rPr>
              <a:t>Presented for: Data Analyst, Senior Specialist / Data Scientist — Decision Analytics &amp; Modeling, Vanguard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SITUATION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We were losing checking accounts —</a:t>
            </a:r>
            <a:endParaRPr lang="en-US" sz="2800" dirty="0"/>
          </a:p>
          <a:p>
            <a:pPr indent="0" marL="0">
              <a:buNone/>
            </a:pPr>
            <a:r>
              <a:rPr lang="en-US" sz="2800" b="1" dirty="0">
                <a:solidFill>
                  <a:srgbClr val="1E2761"/>
                </a:solidFill>
                <a:latin typeface="Cambria" pitchFamily="34" charset="0"/>
                <a:ea typeface="Cambria" pitchFamily="34" charset="-122"/>
                <a:cs typeface="Cambria" pitchFamily="34" charset="-120"/>
              </a:rPr>
              <a:t>and only found out after they'd already closed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640080" y="2103120"/>
            <a:ext cx="457200" cy="457200"/>
          </a:xfrm>
          <a:prstGeom prst="ellipse">
            <a:avLst/>
          </a:prstGeom>
          <a:solidFill>
            <a:srgbClr val="2C4870"/>
          </a:solidFill>
          <a:ln/>
        </p:spPr>
      </p:sp>
      <p:sp>
        <p:nvSpPr>
          <p:cNvPr id="6" name="Text 4"/>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25880" y="20574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No early-warning system</a:t>
            </a:r>
            <a:endParaRPr lang="en-US" sz="1700" dirty="0"/>
          </a:p>
        </p:txBody>
      </p:sp>
      <p:sp>
        <p:nvSpPr>
          <p:cNvPr id="8" name="Text 6"/>
          <p:cNvSpPr/>
          <p:nvPr/>
        </p:nvSpPr>
        <p:spPr>
          <a:xfrm>
            <a:off x="1325880" y="24505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Attrition was visible only in the rear-view mirror: the account was already closed by the time it showed up in a report.</a:t>
            </a:r>
            <a:endParaRPr lang="en-US" sz="1300" dirty="0"/>
          </a:p>
        </p:txBody>
      </p:sp>
      <p:sp>
        <p:nvSpPr>
          <p:cNvPr id="9" name="Shape 7"/>
          <p:cNvSpPr/>
          <p:nvPr/>
        </p:nvSpPr>
        <p:spPr>
          <a:xfrm>
            <a:off x="640080" y="3474720"/>
            <a:ext cx="457200" cy="457200"/>
          </a:xfrm>
          <a:prstGeom prst="ellipse">
            <a:avLst/>
          </a:prstGeom>
          <a:solidFill>
            <a:srgbClr val="2C4870"/>
          </a:solidFill>
          <a:ln/>
        </p:spPr>
      </p:sp>
      <p:sp>
        <p:nvSpPr>
          <p:cNvPr id="10" name="Text 8"/>
          <p:cNvSpPr/>
          <p:nvPr/>
        </p:nvSpPr>
        <p:spPr>
          <a:xfrm>
            <a:off x="640080" y="34747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p:nvPr/>
        </p:nvSpPr>
        <p:spPr>
          <a:xfrm>
            <a:off x="1325880" y="34290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One-size-fits-all retention</a:t>
            </a:r>
            <a:endParaRPr lang="en-US" sz="1700" dirty="0"/>
          </a:p>
        </p:txBody>
      </p:sp>
      <p:sp>
        <p:nvSpPr>
          <p:cNvPr id="12" name="Text 10"/>
          <p:cNvSpPr/>
          <p:nvPr/>
        </p:nvSpPr>
        <p:spPr>
          <a:xfrm>
            <a:off x="1325880" y="38221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Every at-risk account got the same generic outreach, regardless of why it was actually at risk.</a:t>
            </a:r>
            <a:endParaRPr lang="en-US" sz="1300" dirty="0"/>
          </a:p>
        </p:txBody>
      </p:sp>
      <p:sp>
        <p:nvSpPr>
          <p:cNvPr id="13" name="Shape 11"/>
          <p:cNvSpPr/>
          <p:nvPr/>
        </p:nvSpPr>
        <p:spPr>
          <a:xfrm>
            <a:off x="640080" y="4846320"/>
            <a:ext cx="457200" cy="457200"/>
          </a:xfrm>
          <a:prstGeom prst="ellipse">
            <a:avLst/>
          </a:prstGeom>
          <a:solidFill>
            <a:srgbClr val="2C4870"/>
          </a:solidFill>
          <a:ln/>
        </p:spPr>
      </p:sp>
      <p:sp>
        <p:nvSpPr>
          <p:cNvPr id="14" name="Text 12"/>
          <p:cNvSpPr/>
          <p:nvPr/>
        </p:nvSpPr>
        <p:spPr>
          <a:xfrm>
            <a:off x="640080" y="4846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3"/>
          <p:cNvSpPr/>
          <p:nvPr/>
        </p:nvSpPr>
        <p:spPr>
          <a:xfrm>
            <a:off x="1325880" y="48006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DDA is the low-cost funding base</a:t>
            </a:r>
            <a:endParaRPr lang="en-US" sz="1700" dirty="0"/>
          </a:p>
        </p:txBody>
      </p:sp>
      <p:sp>
        <p:nvSpPr>
          <p:cNvPr id="16" name="Text 14"/>
          <p:cNvSpPr/>
          <p:nvPr/>
        </p:nvSpPr>
        <p:spPr>
          <a:xfrm>
            <a:off x="1325880" y="51937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Every checking relationship lost isn't just a balance — it's lifetime value and future cross-sell, gone.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TASK — AND WHAT YOU'RE ABOUT TO SEE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Two things layered together: a real project,</a:t>
            </a:r>
            <a:endParaRPr lang="en-US" sz="2800" dirty="0"/>
          </a:p>
          <a:p>
            <a:pPr indent="0" marL="0">
              <a:buNone/>
            </a:pPr>
            <a:r>
              <a:rPr lang="en-US" sz="2800" b="1" dirty="0">
                <a:solidFill>
                  <a:srgbClr val="1E2761"/>
                </a:solidFill>
                <a:latin typeface="Cambria" pitchFamily="34" charset="0"/>
                <a:ea typeface="Cambria" pitchFamily="34" charset="-122"/>
                <a:cs typeface="Cambria" pitchFamily="34" charset="-120"/>
              </a:rPr>
              <a:t>and a rebuild that adds the rigor this role asks for</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2011680"/>
            <a:ext cx="5394960" cy="3977640"/>
          </a:xfrm>
          <a:prstGeom prst="roundRect">
            <a:avLst>
              <a:gd name="adj" fmla="val 1839"/>
            </a:avLst>
          </a:prstGeom>
          <a:solidFill>
            <a:srgbClr val="EEF3FC"/>
          </a:solidFill>
          <a:ln/>
        </p:spPr>
      </p:sp>
      <p:sp>
        <p:nvSpPr>
          <p:cNvPr id="6" name="Text 4"/>
          <p:cNvSpPr/>
          <p:nvPr/>
        </p:nvSpPr>
        <p:spPr>
          <a:xfrm>
            <a:off x="868680" y="2240280"/>
            <a:ext cx="475488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I ACTUALLY BUILT</a:t>
            </a:r>
            <a:endParaRPr lang="en-US" sz="1200" dirty="0"/>
          </a:p>
        </p:txBody>
      </p:sp>
      <p:sp>
        <p:nvSpPr>
          <p:cNvPr id="7" name="Text 5"/>
          <p:cNvSpPr/>
          <p:nvPr/>
        </p:nvSpPr>
        <p:spPr>
          <a:xfrm>
            <a:off x="868680" y="2651760"/>
            <a:ext cx="4754880" cy="320040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Multi-class model predicting HOW an at-risk account would churn (large withdrawal / DD stop / dormant)</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Trigger-based interventions, one per churn mode</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Validated with a randomized A/B test: 30% relative churn reduction</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Gap I owned at the time: validation leaned on the A/B test alone — no quasi-experimental analysis, no formal budget optimization</a:t>
            </a:r>
            <a:endParaRPr lang="en-US" sz="1250" dirty="0"/>
          </a:p>
        </p:txBody>
      </p:sp>
      <p:sp>
        <p:nvSpPr>
          <p:cNvPr id="8" name="Shape 6"/>
          <p:cNvSpPr/>
          <p:nvPr/>
        </p:nvSpPr>
        <p:spPr>
          <a:xfrm>
            <a:off x="6217920" y="2011680"/>
            <a:ext cx="5394960" cy="3977640"/>
          </a:xfrm>
          <a:prstGeom prst="roundRect">
            <a:avLst>
              <a:gd name="adj" fmla="val 1839"/>
            </a:avLst>
          </a:prstGeom>
          <a:solidFill>
            <a:srgbClr val="1E2761"/>
          </a:solidFill>
          <a:ln/>
        </p:spPr>
      </p:sp>
      <p:sp>
        <p:nvSpPr>
          <p:cNvPr id="9" name="Text 7"/>
          <p:cNvSpPr/>
          <p:nvPr/>
        </p:nvSpPr>
        <p:spPr>
          <a:xfrm>
            <a:off x="6537960" y="2240280"/>
            <a:ext cx="475488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I'M WALKING THROUGH TODAY</a:t>
            </a:r>
            <a:endParaRPr lang="en-US" sz="1200" dirty="0"/>
          </a:p>
        </p:txBody>
      </p:sp>
      <p:sp>
        <p:nvSpPr>
          <p:cNvPr id="10" name="Text 8"/>
          <p:cNvSpPr/>
          <p:nvPr/>
        </p:nvSpPr>
        <p:spPr>
          <a:xfrm>
            <a:off x="6537960" y="2651760"/>
            <a:ext cx="4754880" cy="320040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rebuild that closes that gap, on my own time, with synthetic data (real account data obviously can't leave the bank)</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Two of the triggers weren't randomized — I use RDD and staggered-rollout DiD to identify their causal effect instead</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The old "top 50% by value" cutoff becomes a formal budget-constrained optimization</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I know the true effect I built into the data, so I can grade whether my own methods recover it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APPROACH</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analytical engine: three layers, one decision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640080" y="2148840"/>
            <a:ext cx="3520440" cy="3291840"/>
          </a:xfrm>
          <a:prstGeom prst="roundRect">
            <a:avLst>
              <a:gd name="adj" fmla="val 2222"/>
            </a:avLst>
          </a:prstGeom>
          <a:solidFill>
            <a:srgbClr val="EEF3FC"/>
          </a:solidFill>
          <a:ln/>
        </p:spPr>
      </p:sp>
      <p:sp>
        <p:nvSpPr>
          <p:cNvPr id="6" name="Shape 4"/>
          <p:cNvSpPr/>
          <p:nvPr/>
        </p:nvSpPr>
        <p:spPr>
          <a:xfrm>
            <a:off x="914400" y="2423160"/>
            <a:ext cx="502920" cy="502920"/>
          </a:xfrm>
          <a:prstGeom prst="ellipse">
            <a:avLst/>
          </a:prstGeom>
          <a:solidFill>
            <a:srgbClr val="2C4870"/>
          </a:solidFill>
          <a:ln/>
        </p:spPr>
      </p:sp>
      <p:sp>
        <p:nvSpPr>
          <p:cNvPr id="7" name="Text 5"/>
          <p:cNvSpPr/>
          <p:nvPr/>
        </p:nvSpPr>
        <p:spPr>
          <a:xfrm>
            <a:off x="914400" y="2423160"/>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1</a:t>
            </a:r>
            <a:endParaRPr lang="en-US" sz="1540" dirty="0"/>
          </a:p>
        </p:txBody>
      </p:sp>
      <p:sp>
        <p:nvSpPr>
          <p:cNvPr id="8" name="Text 6"/>
          <p:cNvSpPr/>
          <p:nvPr/>
        </p:nvSpPr>
        <p:spPr>
          <a:xfrm>
            <a:off x="914400" y="3108960"/>
            <a:ext cx="297180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PREDICT</a:t>
            </a:r>
            <a:endParaRPr lang="en-US" sz="1600" dirty="0"/>
          </a:p>
        </p:txBody>
      </p:sp>
      <p:sp>
        <p:nvSpPr>
          <p:cNvPr id="9" name="Text 7"/>
          <p:cNvSpPr/>
          <p:nvPr/>
        </p:nvSpPr>
        <p:spPr>
          <a:xfrm>
            <a:off x="914400" y="3520440"/>
            <a:ext cx="2971800" cy="1737360"/>
          </a:xfrm>
          <a:prstGeom prst="rect">
            <a:avLst/>
          </a:prstGeom>
          <a:noFill/>
          <a:ln/>
        </p:spPr>
        <p:txBody>
          <a:bodyPr wrap="square" lIns="0" tIns="0" rIns="0" bIns="0" rtlCol="0" anchor="ctr"/>
          <a:lstStyle/>
          <a:p>
            <a:pPr indent="0" marL="0">
              <a:lnSpc>
                <a:spcPct val="120000"/>
              </a:lnSpc>
              <a:buNone/>
            </a:pPr>
            <a:r>
              <a:rPr lang="en-US" sz="1250" dirty="0">
                <a:solidFill>
                  <a:srgbClr val="5B6B8C"/>
                </a:solidFill>
                <a:latin typeface="Calibri" pitchFamily="34" charset="0"/>
                <a:ea typeface="Calibri" pitchFamily="34" charset="-122"/>
                <a:cs typeface="Calibri" pitchFamily="34" charset="-120"/>
              </a:rPr>
              <a:t>Multi-class model: which churn mode is this account heading toward?</a:t>
            </a:r>
            <a:endParaRPr lang="en-US" sz="1250" dirty="0"/>
          </a:p>
        </p:txBody>
      </p:sp>
      <p:sp>
        <p:nvSpPr>
          <p:cNvPr id="10" name="Text 8"/>
          <p:cNvSpPr/>
          <p:nvPr/>
        </p:nvSpPr>
        <p:spPr>
          <a:xfrm>
            <a:off x="4178808" y="3383280"/>
            <a:ext cx="283464" cy="548640"/>
          </a:xfrm>
          <a:prstGeom prst="rect">
            <a:avLst/>
          </a:prstGeom>
          <a:noFill/>
          <a:ln/>
        </p:spPr>
        <p:txBody>
          <a:bodyPr wrap="square" lIns="0" tIns="0" rIns="0" bIns="0" rtlCol="0" anchor="ctr"/>
          <a:lstStyle/>
          <a:p>
            <a:pPr algn="ctr" indent="0" marL="0">
              <a:buNone/>
            </a:pPr>
            <a:r>
              <a:rPr lang="en-US" sz="2600" b="1" dirty="0">
                <a:solidFill>
                  <a:srgbClr val="C1613C"/>
                </a:solidFill>
                <a:latin typeface="Calibri" pitchFamily="34" charset="0"/>
                <a:ea typeface="Calibri" pitchFamily="34" charset="-122"/>
                <a:cs typeface="Calibri" pitchFamily="34" charset="-120"/>
              </a:rPr>
              <a:t>→</a:t>
            </a:r>
            <a:endParaRPr lang="en-US" sz="2600" dirty="0"/>
          </a:p>
        </p:txBody>
      </p:sp>
      <p:sp>
        <p:nvSpPr>
          <p:cNvPr id="11" name="Shape 9"/>
          <p:cNvSpPr/>
          <p:nvPr/>
        </p:nvSpPr>
        <p:spPr>
          <a:xfrm>
            <a:off x="4480560" y="2148840"/>
            <a:ext cx="3520440" cy="3291840"/>
          </a:xfrm>
          <a:prstGeom prst="roundRect">
            <a:avLst>
              <a:gd name="adj" fmla="val 2222"/>
            </a:avLst>
          </a:prstGeom>
          <a:solidFill>
            <a:srgbClr val="EEF3FC"/>
          </a:solidFill>
          <a:ln/>
        </p:spPr>
      </p:sp>
      <p:sp>
        <p:nvSpPr>
          <p:cNvPr id="12" name="Shape 10"/>
          <p:cNvSpPr/>
          <p:nvPr/>
        </p:nvSpPr>
        <p:spPr>
          <a:xfrm>
            <a:off x="4754880" y="2423160"/>
            <a:ext cx="502920" cy="502920"/>
          </a:xfrm>
          <a:prstGeom prst="ellipse">
            <a:avLst/>
          </a:prstGeom>
          <a:solidFill>
            <a:srgbClr val="C1613C"/>
          </a:solidFill>
          <a:ln/>
        </p:spPr>
      </p:sp>
      <p:sp>
        <p:nvSpPr>
          <p:cNvPr id="13" name="Text 11"/>
          <p:cNvSpPr/>
          <p:nvPr/>
        </p:nvSpPr>
        <p:spPr>
          <a:xfrm>
            <a:off x="4754880" y="2423160"/>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2</a:t>
            </a:r>
            <a:endParaRPr lang="en-US" sz="1540" dirty="0"/>
          </a:p>
        </p:txBody>
      </p:sp>
      <p:sp>
        <p:nvSpPr>
          <p:cNvPr id="14" name="Text 12"/>
          <p:cNvSpPr/>
          <p:nvPr/>
        </p:nvSpPr>
        <p:spPr>
          <a:xfrm>
            <a:off x="4754880" y="3108960"/>
            <a:ext cx="297180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EXPLAIN (CAUSAL)</a:t>
            </a:r>
            <a:endParaRPr lang="en-US" sz="1600" dirty="0"/>
          </a:p>
        </p:txBody>
      </p:sp>
      <p:sp>
        <p:nvSpPr>
          <p:cNvPr id="15" name="Text 13"/>
          <p:cNvSpPr/>
          <p:nvPr/>
        </p:nvSpPr>
        <p:spPr>
          <a:xfrm>
            <a:off x="4754880" y="3520440"/>
            <a:ext cx="2971800" cy="1737360"/>
          </a:xfrm>
          <a:prstGeom prst="rect">
            <a:avLst/>
          </a:prstGeom>
          <a:noFill/>
          <a:ln/>
        </p:spPr>
        <p:txBody>
          <a:bodyPr wrap="square" lIns="0" tIns="0" rIns="0" bIns="0" rtlCol="0" anchor="ctr"/>
          <a:lstStyle/>
          <a:p>
            <a:pPr indent="0" marL="0">
              <a:lnSpc>
                <a:spcPct val="120000"/>
              </a:lnSpc>
              <a:buNone/>
            </a:pPr>
            <a:r>
              <a:rPr lang="en-US" sz="1250" dirty="0">
                <a:solidFill>
                  <a:srgbClr val="5B6B8C"/>
                </a:solidFill>
                <a:latin typeface="Calibri" pitchFamily="34" charset="0"/>
                <a:ea typeface="Calibri" pitchFamily="34" charset="-122"/>
                <a:cs typeface="Calibri" pitchFamily="34" charset="-120"/>
              </a:rPr>
              <a:t>RDD + staggered DiD: what's the true effect of each intervention, isolated from confounds?</a:t>
            </a:r>
            <a:endParaRPr lang="en-US" sz="1250" dirty="0"/>
          </a:p>
        </p:txBody>
      </p:sp>
      <p:sp>
        <p:nvSpPr>
          <p:cNvPr id="16" name="Text 14"/>
          <p:cNvSpPr/>
          <p:nvPr/>
        </p:nvSpPr>
        <p:spPr>
          <a:xfrm>
            <a:off x="8019288" y="3383280"/>
            <a:ext cx="283464" cy="548640"/>
          </a:xfrm>
          <a:prstGeom prst="rect">
            <a:avLst/>
          </a:prstGeom>
          <a:noFill/>
          <a:ln/>
        </p:spPr>
        <p:txBody>
          <a:bodyPr wrap="square" lIns="0" tIns="0" rIns="0" bIns="0" rtlCol="0" anchor="ctr"/>
          <a:lstStyle/>
          <a:p>
            <a:pPr algn="ctr" indent="0" marL="0">
              <a:buNone/>
            </a:pPr>
            <a:r>
              <a:rPr lang="en-US" sz="2600" b="1" dirty="0">
                <a:solidFill>
                  <a:srgbClr val="C1613C"/>
                </a:solidFill>
                <a:latin typeface="Calibri" pitchFamily="34" charset="0"/>
                <a:ea typeface="Calibri" pitchFamily="34" charset="-122"/>
                <a:cs typeface="Calibri" pitchFamily="34" charset="-120"/>
              </a:rPr>
              <a:t>→</a:t>
            </a:r>
            <a:endParaRPr lang="en-US" sz="2600" dirty="0"/>
          </a:p>
        </p:txBody>
      </p:sp>
      <p:sp>
        <p:nvSpPr>
          <p:cNvPr id="17" name="Shape 15"/>
          <p:cNvSpPr/>
          <p:nvPr/>
        </p:nvSpPr>
        <p:spPr>
          <a:xfrm>
            <a:off x="8321040" y="2148840"/>
            <a:ext cx="3520440" cy="3291840"/>
          </a:xfrm>
          <a:prstGeom prst="roundRect">
            <a:avLst>
              <a:gd name="adj" fmla="val 2222"/>
            </a:avLst>
          </a:prstGeom>
          <a:solidFill>
            <a:srgbClr val="EEF3FC"/>
          </a:solidFill>
          <a:ln/>
        </p:spPr>
      </p:sp>
      <p:sp>
        <p:nvSpPr>
          <p:cNvPr id="18" name="Shape 16"/>
          <p:cNvSpPr/>
          <p:nvPr/>
        </p:nvSpPr>
        <p:spPr>
          <a:xfrm>
            <a:off x="8595360" y="2423160"/>
            <a:ext cx="502920" cy="502920"/>
          </a:xfrm>
          <a:prstGeom prst="ellipse">
            <a:avLst/>
          </a:prstGeom>
          <a:solidFill>
            <a:srgbClr val="2C4870"/>
          </a:solidFill>
          <a:ln/>
        </p:spPr>
      </p:sp>
      <p:sp>
        <p:nvSpPr>
          <p:cNvPr id="19" name="Text 17"/>
          <p:cNvSpPr/>
          <p:nvPr/>
        </p:nvSpPr>
        <p:spPr>
          <a:xfrm>
            <a:off x="8595360" y="2423160"/>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3</a:t>
            </a:r>
            <a:endParaRPr lang="en-US" sz="1540" dirty="0"/>
          </a:p>
        </p:txBody>
      </p:sp>
      <p:sp>
        <p:nvSpPr>
          <p:cNvPr id="20" name="Text 18"/>
          <p:cNvSpPr/>
          <p:nvPr/>
        </p:nvSpPr>
        <p:spPr>
          <a:xfrm>
            <a:off x="8595360" y="3108960"/>
            <a:ext cx="297180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OPTIMIZE</a:t>
            </a:r>
            <a:endParaRPr lang="en-US" sz="1600" dirty="0"/>
          </a:p>
        </p:txBody>
      </p:sp>
      <p:sp>
        <p:nvSpPr>
          <p:cNvPr id="21" name="Text 19"/>
          <p:cNvSpPr/>
          <p:nvPr/>
        </p:nvSpPr>
        <p:spPr>
          <a:xfrm>
            <a:off x="8595360" y="3520440"/>
            <a:ext cx="2971800" cy="1737360"/>
          </a:xfrm>
          <a:prstGeom prst="rect">
            <a:avLst/>
          </a:prstGeom>
          <a:noFill/>
          <a:ln/>
        </p:spPr>
        <p:txBody>
          <a:bodyPr wrap="square" lIns="0" tIns="0" rIns="0" bIns="0" rtlCol="0" anchor="ctr"/>
          <a:lstStyle/>
          <a:p>
            <a:pPr indent="0" marL="0">
              <a:lnSpc>
                <a:spcPct val="120000"/>
              </a:lnSpc>
              <a:buNone/>
            </a:pPr>
            <a:r>
              <a:rPr lang="en-US" sz="1250" dirty="0">
                <a:solidFill>
                  <a:srgbClr val="5B6B8C"/>
                </a:solidFill>
                <a:latin typeface="Calibri" pitchFamily="34" charset="0"/>
                <a:ea typeface="Calibri" pitchFamily="34" charset="-122"/>
                <a:cs typeface="Calibri" pitchFamily="34" charset="-120"/>
              </a:rPr>
              <a:t>Budget &amp; capacity-constrained ILP: given effects and costs, who gets what, this month?</a:t>
            </a:r>
            <a:endParaRPr lang="en-US" sz="1250" dirty="0"/>
          </a:p>
        </p:txBody>
      </p:sp>
      <p:sp>
        <p:nvSpPr>
          <p:cNvPr id="22" name="Text 20"/>
          <p:cNvSpPr/>
          <p:nvPr/>
        </p:nvSpPr>
        <p:spPr>
          <a:xfrm>
            <a:off x="640080" y="5623560"/>
            <a:ext cx="10881360" cy="548640"/>
          </a:xfrm>
          <a:prstGeom prst="rect">
            <a:avLst/>
          </a:prstGeom>
          <a:noFill/>
          <a:ln/>
        </p:spPr>
        <p:txBody>
          <a:bodyPr wrap="square" lIns="0" tIns="0" rIns="0" bIns="0" rtlCol="0" anchor="ctr"/>
          <a:lstStyle/>
          <a:p>
            <a:pPr indent="0" marL="0">
              <a:buNone/>
            </a:pPr>
            <a:r>
              <a:rPr lang="en-US" sz="1250" i="1" dirty="0">
                <a:solidFill>
                  <a:srgbClr val="5B6B8C"/>
                </a:solidFill>
                <a:latin typeface="Calibri" pitchFamily="34" charset="0"/>
                <a:ea typeface="Calibri" pitchFamily="34" charset="-122"/>
                <a:cs typeface="Calibri" pitchFamily="34" charset="-120"/>
              </a:rPr>
              <a:t>Same structure as the real project (predict → trigger-matched action) — the new layers make the "why" and the "how much to spend" rigorous instead of assumed.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1 — PREDICT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Which way is this account most likely to churn?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pic>
        <p:nvPicPr>
          <p:cNvPr id="5" name="Image 0" descr="/root/vanguard_dda_project/figures/feature_importance.png">    </p:cNvPr>
          <p:cNvPicPr>
            <a:picLocks noChangeAspect="1"/>
          </p:cNvPicPr>
          <p:nvPr/>
        </p:nvPicPr>
        <p:blipFill>
          <a:blip r:embed="rId1"/>
          <a:stretch>
            <a:fillRect/>
          </a:stretch>
        </p:blipFill>
        <p:spPr>
          <a:xfrm>
            <a:off x="548640" y="1965960"/>
            <a:ext cx="6126480" cy="4343400"/>
          </a:xfrm>
          <a:prstGeom prst="rect">
            <a:avLst/>
          </a:prstGeom>
        </p:spPr>
      </p:pic>
      <p:sp>
        <p:nvSpPr>
          <p:cNvPr id="6" name="Shape 3"/>
          <p:cNvSpPr/>
          <p:nvPr/>
        </p:nvSpPr>
        <p:spPr>
          <a:xfrm>
            <a:off x="6903720" y="1965960"/>
            <a:ext cx="470916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013448" y="2075688"/>
            <a:ext cx="4489704" cy="553212"/>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0.65 – 0.72</a:t>
            </a:r>
            <a:endParaRPr lang="en-US" sz="3000" dirty="0"/>
          </a:p>
        </p:txBody>
      </p:sp>
      <p:sp>
        <p:nvSpPr>
          <p:cNvPr id="8" name="Text 5"/>
          <p:cNvSpPr/>
          <p:nvPr/>
        </p:nvSpPr>
        <p:spPr>
          <a:xfrm>
            <a:off x="7013448" y="2569464"/>
            <a:ext cx="448970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ROC-AUC per churn mode (one-vs-rest)</a:t>
            </a:r>
            <a:endParaRPr lang="en-US" sz="1100" dirty="0"/>
          </a:p>
        </p:txBody>
      </p:sp>
      <p:sp>
        <p:nvSpPr>
          <p:cNvPr id="9" name="Shape 6"/>
          <p:cNvSpPr/>
          <p:nvPr/>
        </p:nvSpPr>
        <p:spPr>
          <a:xfrm>
            <a:off x="6903720" y="3108960"/>
            <a:ext cx="470916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013448" y="3218688"/>
            <a:ext cx="4489704" cy="553212"/>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2.8x – 3.2x</a:t>
            </a:r>
            <a:endParaRPr lang="en-US" sz="3000" dirty="0"/>
          </a:p>
        </p:txBody>
      </p:sp>
      <p:sp>
        <p:nvSpPr>
          <p:cNvPr id="11" name="Text 8"/>
          <p:cNvSpPr/>
          <p:nvPr/>
        </p:nvSpPr>
        <p:spPr>
          <a:xfrm>
            <a:off x="7013448" y="3712464"/>
            <a:ext cx="448970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Lift at top decile vs. base rate</a:t>
            </a:r>
            <a:endParaRPr lang="en-US" sz="1100" dirty="0"/>
          </a:p>
        </p:txBody>
      </p:sp>
      <p:sp>
        <p:nvSpPr>
          <p:cNvPr id="12" name="Text 9"/>
          <p:cNvSpPr/>
          <p:nvPr/>
        </p:nvSpPr>
        <p:spPr>
          <a:xfrm>
            <a:off x="6903720" y="4343400"/>
            <a:ext cx="4709160" cy="1920240"/>
          </a:xfrm>
          <a:prstGeom prst="rect">
            <a:avLst/>
          </a:prstGeom>
          <a:noFill/>
          <a:ln/>
        </p:spPr>
        <p:txBody>
          <a:bodyPr wrap="square" lIns="0" tIns="0" rIns="0" bIns="0" rtlCol="0" anchor="ctr"/>
          <a:lstStyle/>
          <a:p>
            <a:pPr indent="0" marL="0">
              <a:lnSpc>
                <a:spcPct val="125000"/>
              </a:lnSpc>
              <a:buNone/>
            </a:pPr>
            <a:r>
              <a:rPr lang="en-US" sz="1250" dirty="0">
                <a:solidFill>
                  <a:srgbClr val="5B6B8C"/>
                </a:solidFill>
                <a:latin typeface="Calibri" pitchFamily="34" charset="0"/>
                <a:ea typeface="Calibri" pitchFamily="34" charset="-122"/>
                <a:cs typeface="Calibri" pitchFamily="34" charset="-120"/>
              </a:rPr>
              <a:t>Churn is rare (~11% combined across modes) and driven by noisy human behavior — this isn't a 0.95-AUC problem. In production you rank and act on the top slice your capacity allows, not hard-classify at a single threshold, exactly like the 30%-withdrawal cutoff on the next slides.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2 — EXPLAIN (CAUSAL)</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Two triggers, neither one was randomized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48640" y="2103120"/>
            <a:ext cx="10881360" cy="1828800"/>
          </a:xfrm>
          <a:prstGeom prst="roundRect">
            <a:avLst>
              <a:gd name="adj" fmla="val 4000"/>
            </a:avLst>
          </a:prstGeom>
          <a:solidFill>
            <a:srgbClr val="EEF3FC"/>
          </a:solidFill>
          <a:ln/>
        </p:spPr>
      </p:sp>
      <p:sp>
        <p:nvSpPr>
          <p:cNvPr id="6" name="Text 4"/>
          <p:cNvSpPr/>
          <p:nvPr/>
        </p:nvSpPr>
        <p:spPr>
          <a:xfrm>
            <a:off x="822960" y="2267712"/>
            <a:ext cx="4206240" cy="1463040"/>
          </a:xfrm>
          <a:prstGeom prst="rect">
            <a:avLst/>
          </a:prstGeom>
          <a:noFill/>
          <a:ln/>
        </p:spPr>
        <p:txBody>
          <a:bodyPr wrap="square" lIns="0" tIns="0" rIns="0" bIns="0" rtlCol="0" anchor="ctr"/>
          <a:lstStyle/>
          <a:p>
            <a:pPr indent="0" marL="0">
              <a:lnSpc>
                <a:spcPct val="115000"/>
              </a:lnSpc>
              <a:buNone/>
            </a:pPr>
            <a:r>
              <a:rPr lang="en-US" sz="1300" b="1" dirty="0">
                <a:solidFill>
                  <a:srgbClr val="1E2761"/>
                </a:solidFill>
                <a:latin typeface="Calibri" pitchFamily="34" charset="0"/>
                <a:ea typeface="Calibri" pitchFamily="34" charset="-122"/>
                <a:cs typeface="Calibri" pitchFamily="34" charset="-120"/>
              </a:rPr>
              <a:t>Large withdrawal &gt; 30% of balance</a:t>
            </a:r>
            <a:endParaRPr lang="en-US" sz="1300" dirty="0"/>
          </a:p>
          <a:p>
            <a:pPr indent="0" marL="0">
              <a:lnSpc>
                <a:spcPct val="115000"/>
              </a:lnSpc>
              <a:buNone/>
            </a:pPr>
            <a:r>
              <a:rPr lang="en-US" sz="1300" b="1" dirty="0">
                <a:solidFill>
                  <a:srgbClr val="1E2761"/>
                </a:solidFill>
                <a:latin typeface="Calibri" pitchFamily="34" charset="0"/>
                <a:ea typeface="Calibri" pitchFamily="34" charset="-122"/>
                <a:cs typeface="Calibri" pitchFamily="34" charset="-120"/>
              </a:rPr>
              <a:t>→ RM calls, pitches alternatives</a:t>
            </a:r>
            <a:endParaRPr lang="en-US" sz="1300" dirty="0"/>
          </a:p>
        </p:txBody>
      </p:sp>
      <p:sp>
        <p:nvSpPr>
          <p:cNvPr id="7" name="Text 5"/>
          <p:cNvSpPr/>
          <p:nvPr/>
        </p:nvSpPr>
        <p:spPr>
          <a:xfrm>
            <a:off x="5074920" y="2267712"/>
            <a:ext cx="2377440" cy="1463040"/>
          </a:xfrm>
          <a:prstGeom prst="rect">
            <a:avLst/>
          </a:prstGeom>
          <a:noFill/>
          <a:ln/>
        </p:spPr>
        <p:txBody>
          <a:bodyPr wrap="square" lIns="0" tIns="0" rIns="0" bIns="0" rtlCol="0" anchor="ctr"/>
          <a:lstStyle/>
          <a:p>
            <a:pPr indent="0" marL="0">
              <a:lnSpc>
                <a:spcPct val="120000"/>
              </a:lnSpc>
              <a:buNone/>
            </a:pPr>
            <a:r>
              <a:rPr lang="en-US" sz="1150" i="1" dirty="0">
                <a:solidFill>
                  <a:srgbClr val="5B6B8C"/>
                </a:solidFill>
                <a:latin typeface="Calibri" pitchFamily="34" charset="0"/>
                <a:ea typeface="Calibri" pitchFamily="34" charset="-122"/>
                <a:cs typeface="Calibri" pitchFamily="34" charset="-120"/>
              </a:rPr>
              <a:t>Deterministic rule, not a coin flip</a:t>
            </a:r>
            <a:endParaRPr lang="en-US" sz="1150" dirty="0"/>
          </a:p>
        </p:txBody>
      </p:sp>
      <p:sp>
        <p:nvSpPr>
          <p:cNvPr id="8" name="Text 6"/>
          <p:cNvSpPr/>
          <p:nvPr/>
        </p:nvSpPr>
        <p:spPr>
          <a:xfrm>
            <a:off x="7543800" y="2423160"/>
            <a:ext cx="3703320" cy="457200"/>
          </a:xfrm>
          <a:prstGeom prst="rect">
            <a:avLst/>
          </a:prstGeom>
          <a:noFill/>
          <a:ln/>
        </p:spPr>
        <p:txBody>
          <a:bodyPr wrap="square" lIns="0" tIns="0" rIns="0" bIns="0" rtlCol="0" anchor="ctr"/>
          <a:lstStyle/>
          <a:p>
            <a:pPr indent="0" marL="0">
              <a:buNone/>
            </a:pPr>
            <a:r>
              <a:rPr lang="en-US" sz="1500" b="1" dirty="0">
                <a:solidFill>
                  <a:srgbClr val="C1613C"/>
                </a:solidFill>
                <a:latin typeface="Cambria" pitchFamily="34" charset="0"/>
                <a:ea typeface="Cambria" pitchFamily="34" charset="-122"/>
                <a:cs typeface="Cambria" pitchFamily="34" charset="-120"/>
              </a:rPr>
              <a:t>Regression Discontinuity (RDD)</a:t>
            </a:r>
            <a:endParaRPr lang="en-US" sz="1500" dirty="0"/>
          </a:p>
        </p:txBody>
      </p:sp>
      <p:sp>
        <p:nvSpPr>
          <p:cNvPr id="9" name="Text 7"/>
          <p:cNvSpPr/>
          <p:nvPr/>
        </p:nvSpPr>
        <p:spPr>
          <a:xfrm>
            <a:off x="7543800" y="2880360"/>
            <a:ext cx="3703320" cy="914400"/>
          </a:xfrm>
          <a:prstGeom prst="rect">
            <a:avLst/>
          </a:prstGeom>
          <a:noFill/>
          <a:ln/>
        </p:spPr>
        <p:txBody>
          <a:bodyPr wrap="square" lIns="0" tIns="0" rIns="0" bIns="0" rtlCol="0" anchor="ctr"/>
          <a:lstStyle/>
          <a:p>
            <a:pPr indent="0" marL="0">
              <a:lnSpc>
                <a:spcPct val="120000"/>
              </a:lnSpc>
              <a:buNone/>
            </a:pPr>
            <a:r>
              <a:rPr lang="en-US" sz="1150" dirty="0">
                <a:solidFill>
                  <a:srgbClr val="5B6B8C"/>
                </a:solidFill>
                <a:latin typeface="Calibri" pitchFamily="34" charset="0"/>
                <a:ea typeface="Calibri" pitchFamily="34" charset="-122"/>
                <a:cs typeface="Calibri" pitchFamily="34" charset="-120"/>
              </a:rPr>
              <a:t>Compare accounts just above vs.</a:t>
            </a:r>
            <a:endParaRPr lang="en-US" sz="1150" dirty="0"/>
          </a:p>
          <a:p>
            <a:pPr indent="0" marL="0">
              <a:lnSpc>
                <a:spcPct val="120000"/>
              </a:lnSpc>
              <a:buNone/>
            </a:pPr>
            <a:r>
              <a:rPr lang="en-US" sz="1150" dirty="0">
                <a:solidFill>
                  <a:srgbClr val="5B6B8C"/>
                </a:solidFill>
                <a:latin typeface="Calibri" pitchFamily="34" charset="0"/>
                <a:ea typeface="Calibri" pitchFamily="34" charset="-122"/>
                <a:cs typeface="Calibri" pitchFamily="34" charset="-120"/>
              </a:rPr>
              <a:t>just below the 30% line</a:t>
            </a:r>
            <a:endParaRPr lang="en-US" sz="1150" dirty="0"/>
          </a:p>
        </p:txBody>
      </p:sp>
      <p:sp>
        <p:nvSpPr>
          <p:cNvPr id="10" name="Shape 8"/>
          <p:cNvSpPr/>
          <p:nvPr/>
        </p:nvSpPr>
        <p:spPr>
          <a:xfrm>
            <a:off x="548640" y="4251960"/>
            <a:ext cx="10881360" cy="1828800"/>
          </a:xfrm>
          <a:prstGeom prst="roundRect">
            <a:avLst>
              <a:gd name="adj" fmla="val 4000"/>
            </a:avLst>
          </a:prstGeom>
          <a:solidFill>
            <a:srgbClr val="EEF3FC"/>
          </a:solidFill>
          <a:ln/>
        </p:spPr>
      </p:sp>
      <p:sp>
        <p:nvSpPr>
          <p:cNvPr id="11" name="Text 9"/>
          <p:cNvSpPr/>
          <p:nvPr/>
        </p:nvSpPr>
        <p:spPr>
          <a:xfrm>
            <a:off x="822960" y="4416552"/>
            <a:ext cx="4206240" cy="1463040"/>
          </a:xfrm>
          <a:prstGeom prst="rect">
            <a:avLst/>
          </a:prstGeom>
          <a:noFill/>
          <a:ln/>
        </p:spPr>
        <p:txBody>
          <a:bodyPr wrap="square" lIns="0" tIns="0" rIns="0" bIns="0" rtlCol="0" anchor="ctr"/>
          <a:lstStyle/>
          <a:p>
            <a:pPr indent="0" marL="0">
              <a:lnSpc>
                <a:spcPct val="115000"/>
              </a:lnSpc>
              <a:buNone/>
            </a:pPr>
            <a:r>
              <a:rPr lang="en-US" sz="1300" b="1" dirty="0">
                <a:solidFill>
                  <a:srgbClr val="1E2761"/>
                </a:solidFill>
                <a:latin typeface="Calibri" pitchFamily="34" charset="0"/>
                <a:ea typeface="Calibri" pitchFamily="34" charset="-122"/>
                <a:cs typeface="Calibri" pitchFamily="34" charset="-120"/>
              </a:rPr>
              <a:t>Direct deposit stops</a:t>
            </a:r>
            <a:endParaRPr lang="en-US" sz="1300" dirty="0"/>
          </a:p>
          <a:p>
            <a:pPr indent="0" marL="0">
              <a:lnSpc>
                <a:spcPct val="115000"/>
              </a:lnSpc>
              <a:buNone/>
            </a:pPr>
            <a:r>
              <a:rPr lang="en-US" sz="1300" b="1" dirty="0">
                <a:solidFill>
                  <a:srgbClr val="1E2761"/>
                </a:solidFill>
                <a:latin typeface="Calibri" pitchFamily="34" charset="0"/>
                <a:ea typeface="Calibri" pitchFamily="34" charset="-122"/>
                <a:cs typeface="Calibri" pitchFamily="34" charset="-120"/>
              </a:rPr>
              <a:t>→ $100 offer for 2 new DDs $500+</a:t>
            </a:r>
            <a:endParaRPr lang="en-US" sz="1300" dirty="0"/>
          </a:p>
        </p:txBody>
      </p:sp>
      <p:sp>
        <p:nvSpPr>
          <p:cNvPr id="12" name="Text 10"/>
          <p:cNvSpPr/>
          <p:nvPr/>
        </p:nvSpPr>
        <p:spPr>
          <a:xfrm>
            <a:off x="5074920" y="4416552"/>
            <a:ext cx="2377440" cy="1463040"/>
          </a:xfrm>
          <a:prstGeom prst="rect">
            <a:avLst/>
          </a:prstGeom>
          <a:noFill/>
          <a:ln/>
        </p:spPr>
        <p:txBody>
          <a:bodyPr wrap="square" lIns="0" tIns="0" rIns="0" bIns="0" rtlCol="0" anchor="ctr"/>
          <a:lstStyle/>
          <a:p>
            <a:pPr indent="0" marL="0">
              <a:lnSpc>
                <a:spcPct val="120000"/>
              </a:lnSpc>
              <a:buNone/>
            </a:pPr>
            <a:r>
              <a:rPr lang="en-US" sz="1150" i="1" dirty="0">
                <a:solidFill>
                  <a:srgbClr val="5B6B8C"/>
                </a:solidFill>
                <a:latin typeface="Calibri" pitchFamily="34" charset="0"/>
                <a:ea typeface="Calibri" pitchFamily="34" charset="-122"/>
                <a:cs typeface="Calibri" pitchFamily="34" charset="-120"/>
              </a:rPr>
              <a:t>Rolled out region-by-region, not everywhere at once</a:t>
            </a:r>
            <a:endParaRPr lang="en-US" sz="1150" dirty="0"/>
          </a:p>
        </p:txBody>
      </p:sp>
      <p:sp>
        <p:nvSpPr>
          <p:cNvPr id="13" name="Text 11"/>
          <p:cNvSpPr/>
          <p:nvPr/>
        </p:nvSpPr>
        <p:spPr>
          <a:xfrm>
            <a:off x="7543800" y="4572000"/>
            <a:ext cx="3703320" cy="457200"/>
          </a:xfrm>
          <a:prstGeom prst="rect">
            <a:avLst/>
          </a:prstGeom>
          <a:noFill/>
          <a:ln/>
        </p:spPr>
        <p:txBody>
          <a:bodyPr wrap="square" lIns="0" tIns="0" rIns="0" bIns="0" rtlCol="0" anchor="ctr"/>
          <a:lstStyle/>
          <a:p>
            <a:pPr indent="0" marL="0">
              <a:buNone/>
            </a:pPr>
            <a:r>
              <a:rPr lang="en-US" sz="1500" b="1" dirty="0">
                <a:solidFill>
                  <a:srgbClr val="C1613C"/>
                </a:solidFill>
                <a:latin typeface="Cambria" pitchFamily="34" charset="0"/>
                <a:ea typeface="Cambria" pitchFamily="34" charset="-122"/>
                <a:cs typeface="Cambria" pitchFamily="34" charset="-120"/>
              </a:rPr>
              <a:t>Staggered-Adoption DiD</a:t>
            </a:r>
            <a:endParaRPr lang="en-US" sz="1500" dirty="0"/>
          </a:p>
        </p:txBody>
      </p:sp>
      <p:sp>
        <p:nvSpPr>
          <p:cNvPr id="14" name="Text 12"/>
          <p:cNvSpPr/>
          <p:nvPr/>
        </p:nvSpPr>
        <p:spPr>
          <a:xfrm>
            <a:off x="7543800" y="5029200"/>
            <a:ext cx="3703320" cy="914400"/>
          </a:xfrm>
          <a:prstGeom prst="rect">
            <a:avLst/>
          </a:prstGeom>
          <a:noFill/>
          <a:ln/>
        </p:spPr>
        <p:txBody>
          <a:bodyPr wrap="square" lIns="0" tIns="0" rIns="0" bIns="0" rtlCol="0" anchor="ctr"/>
          <a:lstStyle/>
          <a:p>
            <a:pPr indent="0" marL="0">
              <a:lnSpc>
                <a:spcPct val="120000"/>
              </a:lnSpc>
              <a:buNone/>
            </a:pPr>
            <a:r>
              <a:rPr lang="en-US" sz="1150" dirty="0">
                <a:solidFill>
                  <a:srgbClr val="5B6B8C"/>
                </a:solidFill>
                <a:latin typeface="Calibri" pitchFamily="34" charset="0"/>
                <a:ea typeface="Calibri" pitchFamily="34" charset="-122"/>
                <a:cs typeface="Calibri" pitchFamily="34" charset="-120"/>
              </a:rPr>
              <a:t>Compare adopting regions to</a:t>
            </a:r>
            <a:endParaRPr lang="en-US" sz="1150" dirty="0"/>
          </a:p>
          <a:p>
            <a:pPr indent="0" marL="0">
              <a:lnSpc>
                <a:spcPct val="120000"/>
              </a:lnSpc>
              <a:buNone/>
            </a:pPr>
            <a:r>
              <a:rPr lang="en-US" sz="1150" dirty="0">
                <a:solidFill>
                  <a:srgbClr val="5B6B8C"/>
                </a:solidFill>
                <a:latin typeface="Calibri" pitchFamily="34" charset="0"/>
                <a:ea typeface="Calibri" pitchFamily="34" charset="-122"/>
                <a:cs typeface="Calibri" pitchFamily="34" charset="-120"/>
              </a:rPr>
              <a:t>not-yet-adopted regions over time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RDD — DESIGN &amp; VALIDATION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identifying assumption: no one can “game” the 30% line</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pic>
        <p:nvPicPr>
          <p:cNvPr id="5" name="Image 0" descr="/root/vanguard_dda_project/figures/rdd_density_check.png">    </p:cNvPr>
          <p:cNvPicPr>
            <a:picLocks noChangeAspect="1"/>
          </p:cNvPicPr>
          <p:nvPr/>
        </p:nvPicPr>
        <p:blipFill>
          <a:blip r:embed="rId1"/>
          <a:stretch>
            <a:fillRect/>
          </a:stretch>
        </p:blipFill>
        <p:spPr>
          <a:xfrm>
            <a:off x="548640" y="1965960"/>
            <a:ext cx="6400800" cy="4297680"/>
          </a:xfrm>
          <a:prstGeom prst="rect">
            <a:avLst/>
          </a:prstGeom>
        </p:spPr>
      </p:pic>
      <p:sp>
        <p:nvSpPr>
          <p:cNvPr id="6" name="Text 3"/>
          <p:cNvSpPr/>
          <p:nvPr/>
        </p:nvSpPr>
        <p:spPr>
          <a:xfrm>
            <a:off x="7223760" y="2103120"/>
            <a:ext cx="438912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McCrary-style density test</a:t>
            </a:r>
            <a:endParaRPr lang="en-US" sz="1500" dirty="0"/>
          </a:p>
        </p:txBody>
      </p:sp>
      <p:sp>
        <p:nvSpPr>
          <p:cNvPr id="7" name="Text 4"/>
          <p:cNvSpPr/>
          <p:nvPr/>
        </p:nvSpPr>
        <p:spPr>
          <a:xfrm>
            <a:off x="7223760" y="2514600"/>
            <a:ext cx="4389120" cy="118872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If customers could nudge a withdrawal just above/below 30% to trigger or dodge an RM call, the density of the running variable would jump at the cutoff — and RDD would be invalid.</a:t>
            </a:r>
            <a:endParaRPr lang="en-US" sz="1200" dirty="0"/>
          </a:p>
        </p:txBody>
      </p:sp>
      <p:sp>
        <p:nvSpPr>
          <p:cNvPr id="8" name="Shape 5"/>
          <p:cNvSpPr/>
          <p:nvPr/>
        </p:nvSpPr>
        <p:spPr>
          <a:xfrm>
            <a:off x="7223760" y="3840480"/>
            <a:ext cx="4389120" cy="914400"/>
          </a:xfrm>
          <a:prstGeom prst="roundRect">
            <a:avLst>
              <a:gd name="adj" fmla="val 8000"/>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7333488" y="3950208"/>
            <a:ext cx="4169664" cy="502920"/>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p = 0.151</a:t>
            </a:r>
            <a:endParaRPr lang="en-US" sz="2400" dirty="0"/>
          </a:p>
        </p:txBody>
      </p:sp>
      <p:sp>
        <p:nvSpPr>
          <p:cNvPr id="10" name="Text 7"/>
          <p:cNvSpPr/>
          <p:nvPr/>
        </p:nvSpPr>
        <p:spPr>
          <a:xfrm>
            <a:off x="7333488" y="4389120"/>
            <a:ext cx="4169664" cy="347472"/>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Local log-density jump at cutoff (bootstrap test)</a:t>
            </a:r>
            <a:endParaRPr lang="en-US" sz="1100" dirty="0"/>
          </a:p>
        </p:txBody>
      </p:sp>
      <p:sp>
        <p:nvSpPr>
          <p:cNvPr id="11" name="Text 8"/>
          <p:cNvSpPr/>
          <p:nvPr/>
        </p:nvSpPr>
        <p:spPr>
          <a:xfrm>
            <a:off x="7223760" y="4892040"/>
            <a:ext cx="4389120" cy="118872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No evidence of manipulation — withdrawal size is a real economic behavior, not something dialed in to dodge a phone call.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RDD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RM outreach cuts next-month churn by ~11 points at the margin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pic>
        <p:nvPicPr>
          <p:cNvPr id="5" name="Image 0" descr="/root/vanguard_dda_project/figures/rdd_effect_plot.png">    </p:cNvPr>
          <p:cNvPicPr>
            <a:picLocks noChangeAspect="1"/>
          </p:cNvPicPr>
          <p:nvPr/>
        </p:nvPicPr>
        <p:blipFill>
          <a:blip r:embed="rId1"/>
          <a:stretch>
            <a:fillRect/>
          </a:stretch>
        </p:blipFill>
        <p:spPr>
          <a:xfrm>
            <a:off x="548640" y="1965960"/>
            <a:ext cx="6858000" cy="4343400"/>
          </a:xfrm>
          <a:prstGeom prst="rect">
            <a:avLst/>
          </a:prstGeom>
        </p:spPr>
      </p:pic>
      <p:sp>
        <p:nvSpPr>
          <p:cNvPr id="6" name="Shape 3"/>
          <p:cNvSpPr/>
          <p:nvPr/>
        </p:nvSpPr>
        <p:spPr>
          <a:xfrm>
            <a:off x="7635240" y="1965960"/>
            <a:ext cx="3977640" cy="960120"/>
          </a:xfrm>
          <a:prstGeom prst="roundRect">
            <a:avLst>
              <a:gd name="adj" fmla="val 7619"/>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744968" y="2075688"/>
            <a:ext cx="3758184" cy="528066"/>
          </a:xfrm>
          <a:prstGeom prst="rect">
            <a:avLst/>
          </a:prstGeom>
          <a:noFill/>
          <a:ln/>
        </p:spPr>
        <p:txBody>
          <a:bodyPr wrap="square" lIns="0" tIns="0" rIns="0" bIns="0" rtlCol="0" anchor="b"/>
          <a:lstStyle/>
          <a:p>
            <a:pPr algn="l" indent="0" marL="0">
              <a:buNone/>
            </a:pPr>
            <a:r>
              <a:rPr lang="en-US" sz="2400" b="1" dirty="0">
                <a:solidFill>
                  <a:srgbClr val="5B6B8C"/>
                </a:solidFill>
                <a:latin typeface="Cambria" pitchFamily="34" charset="0"/>
                <a:ea typeface="Cambria" pitchFamily="34" charset="-122"/>
                <a:cs typeface="Cambria" pitchFamily="34" charset="-120"/>
              </a:rPr>
              <a:t>-1.5 pp</a:t>
            </a:r>
            <a:endParaRPr lang="en-US" sz="2400" dirty="0"/>
          </a:p>
        </p:txBody>
      </p:sp>
      <p:sp>
        <p:nvSpPr>
          <p:cNvPr id="8" name="Text 5"/>
          <p:cNvSpPr/>
          <p:nvPr/>
        </p:nvSpPr>
        <p:spPr>
          <a:xfrm>
            <a:off x="7744968" y="2542032"/>
            <a:ext cx="3758184" cy="364846"/>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Naive treated-vs-control (biased by confound)</a:t>
            </a:r>
            <a:endParaRPr lang="en-US" sz="1100" dirty="0"/>
          </a:p>
        </p:txBody>
      </p:sp>
      <p:sp>
        <p:nvSpPr>
          <p:cNvPr id="9" name="Shape 6"/>
          <p:cNvSpPr/>
          <p:nvPr/>
        </p:nvSpPr>
        <p:spPr>
          <a:xfrm>
            <a:off x="7635240" y="3063240"/>
            <a:ext cx="3977640" cy="960120"/>
          </a:xfrm>
          <a:prstGeom prst="roundRect">
            <a:avLst>
              <a:gd name="adj" fmla="val 7619"/>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744968" y="3172968"/>
            <a:ext cx="3758184" cy="528066"/>
          </a:xfrm>
          <a:prstGeom prst="rect">
            <a:avLst/>
          </a:prstGeom>
          <a:noFill/>
          <a:ln/>
        </p:spPr>
        <p:txBody>
          <a:bodyPr wrap="square" lIns="0" tIns="0" rIns="0" bIns="0" rtlCol="0" anchor="b"/>
          <a:lstStyle/>
          <a:p>
            <a:pPr algn="l" indent="0" marL="0">
              <a:buNone/>
            </a:pPr>
            <a:r>
              <a:rPr lang="en-US" sz="2600" b="1" dirty="0">
                <a:solidFill>
                  <a:srgbClr val="C1613C"/>
                </a:solidFill>
                <a:latin typeface="Cambria" pitchFamily="34" charset="0"/>
                <a:ea typeface="Cambria" pitchFamily="34" charset="-122"/>
                <a:cs typeface="Cambria" pitchFamily="34" charset="-120"/>
              </a:rPr>
              <a:t>-10.7 pp</a:t>
            </a:r>
            <a:endParaRPr lang="en-US" sz="2600" dirty="0"/>
          </a:p>
        </p:txBody>
      </p:sp>
      <p:sp>
        <p:nvSpPr>
          <p:cNvPr id="11" name="Text 8"/>
          <p:cNvSpPr/>
          <p:nvPr/>
        </p:nvSpPr>
        <p:spPr>
          <a:xfrm>
            <a:off x="7744968" y="3639312"/>
            <a:ext cx="3758184" cy="364846"/>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RDD robust estimate  ·  95% CI [-14.8, -6.6]  ·  p&lt;0.001</a:t>
            </a:r>
            <a:endParaRPr lang="en-US" sz="1100" dirty="0"/>
          </a:p>
        </p:txBody>
      </p:sp>
      <p:sp>
        <p:nvSpPr>
          <p:cNvPr id="12" name="Text 9"/>
          <p:cNvSpPr/>
          <p:nvPr/>
        </p:nvSpPr>
        <p:spPr>
          <a:xfrm>
            <a:off x="7635240" y="4206240"/>
            <a:ext cx="3977640" cy="182880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Bandwidth sensitivity: stable between -9.4pp and -10.7pp across h = 4 to 20 months. Graded against the effect I built into the simulation: RDD lands within 1.3pp of the true value — the naive comparison doesn't.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DID — DESIGN &amp; VALIDATION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offer rolled out region by region — a staggered natural experiment</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pic>
        <p:nvPicPr>
          <p:cNvPr id="5" name="Image 0" descr="/root/vanguard_dda_project/figures/did_pretrends_check.png">    </p:cNvPr>
          <p:cNvPicPr>
            <a:picLocks noChangeAspect="1"/>
          </p:cNvPicPr>
          <p:nvPr/>
        </p:nvPicPr>
        <p:blipFill>
          <a:blip r:embed="rId1"/>
          <a:stretch>
            <a:fillRect/>
          </a:stretch>
        </p:blipFill>
        <p:spPr>
          <a:xfrm>
            <a:off x="548640" y="1965960"/>
            <a:ext cx="6766560" cy="4206240"/>
          </a:xfrm>
          <a:prstGeom prst="rect">
            <a:avLst/>
          </a:prstGeom>
        </p:spPr>
      </p:pic>
      <p:sp>
        <p:nvSpPr>
          <p:cNvPr id="6" name="Text 3"/>
          <p:cNvSpPr/>
          <p:nvPr/>
        </p:nvSpPr>
        <p:spPr>
          <a:xfrm>
            <a:off x="7452360" y="2103120"/>
            <a:ext cx="416052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Parallel pre-trends check</a:t>
            </a:r>
            <a:endParaRPr lang="en-US" sz="1500" dirty="0"/>
          </a:p>
        </p:txBody>
      </p:sp>
      <p:sp>
        <p:nvSpPr>
          <p:cNvPr id="7" name="Text 4"/>
          <p:cNvSpPr/>
          <p:nvPr/>
        </p:nvSpPr>
        <p:spPr>
          <a:xfrm>
            <a:off x="7452360" y="2514600"/>
            <a:ext cx="4160520" cy="137160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Cohorts adopting at months 8, 14, and 20, plus two never-adopted regions. DiD's core assumption: before any of them go live, they should trend together.</a:t>
            </a:r>
            <a:endParaRPr lang="en-US" sz="1200" dirty="0"/>
          </a:p>
        </p:txBody>
      </p:sp>
      <p:sp>
        <p:nvSpPr>
          <p:cNvPr id="8" name="Shape 5"/>
          <p:cNvSpPr/>
          <p:nvPr/>
        </p:nvSpPr>
        <p:spPr>
          <a:xfrm>
            <a:off x="7452360" y="4023360"/>
            <a:ext cx="4160520" cy="914400"/>
          </a:xfrm>
          <a:prstGeom prst="roundRect">
            <a:avLst>
              <a:gd name="adj" fmla="val 8000"/>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7562088" y="4133088"/>
            <a:ext cx="3941064" cy="502920"/>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p = 0.765</a:t>
            </a:r>
            <a:endParaRPr lang="en-US" sz="2400" dirty="0"/>
          </a:p>
        </p:txBody>
      </p:sp>
      <p:sp>
        <p:nvSpPr>
          <p:cNvPr id="10" name="Text 7"/>
          <p:cNvSpPr/>
          <p:nvPr/>
        </p:nvSpPr>
        <p:spPr>
          <a:xfrm>
            <a:off x="7562088" y="4572000"/>
            <a:ext cx="3941064" cy="347472"/>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F-test on cohort × month interaction, common pre-period</a:t>
            </a:r>
            <a:endParaRPr lang="en-US" sz="1100" dirty="0"/>
          </a:p>
        </p:txBody>
      </p:sp>
      <p:sp>
        <p:nvSpPr>
          <p:cNvPr id="11" name="Text 8"/>
          <p:cNvSpPr/>
          <p:nvPr/>
        </p:nvSpPr>
        <p:spPr>
          <a:xfrm>
            <a:off x="7452360" y="5029200"/>
            <a:ext cx="4160520" cy="1097280"/>
          </a:xfrm>
          <a:prstGeom prst="rect">
            <a:avLst/>
          </a:prstGeom>
          <a:noFill/>
          <a:ln/>
        </p:spPr>
        <p:txBody>
          <a:bodyPr wrap="square" lIns="0" tIns="0" rIns="0" bIns="0" rtlCol="0" anchor="ctr"/>
          <a:lstStyle/>
          <a:p>
            <a:pPr indent="0" marL="0">
              <a:lnSpc>
                <a:spcPct val="120000"/>
              </a:lnSpc>
              <a:buNone/>
            </a:pPr>
            <a:r>
              <a:rPr lang="en-US" sz="1150" i="1" dirty="0">
                <a:solidFill>
                  <a:srgbClr val="5B6B8C"/>
                </a:solidFill>
                <a:latin typeface="Calibri" pitchFamily="34" charset="0"/>
                <a:ea typeface="Calibri" pitchFamily="34" charset="-122"/>
                <a:cs typeface="Calibri" pitchFamily="34" charset="-120"/>
              </a:rPr>
              <a:t>No evidence of differential pre-trends. (Restricted to the common window before ANY cohort adopts — mixing in cohorts with unequal pre-period length would bias this test.)</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DID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naive estimator and a heterogeneity-robust one — and why I check both</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pic>
        <p:nvPicPr>
          <p:cNvPr id="5" name="Image 0" descr="/root/vanguard_dda_project/figures/did_event_study.png">    </p:cNvPr>
          <p:cNvPicPr>
            <a:picLocks noChangeAspect="1"/>
          </p:cNvPicPr>
          <p:nvPr/>
        </p:nvPicPr>
        <p:blipFill>
          <a:blip r:embed="rId1"/>
          <a:stretch>
            <a:fillRect/>
          </a:stretch>
        </p:blipFill>
        <p:spPr>
          <a:xfrm>
            <a:off x="548640" y="1965960"/>
            <a:ext cx="6766560" cy="4160520"/>
          </a:xfrm>
          <a:prstGeom prst="rect">
            <a:avLst/>
          </a:prstGeom>
        </p:spPr>
      </p:pic>
      <p:sp>
        <p:nvSpPr>
          <p:cNvPr id="6" name="Shape 3"/>
          <p:cNvSpPr/>
          <p:nvPr/>
        </p:nvSpPr>
        <p:spPr>
          <a:xfrm>
            <a:off x="7452360" y="1965960"/>
            <a:ext cx="416052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562088" y="2075688"/>
            <a:ext cx="3941064" cy="477774"/>
          </a:xfrm>
          <a:prstGeom prst="rect">
            <a:avLst/>
          </a:prstGeom>
          <a:noFill/>
          <a:ln/>
        </p:spPr>
        <p:txBody>
          <a:bodyPr wrap="square" lIns="0" tIns="0" rIns="0" bIns="0" rtlCol="0" anchor="b"/>
          <a:lstStyle/>
          <a:p>
            <a:pPr algn="l" indent="0" marL="0">
              <a:buNone/>
            </a:pPr>
            <a:r>
              <a:rPr lang="en-US" sz="2200" b="1" dirty="0">
                <a:solidFill>
                  <a:srgbClr val="5B6B8C"/>
                </a:solidFill>
                <a:latin typeface="Cambria" pitchFamily="34" charset="0"/>
                <a:ea typeface="Cambria" pitchFamily="34" charset="-122"/>
                <a:cs typeface="Cambria" pitchFamily="34" charset="-120"/>
              </a:rPr>
              <a:t>-8.5 pp</a:t>
            </a:r>
            <a:endParaRPr lang="en-US" sz="2200" dirty="0"/>
          </a:p>
        </p:txBody>
      </p:sp>
      <p:sp>
        <p:nvSpPr>
          <p:cNvPr id="8" name="Text 5"/>
          <p:cNvSpPr/>
          <p:nvPr/>
        </p:nvSpPr>
        <p:spPr>
          <a:xfrm>
            <a:off x="7562088" y="2487168"/>
            <a:ext cx="394106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Naive static TWFE (region + month FE)</a:t>
            </a:r>
            <a:endParaRPr lang="en-US" sz="1100" dirty="0"/>
          </a:p>
        </p:txBody>
      </p:sp>
      <p:sp>
        <p:nvSpPr>
          <p:cNvPr id="9" name="Shape 6"/>
          <p:cNvSpPr/>
          <p:nvPr/>
        </p:nvSpPr>
        <p:spPr>
          <a:xfrm>
            <a:off x="7452360" y="2971800"/>
            <a:ext cx="416052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562088" y="3081528"/>
            <a:ext cx="3941064" cy="477774"/>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-7.7 pp</a:t>
            </a:r>
            <a:endParaRPr lang="en-US" sz="2400" dirty="0"/>
          </a:p>
        </p:txBody>
      </p:sp>
      <p:sp>
        <p:nvSpPr>
          <p:cNvPr id="11" name="Text 8"/>
          <p:cNvSpPr/>
          <p:nvPr/>
        </p:nvSpPr>
        <p:spPr>
          <a:xfrm>
            <a:off x="7562088" y="3493008"/>
            <a:ext cx="394106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Callaway-Sant'Anna-style estimator</a:t>
            </a:r>
            <a:endParaRPr lang="en-US" sz="1100" dirty="0"/>
          </a:p>
        </p:txBody>
      </p:sp>
      <p:sp>
        <p:nvSpPr>
          <p:cNvPr id="12" name="Text 9"/>
          <p:cNvSpPr/>
          <p:nvPr/>
        </p:nvSpPr>
        <p:spPr>
          <a:xfrm>
            <a:off x="7452360" y="3977640"/>
            <a:ext cx="4160520" cy="219456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Effect ramps in over ~3 months as RM awareness and take-up build — it's not an instant jump. Naive TWFE implicitly leans on already-treated cohorts as part of the comparison trend for later cohorts (Goodman-Bacon 2021); the CS-style estimate uses only not-yet-treated regions as controls, and lands closer to the true simulated effect (-6.4pp).</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3 — OPTIMIZE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From “top 50% by value” to a formal budget allocation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48640" y="2011680"/>
            <a:ext cx="5212080" cy="3977640"/>
          </a:xfrm>
          <a:prstGeom prst="roundRect">
            <a:avLst>
              <a:gd name="adj" fmla="val 1839"/>
            </a:avLst>
          </a:prstGeom>
          <a:solidFill>
            <a:srgbClr val="EEF3FC"/>
          </a:solidFill>
          <a:ln/>
        </p:spPr>
      </p:sp>
      <p:sp>
        <p:nvSpPr>
          <p:cNvPr id="6" name="Text 4"/>
          <p:cNvSpPr/>
          <p:nvPr/>
        </p:nvSpPr>
        <p:spPr>
          <a:xfrm>
            <a:off x="868680" y="2240280"/>
            <a:ext cx="457200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OBJECTIVE</a:t>
            </a:r>
            <a:endParaRPr lang="en-US" sz="1200" dirty="0"/>
          </a:p>
        </p:txBody>
      </p:sp>
      <p:sp>
        <p:nvSpPr>
          <p:cNvPr id="7" name="Text 5"/>
          <p:cNvSpPr/>
          <p:nvPr/>
        </p:nvSpPr>
        <p:spPr>
          <a:xfrm>
            <a:off x="868680" y="2606040"/>
            <a:ext cx="4617720" cy="1554480"/>
          </a:xfrm>
          <a:prstGeom prst="rect">
            <a:avLst/>
          </a:prstGeom>
          <a:noFill/>
          <a:ln/>
        </p:spPr>
        <p:txBody>
          <a:bodyPr wrap="square" lIns="0" tIns="0" rIns="0" bIns="0" rtlCol="0" anchor="ctr"/>
          <a:lstStyle/>
          <a:p>
            <a:pPr indent="0" marL="0">
              <a:lnSpc>
                <a:spcPct val="125000"/>
              </a:lnSpc>
              <a:buNone/>
            </a:pPr>
            <a:r>
              <a:rPr lang="en-US" sz="1300" dirty="0">
                <a:solidFill>
                  <a:srgbClr val="1E2761"/>
                </a:solidFill>
                <a:latin typeface="Calibri" pitchFamily="34" charset="0"/>
                <a:ea typeface="Calibri" pitchFamily="34" charset="-122"/>
                <a:cs typeface="Calibri" pitchFamily="34" charset="-120"/>
              </a:rPr>
              <a:t>Maximize total net expected value protected:</a:t>
            </a:r>
            <a:endParaRPr lang="en-US" sz="1300" dirty="0"/>
          </a:p>
          <a:p>
            <a:pPr indent="0" marL="0">
              <a:lnSpc>
                <a:spcPct val="125000"/>
              </a:lnSpc>
              <a:buNone/>
            </a:pPr>
            <a:r>
              <a:rPr lang="en-US" sz="1300" dirty="0">
                <a:solidFill>
                  <a:srgbClr val="1E2761"/>
                </a:solidFill>
                <a:latin typeface="Calibri" pitchFamily="34" charset="0"/>
                <a:ea typeface="Calibri" pitchFamily="34" charset="-122"/>
                <a:cs typeface="Calibri" pitchFamily="34" charset="-120"/>
              </a:rPr>
              <a:t>P(churn mode) × causal effect (pp) × dollars at risk − intervention cost, summed across every account-intervention pair selected.</a:t>
            </a:r>
            <a:endParaRPr lang="en-US" sz="1300" dirty="0"/>
          </a:p>
        </p:txBody>
      </p:sp>
      <p:sp>
        <p:nvSpPr>
          <p:cNvPr id="8" name="Text 6"/>
          <p:cNvSpPr/>
          <p:nvPr/>
        </p:nvSpPr>
        <p:spPr>
          <a:xfrm>
            <a:off x="868680" y="4160520"/>
            <a:ext cx="457200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CONSTRAINTS</a:t>
            </a:r>
            <a:endParaRPr lang="en-US" sz="1200" dirty="0"/>
          </a:p>
        </p:txBody>
      </p:sp>
      <p:sp>
        <p:nvSpPr>
          <p:cNvPr id="9" name="Text 7"/>
          <p:cNvSpPr/>
          <p:nvPr/>
        </p:nvSpPr>
        <p:spPr>
          <a:xfrm>
            <a:off x="868680" y="4526280"/>
            <a:ext cx="4617720" cy="1371600"/>
          </a:xfrm>
          <a:prstGeom prst="rect">
            <a:avLst/>
          </a:prstGeom>
          <a:noFill/>
          <a:ln/>
        </p:spPr>
        <p:txBody>
          <a:bodyPr wrap="square" lIns="0" tIns="0" rIns="0" bIns="0" rtlCol="0" anchor="ctr"/>
          <a:lstStyle/>
          <a:p>
            <a:pPr marL="342900" indent="-342900">
              <a:lnSpc>
                <a:spcPct val="120000"/>
              </a:lnSpc>
              <a:spcAft>
                <a:spcPts val="400"/>
              </a:spcAft>
              <a:buSzPct val="100000"/>
              <a:buChar char="•"/>
            </a:pPr>
            <a:r>
              <a:rPr lang="en-US" sz="1300" dirty="0">
                <a:solidFill>
                  <a:srgbClr val="1E2761"/>
                </a:solidFill>
                <a:latin typeface="Calibri" pitchFamily="34" charset="0"/>
                <a:ea typeface="Calibri" pitchFamily="34" charset="-122"/>
                <a:cs typeface="Calibri" pitchFamily="34" charset="-120"/>
              </a:rPr>
              <a:t>Total spend ≤ monthly retention budget</a:t>
            </a:r>
            <a:endParaRPr lang="en-US" sz="1300" dirty="0"/>
          </a:p>
          <a:p>
            <a:pPr marL="342900" indent="-342900">
              <a:lnSpc>
                <a:spcPct val="120000"/>
              </a:lnSpc>
              <a:spcAft>
                <a:spcPts val="400"/>
              </a:spcAft>
              <a:buSzPct val="100000"/>
              <a:buChar char="•"/>
            </a:pPr>
            <a:r>
              <a:rPr lang="en-US" sz="1300" dirty="0">
                <a:solidFill>
                  <a:srgbClr val="1E2761"/>
                </a:solidFill>
                <a:latin typeface="Calibri" pitchFamily="34" charset="0"/>
                <a:ea typeface="Calibri" pitchFamily="34" charset="-122"/>
                <a:cs typeface="Calibri" pitchFamily="34" charset="-120"/>
              </a:rPr>
              <a:t>RM contacts ≤ RM capacity (the real scarce resource)</a:t>
            </a:r>
            <a:endParaRPr lang="en-US" sz="1300" dirty="0"/>
          </a:p>
          <a:p>
            <a:pPr marL="342900" indent="-342900">
              <a:lnSpc>
                <a:spcPct val="120000"/>
              </a:lnSpc>
              <a:spcAft>
                <a:spcPts val="400"/>
              </a:spcAft>
              <a:buSzPct val="100000"/>
              <a:buChar char="•"/>
            </a:pPr>
            <a:r>
              <a:rPr lang="en-US" sz="1300" dirty="0">
                <a:solidFill>
                  <a:srgbClr val="1E2761"/>
                </a:solidFill>
                <a:latin typeface="Calibri" pitchFamily="34" charset="0"/>
                <a:ea typeface="Calibri" pitchFamily="34" charset="-122"/>
                <a:cs typeface="Calibri" pitchFamily="34" charset="-120"/>
              </a:rPr>
              <a:t>At most one intervention per account</a:t>
            </a:r>
            <a:endParaRPr lang="en-US" sz="1300" dirty="0"/>
          </a:p>
        </p:txBody>
      </p:sp>
      <p:sp>
        <p:nvSpPr>
          <p:cNvPr id="10" name="Shape 8"/>
          <p:cNvSpPr/>
          <p:nvPr/>
        </p:nvSpPr>
        <p:spPr>
          <a:xfrm>
            <a:off x="6035040" y="2011680"/>
            <a:ext cx="5394960" cy="3977640"/>
          </a:xfrm>
          <a:prstGeom prst="roundRect">
            <a:avLst>
              <a:gd name="adj" fmla="val 1839"/>
            </a:avLst>
          </a:prstGeom>
          <a:solidFill>
            <a:srgbClr val="1E2761"/>
          </a:solidFill>
          <a:ln/>
        </p:spPr>
      </p:sp>
      <p:sp>
        <p:nvSpPr>
          <p:cNvPr id="11" name="Text 9"/>
          <p:cNvSpPr/>
          <p:nvPr/>
        </p:nvSpPr>
        <p:spPr>
          <a:xfrm>
            <a:off x="6355080" y="2240280"/>
            <a:ext cx="4754880" cy="320040"/>
          </a:xfrm>
          <a:prstGeom prst="rect">
            <a:avLst/>
          </a:prstGeom>
          <a:noFill/>
          <a:ln/>
        </p:spPr>
        <p:txBody>
          <a:bodyPr wrap="square" lIns="0" tIns="0" rIns="0" bIns="0" rtlCol="0" anchor="ctr"/>
          <a:lstStyle/>
          <a:p>
            <a:pPr indent="0" marL="0">
              <a:buNone/>
            </a:pPr>
            <a:r>
              <a:rPr lang="en-US" sz="1200" b="1" spc="100" kern="0" dirty="0">
                <a:solidFill>
                  <a:srgbClr val="C1613C"/>
                </a:solidFill>
                <a:latin typeface="Calibri" pitchFamily="34" charset="0"/>
                <a:ea typeface="Calibri" pitchFamily="34" charset="-122"/>
                <a:cs typeface="Calibri" pitchFamily="34" charset="-120"/>
              </a:rPr>
              <a:t>EFFECT SIZES FEEDING THE OPTIMIZER</a:t>
            </a:r>
            <a:endParaRPr lang="en-US" sz="1200" dirty="0"/>
          </a:p>
        </p:txBody>
      </p:sp>
      <p:sp>
        <p:nvSpPr>
          <p:cNvPr id="12" name="Text 10"/>
          <p:cNvSpPr/>
          <p:nvPr/>
        </p:nvSpPr>
        <p:spPr>
          <a:xfrm>
            <a:off x="6355080" y="2743200"/>
            <a:ext cx="301752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Large withdrawal → RM call</a:t>
            </a:r>
            <a:endParaRPr lang="en-US" sz="1250" dirty="0"/>
          </a:p>
        </p:txBody>
      </p:sp>
      <p:sp>
        <p:nvSpPr>
          <p:cNvPr id="13" name="Text 11"/>
          <p:cNvSpPr/>
          <p:nvPr/>
        </p:nvSpPr>
        <p:spPr>
          <a:xfrm>
            <a:off x="9326880" y="2743200"/>
            <a:ext cx="1005840" cy="365760"/>
          </a:xfrm>
          <a:prstGeom prst="rect">
            <a:avLst/>
          </a:prstGeom>
          <a:noFill/>
          <a:ln/>
        </p:spPr>
        <p:txBody>
          <a:bodyPr wrap="square" lIns="0" tIns="0" rIns="0" bIns="0" rtlCol="0" anchor="ctr"/>
          <a:lstStyle/>
          <a:p>
            <a:pPr algn="r" indent="0" marL="0">
              <a:buNone/>
            </a:pPr>
            <a:r>
              <a:rPr lang="en-US" sz="1400" b="1" dirty="0">
                <a:solidFill>
                  <a:srgbClr val="C1613C"/>
                </a:solidFill>
                <a:latin typeface="Cambria" pitchFamily="34" charset="0"/>
                <a:ea typeface="Cambria" pitchFamily="34" charset="-122"/>
                <a:cs typeface="Cambria" pitchFamily="34" charset="-120"/>
              </a:rPr>
              <a:t>10.7 pp</a:t>
            </a:r>
            <a:endParaRPr lang="en-US" sz="1400" dirty="0"/>
          </a:p>
        </p:txBody>
      </p:sp>
      <p:sp>
        <p:nvSpPr>
          <p:cNvPr id="14" name="Text 12"/>
          <p:cNvSpPr/>
          <p:nvPr/>
        </p:nvSpPr>
        <p:spPr>
          <a:xfrm>
            <a:off x="6355080" y="3090672"/>
            <a:ext cx="4754880" cy="365760"/>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RDD-validated</a:t>
            </a:r>
            <a:endParaRPr lang="en-US" sz="1050" dirty="0"/>
          </a:p>
        </p:txBody>
      </p:sp>
      <p:sp>
        <p:nvSpPr>
          <p:cNvPr id="15" name="Text 13"/>
          <p:cNvSpPr/>
          <p:nvPr/>
        </p:nvSpPr>
        <p:spPr>
          <a:xfrm>
            <a:off x="6355080" y="3703320"/>
            <a:ext cx="301752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DD stop → $100 offer</a:t>
            </a:r>
            <a:endParaRPr lang="en-US" sz="1250" dirty="0"/>
          </a:p>
        </p:txBody>
      </p:sp>
      <p:sp>
        <p:nvSpPr>
          <p:cNvPr id="16" name="Text 14"/>
          <p:cNvSpPr/>
          <p:nvPr/>
        </p:nvSpPr>
        <p:spPr>
          <a:xfrm>
            <a:off x="9326880" y="3703320"/>
            <a:ext cx="1005840" cy="365760"/>
          </a:xfrm>
          <a:prstGeom prst="rect">
            <a:avLst/>
          </a:prstGeom>
          <a:noFill/>
          <a:ln/>
        </p:spPr>
        <p:txBody>
          <a:bodyPr wrap="square" lIns="0" tIns="0" rIns="0" bIns="0" rtlCol="0" anchor="ctr"/>
          <a:lstStyle/>
          <a:p>
            <a:pPr algn="r" indent="0" marL="0">
              <a:buNone/>
            </a:pPr>
            <a:r>
              <a:rPr lang="en-US" sz="1400" b="1" dirty="0">
                <a:solidFill>
                  <a:srgbClr val="C1613C"/>
                </a:solidFill>
                <a:latin typeface="Cambria" pitchFamily="34" charset="0"/>
                <a:ea typeface="Cambria" pitchFamily="34" charset="-122"/>
                <a:cs typeface="Cambria" pitchFamily="34" charset="-120"/>
              </a:rPr>
              <a:t>7.7 pp</a:t>
            </a:r>
            <a:endParaRPr lang="en-US" sz="1400" dirty="0"/>
          </a:p>
        </p:txBody>
      </p:sp>
      <p:sp>
        <p:nvSpPr>
          <p:cNvPr id="17" name="Text 15"/>
          <p:cNvSpPr/>
          <p:nvPr/>
        </p:nvSpPr>
        <p:spPr>
          <a:xfrm>
            <a:off x="6355080" y="4050792"/>
            <a:ext cx="4754880" cy="365760"/>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DiD-validated</a:t>
            </a:r>
            <a:endParaRPr lang="en-US" sz="1050" dirty="0"/>
          </a:p>
        </p:txBody>
      </p:sp>
      <p:sp>
        <p:nvSpPr>
          <p:cNvPr id="18" name="Text 16"/>
          <p:cNvSpPr/>
          <p:nvPr/>
        </p:nvSpPr>
        <p:spPr>
          <a:xfrm>
            <a:off x="6355080" y="4663440"/>
            <a:ext cx="301752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Dormant → reminder</a:t>
            </a:r>
            <a:endParaRPr lang="en-US" sz="1250" dirty="0"/>
          </a:p>
        </p:txBody>
      </p:sp>
      <p:sp>
        <p:nvSpPr>
          <p:cNvPr id="19" name="Text 17"/>
          <p:cNvSpPr/>
          <p:nvPr/>
        </p:nvSpPr>
        <p:spPr>
          <a:xfrm>
            <a:off x="9326880" y="4663440"/>
            <a:ext cx="1005840" cy="365760"/>
          </a:xfrm>
          <a:prstGeom prst="rect">
            <a:avLst/>
          </a:prstGeom>
          <a:noFill/>
          <a:ln/>
        </p:spPr>
        <p:txBody>
          <a:bodyPr wrap="square" lIns="0" tIns="0" rIns="0" bIns="0" rtlCol="0" anchor="ctr"/>
          <a:lstStyle/>
          <a:p>
            <a:pPr algn="r" indent="0" marL="0">
              <a:buNone/>
            </a:pPr>
            <a:r>
              <a:rPr lang="en-US" sz="1400" b="1" dirty="0">
                <a:solidFill>
                  <a:srgbClr val="C1613C"/>
                </a:solidFill>
                <a:latin typeface="Cambria" pitchFamily="34" charset="0"/>
                <a:ea typeface="Cambria" pitchFamily="34" charset="-122"/>
                <a:cs typeface="Cambria" pitchFamily="34" charset="-120"/>
              </a:rPr>
              <a:t>3.0 pp</a:t>
            </a:r>
            <a:endParaRPr lang="en-US" sz="1400" dirty="0"/>
          </a:p>
        </p:txBody>
      </p:sp>
      <p:sp>
        <p:nvSpPr>
          <p:cNvPr id="20" name="Text 18"/>
          <p:cNvSpPr/>
          <p:nvPr/>
        </p:nvSpPr>
        <p:spPr>
          <a:xfrm>
            <a:off x="6355080" y="5010912"/>
            <a:ext cx="4754880" cy="365760"/>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ASSUMED — flagged, not yet causally validated</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OPTIMIZE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Same budget, same RM capacity: ~6x more value protected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pic>
        <p:nvPicPr>
          <p:cNvPr id="5" name="Image 0" descr="/root/vanguard_dda_project/figures/optimization_comparison.png">    </p:cNvPr>
          <p:cNvPicPr>
            <a:picLocks noChangeAspect="1"/>
          </p:cNvPicPr>
          <p:nvPr/>
        </p:nvPicPr>
        <p:blipFill>
          <a:blip r:embed="rId1"/>
          <a:stretch>
            <a:fillRect/>
          </a:stretch>
        </p:blipFill>
        <p:spPr>
          <a:xfrm>
            <a:off x="548640" y="1965960"/>
            <a:ext cx="6126480" cy="4343400"/>
          </a:xfrm>
          <a:prstGeom prst="rect">
            <a:avLst/>
          </a:prstGeom>
        </p:spPr>
      </p:pic>
      <p:sp>
        <p:nvSpPr>
          <p:cNvPr id="6" name="Shape 3"/>
          <p:cNvSpPr/>
          <p:nvPr/>
        </p:nvSpPr>
        <p:spPr>
          <a:xfrm>
            <a:off x="6903720" y="1965960"/>
            <a:ext cx="47091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013448" y="2075688"/>
            <a:ext cx="448970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+497%</a:t>
            </a:r>
            <a:endParaRPr lang="en-US" sz="3000" dirty="0"/>
          </a:p>
        </p:txBody>
      </p:sp>
      <p:sp>
        <p:nvSpPr>
          <p:cNvPr id="8" name="Text 5"/>
          <p:cNvSpPr/>
          <p:nvPr/>
        </p:nvSpPr>
        <p:spPr>
          <a:xfrm>
            <a:off x="7013448" y="2596896"/>
            <a:ext cx="44897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Net value protected vs. the heuristic, at equal spend</a:t>
            </a:r>
            <a:endParaRPr lang="en-US" sz="1100" dirty="0"/>
          </a:p>
        </p:txBody>
      </p:sp>
      <p:sp>
        <p:nvSpPr>
          <p:cNvPr id="9" name="Shape 6"/>
          <p:cNvSpPr/>
          <p:nvPr/>
        </p:nvSpPr>
        <p:spPr>
          <a:xfrm>
            <a:off x="6903720" y="3154680"/>
            <a:ext cx="47091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013448" y="3264408"/>
            <a:ext cx="448970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400 / 400</a:t>
            </a:r>
            <a:endParaRPr lang="en-US" sz="3000" dirty="0"/>
          </a:p>
        </p:txBody>
      </p:sp>
      <p:sp>
        <p:nvSpPr>
          <p:cNvPr id="11" name="Text 8"/>
          <p:cNvSpPr/>
          <p:nvPr/>
        </p:nvSpPr>
        <p:spPr>
          <a:xfrm>
            <a:off x="7013448" y="3785616"/>
            <a:ext cx="44897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RM contacts used — capacity fully, deliberately allocated</a:t>
            </a:r>
            <a:endParaRPr lang="en-US" sz="1100" dirty="0"/>
          </a:p>
        </p:txBody>
      </p:sp>
      <p:sp>
        <p:nvSpPr>
          <p:cNvPr id="12" name="Text 9"/>
          <p:cNvSpPr/>
          <p:nvPr/>
        </p:nvSpPr>
        <p:spPr>
          <a:xfrm>
            <a:off x="6903720" y="4434840"/>
            <a:ext cx="4709160" cy="1828800"/>
          </a:xfrm>
          <a:prstGeom prst="rect">
            <a:avLst/>
          </a:prstGeom>
          <a:noFill/>
          <a:ln/>
        </p:spPr>
        <p:txBody>
          <a:bodyPr wrap="square" lIns="0" tIns="0" rIns="0" bIns="0" rtlCol="0" anchor="ctr"/>
          <a:lstStyle/>
          <a:p>
            <a:pPr indent="0" marL="0">
              <a:lnSpc>
                <a:spcPct val="125000"/>
              </a:lnSpc>
              <a:buNone/>
            </a:pPr>
            <a:r>
              <a:rPr lang="en-US" sz="1250" dirty="0">
                <a:solidFill>
                  <a:srgbClr val="5B6B8C"/>
                </a:solidFill>
                <a:latin typeface="Calibri" pitchFamily="34" charset="0"/>
                <a:ea typeface="Calibri" pitchFamily="34" charset="-122"/>
                <a:cs typeface="Calibri" pitchFamily="34" charset="-120"/>
              </a:rPr>
              <a:t>The heuristic doesn't discriminate by risk LEVEL within the top-50%-value pool — it spends on high-value accounts whether they're actually at risk or not, and it has no notion of an RM-capacity limit at all. The optimizer ranks by expected payoff per dollar and per RM-minute, directly.</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RESULT — TYING IT BACK</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real project already worked. This is how I'd make it rigorous.</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48640" y="2057400"/>
            <a:ext cx="5303520" cy="3931920"/>
          </a:xfrm>
          <a:prstGeom prst="roundRect">
            <a:avLst>
              <a:gd name="adj" fmla="val 1860"/>
            </a:avLst>
          </a:prstGeom>
          <a:solidFill>
            <a:srgbClr val="EEF3FC"/>
          </a:solidFill>
          <a:ln/>
        </p:spPr>
      </p:sp>
      <p:sp>
        <p:nvSpPr>
          <p:cNvPr id="6" name="Text 4"/>
          <p:cNvSpPr/>
          <p:nvPr/>
        </p:nvSpPr>
        <p:spPr>
          <a:xfrm>
            <a:off x="868680" y="228600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ACTUALLY HAPPENED</a:t>
            </a:r>
            <a:endParaRPr lang="en-US" sz="1200" dirty="0"/>
          </a:p>
        </p:txBody>
      </p:sp>
      <p:sp>
        <p:nvSpPr>
          <p:cNvPr id="7" name="Shape 5"/>
          <p:cNvSpPr/>
          <p:nvPr/>
        </p:nvSpPr>
        <p:spPr>
          <a:xfrm>
            <a:off x="868680" y="2697480"/>
            <a:ext cx="4663440" cy="1051560"/>
          </a:xfrm>
          <a:prstGeom prst="roundRect">
            <a:avLst>
              <a:gd name="adj" fmla="val 6957"/>
            </a:avLst>
          </a:prstGeom>
          <a:solidFill>
            <a:srgbClr val="FFFFFF"/>
          </a:solidFill>
          <a:ln/>
          <a:effectLst>
            <a:outerShdw sx="100000" sy="100000" kx="0" ky="0" algn="bl" rotWithShape="0" blurRad="76200" dist="25400" dir="5400000">
              <a:srgbClr val="1E2761">
                <a:alpha val="12000"/>
              </a:srgbClr>
            </a:outerShdw>
          </a:effectLst>
        </p:spPr>
      </p:sp>
      <p:sp>
        <p:nvSpPr>
          <p:cNvPr id="8" name="Text 6"/>
          <p:cNvSpPr/>
          <p:nvPr/>
        </p:nvSpPr>
        <p:spPr>
          <a:xfrm>
            <a:off x="978408" y="2807208"/>
            <a:ext cx="444398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-30%</a:t>
            </a:r>
            <a:endParaRPr lang="en-US" sz="3000" dirty="0"/>
          </a:p>
        </p:txBody>
      </p:sp>
      <p:sp>
        <p:nvSpPr>
          <p:cNvPr id="9" name="Text 7"/>
          <p:cNvSpPr/>
          <p:nvPr/>
        </p:nvSpPr>
        <p:spPr>
          <a:xfrm>
            <a:off x="978408" y="3328416"/>
            <a:ext cx="444398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Relative churn reduction, randomized A/B test vs. blanket outreach</a:t>
            </a:r>
            <a:endParaRPr lang="en-US" sz="1100" dirty="0"/>
          </a:p>
        </p:txBody>
      </p:sp>
      <p:sp>
        <p:nvSpPr>
          <p:cNvPr id="10" name="Text 8"/>
          <p:cNvSpPr/>
          <p:nvPr/>
        </p:nvSpPr>
        <p:spPr>
          <a:xfrm>
            <a:off x="868680" y="3931920"/>
            <a:ext cx="4663440" cy="1828800"/>
          </a:xfrm>
          <a:prstGeom prst="rect">
            <a:avLst/>
          </a:prstGeom>
          <a:noFill/>
          <a:ln/>
        </p:spPr>
        <p:txBody>
          <a:bodyPr wrap="square" lIns="0" tIns="0" rIns="0" bIns="0" rtlCol="0" anchor="ctr"/>
          <a:lstStyle/>
          <a:p>
            <a:pPr indent="0" marL="0">
              <a:lnSpc>
                <a:spcPct val="125000"/>
              </a:lnSpc>
              <a:buNone/>
            </a:pPr>
            <a:r>
              <a:rPr lang="en-US" sz="1250" dirty="0">
                <a:solidFill>
                  <a:srgbClr val="5B6B8C"/>
                </a:solidFill>
                <a:latin typeface="Calibri" pitchFamily="34" charset="0"/>
                <a:ea typeface="Calibri" pitchFamily="34" charset="-122"/>
                <a:cs typeface="Calibri" pitchFamily="34" charset="-120"/>
              </a:rPr>
              <a:t>Validated the only way we had time and buy-in to validate: an outcomes-based A/B test. That's a real, defensible result — and it's also the limit of what we did.</a:t>
            </a:r>
            <a:endParaRPr lang="en-US" sz="1250" dirty="0"/>
          </a:p>
        </p:txBody>
      </p:sp>
      <p:sp>
        <p:nvSpPr>
          <p:cNvPr id="11" name="Shape 9"/>
          <p:cNvSpPr/>
          <p:nvPr/>
        </p:nvSpPr>
        <p:spPr>
          <a:xfrm>
            <a:off x="6126480" y="2057400"/>
            <a:ext cx="5303520" cy="3931920"/>
          </a:xfrm>
          <a:prstGeom prst="roundRect">
            <a:avLst>
              <a:gd name="adj" fmla="val 1860"/>
            </a:avLst>
          </a:prstGeom>
          <a:solidFill>
            <a:srgbClr val="1E2761"/>
          </a:solidFill>
          <a:ln/>
        </p:spPr>
      </p:sp>
      <p:sp>
        <p:nvSpPr>
          <p:cNvPr id="12" name="Text 10"/>
          <p:cNvSpPr/>
          <p:nvPr/>
        </p:nvSpPr>
        <p:spPr>
          <a:xfrm>
            <a:off x="6446520" y="228600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THIS ADDS</a:t>
            </a:r>
            <a:endParaRPr lang="en-US" sz="1200" dirty="0"/>
          </a:p>
        </p:txBody>
      </p:sp>
      <p:sp>
        <p:nvSpPr>
          <p:cNvPr id="13" name="Text 11"/>
          <p:cNvSpPr/>
          <p:nvPr/>
        </p:nvSpPr>
        <p:spPr>
          <a:xfrm>
            <a:off x="6446520" y="2697480"/>
            <a:ext cx="4709160" cy="3108960"/>
          </a:xfrm>
          <a:prstGeom prst="rect">
            <a:avLst/>
          </a:prstGeom>
          <a:noFill/>
          <a:ln/>
        </p:spPr>
        <p:txBody>
          <a:bodyPr wrap="square" lIns="0" tIns="0" rIns="0" bIns="0" rtlCol="0" anchor="ctr"/>
          <a:lstStyle/>
          <a:p>
            <a:pPr marL="342900" indent="-342900">
              <a:lnSpc>
                <a:spcPct val="125000"/>
              </a:lnSpc>
              <a:spcAft>
                <a:spcPts val="1000"/>
              </a:spcAft>
              <a:buSzPct val="100000"/>
              <a:buChar char="•"/>
            </a:pPr>
            <a:r>
              <a:rPr lang="en-US" sz="1300" dirty="0">
                <a:solidFill>
                  <a:srgbClr val="FFFFFF"/>
                </a:solidFill>
                <a:latin typeface="Calibri" pitchFamily="34" charset="0"/>
                <a:ea typeface="Calibri" pitchFamily="34" charset="-122"/>
                <a:cs typeface="Calibri" pitchFamily="34" charset="-120"/>
              </a:rPr>
              <a:t>Causal identification for triggers that CAN'T be A/B tested, not just the ones that can</a:t>
            </a:r>
            <a:endParaRPr lang="en-US" sz="1300" dirty="0"/>
          </a:p>
          <a:p>
            <a:pPr marL="342900" indent="-342900">
              <a:lnSpc>
                <a:spcPct val="125000"/>
              </a:lnSpc>
              <a:spcAft>
                <a:spcPts val="1000"/>
              </a:spcAft>
              <a:buSzPct val="100000"/>
              <a:buChar char="•"/>
            </a:pPr>
            <a:r>
              <a:rPr lang="en-US" sz="1300" dirty="0">
                <a:solidFill>
                  <a:srgbClr val="FFFFFF"/>
                </a:solidFill>
                <a:latin typeface="Calibri" pitchFamily="34" charset="0"/>
                <a:ea typeface="Calibri" pitchFamily="34" charset="-122"/>
                <a:cs typeface="Calibri" pitchFamily="34" charset="-120"/>
              </a:rPr>
              <a:t>A formal, re-runnable optimization instead of a fixed value-score cutoff — it flexes with budget</a:t>
            </a:r>
            <a:endParaRPr lang="en-US" sz="1300" dirty="0"/>
          </a:p>
          <a:p>
            <a:pPr marL="342900" indent="-342900">
              <a:lnSpc>
                <a:spcPct val="125000"/>
              </a:lnSpc>
              <a:spcAft>
                <a:spcPts val="1000"/>
              </a:spcAft>
              <a:buSzPct val="100000"/>
              <a:buChar char="•"/>
            </a:pPr>
            <a:r>
              <a:rPr lang="en-US" sz="1300" dirty="0">
                <a:solidFill>
                  <a:srgbClr val="FFFFFF"/>
                </a:solidFill>
                <a:latin typeface="Calibri" pitchFamily="34" charset="0"/>
                <a:ea typeface="Calibri" pitchFamily="34" charset="-122"/>
                <a:cs typeface="Calibri" pitchFamily="34" charset="-120"/>
              </a:rPr>
              <a:t>Every method graded against a known ground truth before I'd trust it on a real decision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LIMITATIONS — AND WHY THIS ROLE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What I'd still want before this touches production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sp>
        <p:nvSpPr>
          <p:cNvPr id="5" name="Shape 3"/>
          <p:cNvSpPr/>
          <p:nvPr/>
        </p:nvSpPr>
        <p:spPr>
          <a:xfrm>
            <a:off x="548640" y="2057400"/>
            <a:ext cx="10881360" cy="1051560"/>
          </a:xfrm>
          <a:prstGeom prst="roundRect">
            <a:avLst>
              <a:gd name="adj" fmla="val 5217"/>
            </a:avLst>
          </a:prstGeom>
          <a:solidFill>
            <a:srgbClr val="EEF3FC"/>
          </a:solidFill>
          <a:ln/>
        </p:spPr>
      </p:sp>
      <p:sp>
        <p:nvSpPr>
          <p:cNvPr id="6" name="Text 4"/>
          <p:cNvSpPr/>
          <p:nvPr/>
        </p:nvSpPr>
        <p:spPr>
          <a:xfrm>
            <a:off x="822960" y="2148840"/>
            <a:ext cx="3840480" cy="868680"/>
          </a:xfrm>
          <a:prstGeom prst="rect">
            <a:avLst/>
          </a:prstGeom>
          <a:noFill/>
          <a:ln/>
        </p:spPr>
        <p:txBody>
          <a:bodyPr wrap="square" lIns="0" tIns="0" rIns="0" bIns="0" rtlCol="0" anchor="ctr"/>
          <a:lstStyle/>
          <a:p>
            <a:pPr indent="0" marL="0">
              <a:lnSpc>
                <a:spcPct val="110000"/>
              </a:lnSpc>
              <a:buNone/>
            </a:pPr>
            <a:r>
              <a:rPr lang="en-US" sz="1300" b="1" dirty="0">
                <a:solidFill>
                  <a:srgbClr val="1E2761"/>
                </a:solidFill>
                <a:latin typeface="Calibri" pitchFamily="34" charset="0"/>
                <a:ea typeface="Calibri" pitchFamily="34" charset="-122"/>
                <a:cs typeface="Calibri" pitchFamily="34" charset="-120"/>
              </a:rPr>
              <a:t>Dormant-play effect is assumed, not estimated</a:t>
            </a:r>
            <a:endParaRPr lang="en-US" sz="1300" dirty="0"/>
          </a:p>
        </p:txBody>
      </p:sp>
      <p:sp>
        <p:nvSpPr>
          <p:cNvPr id="7" name="Text 5"/>
          <p:cNvSpPr/>
          <p:nvPr/>
        </p:nvSpPr>
        <p:spPr>
          <a:xfrm>
            <a:off x="4800600" y="2148840"/>
            <a:ext cx="6446520" cy="868680"/>
          </a:xfrm>
          <a:prstGeom prst="rect">
            <a:avLst/>
          </a:prstGeom>
          <a:noFill/>
          <a:ln/>
        </p:spPr>
        <p:txBody>
          <a:bodyPr wrap="square" lIns="0" tIns="0" rIns="0" bIns="0" rtlCol="0" anchor="ctr"/>
          <a:lstStyle/>
          <a:p>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No RDD/DiD design covers it here — needs its own experiment or quasi-experimental design before scaling spend against it.</a:t>
            </a:r>
            <a:endParaRPr lang="en-US" sz="1200" dirty="0"/>
          </a:p>
        </p:txBody>
      </p:sp>
      <p:sp>
        <p:nvSpPr>
          <p:cNvPr id="8" name="Shape 6"/>
          <p:cNvSpPr/>
          <p:nvPr/>
        </p:nvSpPr>
        <p:spPr>
          <a:xfrm>
            <a:off x="548640" y="3291840"/>
            <a:ext cx="10881360" cy="1051560"/>
          </a:xfrm>
          <a:prstGeom prst="roundRect">
            <a:avLst>
              <a:gd name="adj" fmla="val 5217"/>
            </a:avLst>
          </a:prstGeom>
          <a:solidFill>
            <a:srgbClr val="EEF3FC"/>
          </a:solidFill>
          <a:ln/>
        </p:spPr>
      </p:sp>
      <p:sp>
        <p:nvSpPr>
          <p:cNvPr id="9" name="Text 7"/>
          <p:cNvSpPr/>
          <p:nvPr/>
        </p:nvSpPr>
        <p:spPr>
          <a:xfrm>
            <a:off x="822960" y="3383280"/>
            <a:ext cx="3840480" cy="868680"/>
          </a:xfrm>
          <a:prstGeom prst="rect">
            <a:avLst/>
          </a:prstGeom>
          <a:noFill/>
          <a:ln/>
        </p:spPr>
        <p:txBody>
          <a:bodyPr wrap="square" lIns="0" tIns="0" rIns="0" bIns="0" rtlCol="0" anchor="ctr"/>
          <a:lstStyle/>
          <a:p>
            <a:pPr indent="0" marL="0">
              <a:lnSpc>
                <a:spcPct val="110000"/>
              </a:lnSpc>
              <a:buNone/>
            </a:pPr>
            <a:r>
              <a:rPr lang="en-US" sz="1300" b="1" dirty="0">
                <a:solidFill>
                  <a:srgbClr val="1E2761"/>
                </a:solidFill>
                <a:latin typeface="Calibri" pitchFamily="34" charset="0"/>
                <a:ea typeface="Calibri" pitchFamily="34" charset="-122"/>
                <a:cs typeface="Calibri" pitchFamily="34" charset="-120"/>
              </a:rPr>
              <a:t>No formal independent model-risk validation</a:t>
            </a:r>
            <a:endParaRPr lang="en-US" sz="1300" dirty="0"/>
          </a:p>
        </p:txBody>
      </p:sp>
      <p:sp>
        <p:nvSpPr>
          <p:cNvPr id="10" name="Text 8"/>
          <p:cNvSpPr/>
          <p:nvPr/>
        </p:nvSpPr>
        <p:spPr>
          <a:xfrm>
            <a:off x="4800600" y="3383280"/>
            <a:ext cx="6446520" cy="868680"/>
          </a:xfrm>
          <a:prstGeom prst="rect">
            <a:avLst/>
          </a:prstGeom>
          <a:noFill/>
          <a:ln/>
        </p:spPr>
        <p:txBody>
          <a:bodyPr wrap="square" lIns="0" tIns="0" rIns="0" bIns="0" rtlCol="0" anchor="ctr"/>
          <a:lstStyle/>
          <a:p>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Today's validation is outcomes-based (A/B test) and, here, grading against a KNOWN synthetic truth — a real deployment needs an independent conceptual-soundness review per SR 11-7.</a:t>
            </a:r>
            <a:endParaRPr lang="en-US" sz="1200" dirty="0"/>
          </a:p>
        </p:txBody>
      </p:sp>
      <p:sp>
        <p:nvSpPr>
          <p:cNvPr id="11" name="Shape 9"/>
          <p:cNvSpPr/>
          <p:nvPr/>
        </p:nvSpPr>
        <p:spPr>
          <a:xfrm>
            <a:off x="548640" y="4526280"/>
            <a:ext cx="10881360" cy="1051560"/>
          </a:xfrm>
          <a:prstGeom prst="roundRect">
            <a:avLst>
              <a:gd name="adj" fmla="val 5217"/>
            </a:avLst>
          </a:prstGeom>
          <a:solidFill>
            <a:srgbClr val="EEF3FC"/>
          </a:solidFill>
          <a:ln/>
        </p:spPr>
      </p:sp>
      <p:sp>
        <p:nvSpPr>
          <p:cNvPr id="12" name="Text 10"/>
          <p:cNvSpPr/>
          <p:nvPr/>
        </p:nvSpPr>
        <p:spPr>
          <a:xfrm>
            <a:off x="822960" y="4617720"/>
            <a:ext cx="3840480" cy="868680"/>
          </a:xfrm>
          <a:prstGeom prst="rect">
            <a:avLst/>
          </a:prstGeom>
          <a:noFill/>
          <a:ln/>
        </p:spPr>
        <p:txBody>
          <a:bodyPr wrap="square" lIns="0" tIns="0" rIns="0" bIns="0" rtlCol="0" anchor="ctr"/>
          <a:lstStyle/>
          <a:p>
            <a:pPr indent="0" marL="0">
              <a:lnSpc>
                <a:spcPct val="110000"/>
              </a:lnSpc>
              <a:buNone/>
            </a:pPr>
            <a:r>
              <a:rPr lang="en-US" sz="1300" b="1" dirty="0">
                <a:solidFill>
                  <a:srgbClr val="1E2761"/>
                </a:solidFill>
                <a:latin typeface="Calibri" pitchFamily="34" charset="0"/>
                <a:ea typeface="Calibri" pitchFamily="34" charset="-122"/>
                <a:cs typeface="Calibri" pitchFamily="34" charset="-120"/>
              </a:rPr>
              <a:t>Synthetic data throughout</a:t>
            </a:r>
            <a:endParaRPr lang="en-US" sz="1300" dirty="0"/>
          </a:p>
        </p:txBody>
      </p:sp>
      <p:sp>
        <p:nvSpPr>
          <p:cNvPr id="13" name="Text 11"/>
          <p:cNvSpPr/>
          <p:nvPr/>
        </p:nvSpPr>
        <p:spPr>
          <a:xfrm>
            <a:off x="4800600" y="4617720"/>
            <a:ext cx="6446520" cy="868680"/>
          </a:xfrm>
          <a:prstGeom prst="rect">
            <a:avLst/>
          </a:prstGeom>
          <a:noFill/>
          <a:ln/>
        </p:spPr>
        <p:txBody>
          <a:bodyPr wrap="square" lIns="0" tIns="0" rIns="0" bIns="0" rtlCol="0" anchor="ctr"/>
          <a:lstStyle/>
          <a:p>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Built specifically so I could validate method correctness with a known ground truth — real deployment validates differently, without that luxury.</a:t>
            </a:r>
            <a:endParaRPr lang="en-US" sz="1200" dirty="0"/>
          </a:p>
        </p:txBody>
      </p:sp>
      <p:sp>
        <p:nvSpPr>
          <p:cNvPr id="14" name="Text 12"/>
          <p:cNvSpPr/>
          <p:nvPr/>
        </p:nvSpPr>
        <p:spPr>
          <a:xfrm>
            <a:off x="548640" y="5806440"/>
            <a:ext cx="10881360" cy="685800"/>
          </a:xfrm>
          <a:prstGeom prst="rect">
            <a:avLst/>
          </a:prstGeom>
          <a:noFill/>
          <a:ln/>
        </p:spPr>
        <p:txBody>
          <a:bodyPr wrap="square" lIns="0" tIns="0" rIns="0" bIns="0" rtlCol="0" anchor="ctr"/>
          <a:lstStyle/>
          <a:p>
            <a:pPr indent="0" marL="0">
              <a:buNone/>
            </a:pPr>
            <a:r>
              <a:rPr lang="en-US" sz="1300" i="1" dirty="0">
                <a:solidFill>
                  <a:srgbClr val="1E2761"/>
                </a:solidFill>
                <a:latin typeface="Calibri" pitchFamily="34" charset="0"/>
                <a:ea typeface="Calibri" pitchFamily="34" charset="-122"/>
                <a:cs typeface="Calibri" pitchFamily="34" charset="-120"/>
              </a:rPr>
              <a:t>That gap between “validated by outcome” and “validated by design, before launch” is exactly what draws me to this role — building the analytical engine where that rigor is the default, not a stretch goal.</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828800" y="4114800"/>
            <a:ext cx="5029200" cy="5029200"/>
          </a:xfrm>
          <a:prstGeom prst="ellipse">
            <a:avLst/>
          </a:prstGeom>
          <a:solidFill>
            <a:srgbClr val="2C4870"/>
          </a:solidFill>
          <a:ln/>
        </p:spPr>
      </p:sp>
      <p:sp>
        <p:nvSpPr>
          <p:cNvPr id="3" name="Text 1"/>
          <p:cNvSpPr/>
          <p:nvPr/>
        </p:nvSpPr>
        <p:spPr>
          <a:xfrm>
            <a:off x="640080" y="2286000"/>
            <a:ext cx="9144000" cy="109728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Thank you</a:t>
            </a:r>
            <a:endParaRPr lang="en-US" sz="4200" dirty="0"/>
          </a:p>
        </p:txBody>
      </p:sp>
      <p:sp>
        <p:nvSpPr>
          <p:cNvPr id="4" name="Text 2"/>
          <p:cNvSpPr/>
          <p:nvPr/>
        </p:nvSpPr>
        <p:spPr>
          <a:xfrm>
            <a:off x="640080" y="3291840"/>
            <a:ext cx="960120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Predict → Explain (causally) → Optimize — one decision engine, three layers of rigor.</a:t>
            </a:r>
            <a:endParaRPr lang="en-US" sz="1500" dirty="0"/>
          </a:p>
        </p:txBody>
      </p:sp>
      <p:sp>
        <p:nvSpPr>
          <p:cNvPr id="5" name="Text 3"/>
          <p:cNvSpPr/>
          <p:nvPr/>
        </p:nvSpPr>
        <p:spPr>
          <a:xfrm>
            <a:off x="640080" y="3977640"/>
            <a:ext cx="7315200" cy="45720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Questions welcome.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2026-08-17T21:35:40Z</dcterms:created>
  <dcterms:modified xsi:type="dcterms:W3CDTF">2026-08-17T21:35:40Z</dcterms:modified>
</cp:coreProperties>
</file>