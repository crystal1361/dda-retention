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 real project I'm rebuilding to layer in rigor the JD specifically calls for: quasi-experimental causal inference and formal optimization under uncertainty. Say up front that today's data is synthetic (next slide explains why) but the methods and the underlying real project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situation from my actual project. RMs and the retention team had no forward-looking signal, and the retention motion that did exist wasn't differentiated by WHY someone was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very explicit and upfront here: this is honest framing, not a trick. The real project and its real A/B-tested result are true. Today's code/slides are a demonstration I built to show the additional analytical engine skills this role asks for -- quasi-experimental causal inference, formal optimization, and business translation -- using synthetic data with a KNOWN ground truth so I can validate my own methods before ever trusting them on a real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to the JD language: 'design the analytical engine... how relationships are modeled... how outputs are generated for decision-making.' Predict/Explain/Optimize is that engine; the business-impact layer at the end is what turns the engine's output into something a stakeholder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Engagement, DD stability, and liquidity-need scores dominate, as expected -- and region importance sits at noise level, a good sanity check that the model isn't picking up spurious geography effects. I evaluate by ranking quality, not hard-classification accuracy, because forcing balanced weights on an 89%-none target produces garbage precision numbers that don't reflect how the model is actually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what the JD is asking for: causal inference 'in situations where randomized testing is not feasible, practical, or cost-effective.' All three are real, non-randomized business situations, so I pick the quasi-experimental design that fits each one's structure rather than forcing one method on all three. The third row is deliberately the weakest identification of the three -- I say that openly, both here and later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 matters because RDD's validity hinges entirely on people not being able to precisely manipulate which side of the cutoff they land on. I run this BEFORE trusting any effect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comparison looks almost nothing like the true effect because bigger withdrawals were already higher-risk before any outreach -- that confound roughly cancels out the real negative effect of the call. RDD isolates it by comparing only the narrow window right around the cutoff, where the confound is approximately constant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deliberate design choice: staggering by CUSTOMER VALUE TIER rather than region is the more realistic mechanism for a bank -- ops/RM bandwidth is genuinely scarce, so a phased rollout by value tier is exactly how a program like this would actually go out the door. It also makes the naive-TWFE bias sharper and easier to explain: high-value tiers already tend to have different baseline churn than low-value tiers, so which tier you're in is correlated with both treatment timing AND the outcome -- textbook confound structure for staggered-adoption bias. I also restricted the interaction test to the common pre-period window, because comparing tiers with very different amounts of pre-period data would itself create a spurious 'differential trend' finding unrelated to the actual assumption being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if pressed: the gap between naive and clean-control is real but not huge in this simulation -- I'd say the point isn't that naive TWFE blew up spectacularly here, it's that you can't assume it won't. With more tiers, longer ramps, or more heterogeneity, that gap widens, so checking for it is the discipline, not the headline number. If asked whether this is Callaway-Sant'Anna: no -- it's a simpler clean-control comparison that captures the same intuition (don't let already-treated units bias the control group) without CS's full doubly-robust, bootstrapped machinery. I'd reach for the real CS estimator (or DoubleML-based staggered-DiD tools) if I needed the extra robustness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deliberately weakest-identification method of the three, and I say so explicitly: DoubleML's validity rests on selection-on-observables -- 'we captured every important confounder' -- which, unlike RDD's no-manipulation check or DiD's pre-trends check, is NOT directly testable from the data. I include it anyway because it's genuinely the right tool for a trigger with no design-based structure, and because showing naive and logistic regression BOTH getting the wrong sign is a clean, defensible demonstration of why simple methods fail under this kind of threshold-based confounding, and why tree-based nuisance models (which can represent a branching rule; linear logistic regression can't) recover the correct sign. I target ATT not ATE here on purpose -- the true effect is concentrated in the ~30% of accounts that get flagged, so the population-average effect is small and noisy, while the effect ON THE TREATED is the number that actually matters for deciding whether to keep running this play on exactly those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multiple-choice knapsack problem, solved with PuLP (CBC solver): each account can get at most one intervention, subject to a total budget and a separate RM-capacity constraint, since RM time -- not dollars -- is actually the binding resource for the withdrawal play. Every effect size here now comes from an actual estimation script, not a hardcoded assumption -- including the dormant number, which used to be a flat 3pp guess and is now DoubleML's estimate, carried into the optimizer with its own honestly-labeled lower confidence tier rather than being treated as equally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carefully: the heuristic, run without any cap, actually overspends the RM capacity on its own -- that's itself a finding worth surfacing to the business, since it means the original process needed an unwritten manual cap that the optimization now formalizes. Also worth noting if asked: the +63% figure went down from an earlier draft's +497% once I fixed the dollar-at-risk formula and the DiD/dormant effect sizes to be properly estimated rather than assumed -- I'd rather present the more defensible, smaller number than an inflated one I can't fully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direct answer to 'so what' -- it's also where I address the weight-formula criticism head on. Rather than asserting the 15% product-value-uplift number is right, I show it doesn't matter much: ranking is nearly identical (Spearman ~0.999) whether it's 10%, 15%, or 20%, and over 98% of the accounts that get prioritized stay prioritized either way. That's the concrete, defensible answer to 'how did you pick that weight' -- I picked a reasonable one and then proved the conclusion doesn't hinge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deliverable a Decision Analytics stakeholder actually wants, and it's deliberately not just 'here are three effect sizes' -- it's prioritized, and the priority order is driven by how much I trust each identifying assumption, not by which number is biggest. Recommendation 4 is the one I'd expect the most pushback on, and I want to be the one raising the caveat before anyone else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back to the STAR story: the real result stands on its own, and everything in this deck is presented as the next iteration of that same project, not a replacement for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 honesty, matching how I handled similar gap questions in the real project's prep -- own the gap, and turn it into the motivation for the role rather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bandwidth-sensitivity table, cohort-level ATT table, and DoubleML CI ready if asked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C4870"/>
          </a:solidFill>
          <a:ln/>
        </p:spPr>
      </p:sp>
      <p:sp>
        <p:nvSpPr>
          <p:cNvPr id="3" name="Shape 1"/>
          <p:cNvSpPr/>
          <p:nvPr/>
        </p:nvSpPr>
        <p:spPr>
          <a:xfrm>
            <a:off x="10789920" y="4206240"/>
            <a:ext cx="2926080" cy="2926080"/>
          </a:xfrm>
          <a:prstGeom prst="ellipse">
            <a:avLst/>
          </a:prstGeom>
          <a:solidFill>
            <a:srgbClr val="C1613C"/>
          </a:solidFill>
          <a:ln/>
        </p:spPr>
      </p:sp>
      <p:sp>
        <p:nvSpPr>
          <p:cNvPr id="4" name="Text 2"/>
          <p:cNvSpPr/>
          <p:nvPr/>
        </p:nvSpPr>
        <p:spPr>
          <a:xfrm>
            <a:off x="640080" y="1417320"/>
            <a:ext cx="914400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DDA RETENTION  ·  DECISION ANALYTICS</a:t>
            </a:r>
            <a:endParaRPr lang="en-US" sz="1300" dirty="0"/>
          </a:p>
        </p:txBody>
      </p:sp>
      <p:sp>
        <p:nvSpPr>
          <p:cNvPr id="5" name="Text 3"/>
          <p:cNvSpPr/>
          <p:nvPr/>
        </p:nvSpPr>
        <p:spPr>
          <a:xfrm>
            <a:off x="640080" y="1874520"/>
            <a:ext cx="987552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From a Heuristic Rule to a</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Causal, Optimized Decision Engine</a:t>
            </a:r>
            <a:endParaRPr lang="en-US" sz="4000" dirty="0"/>
          </a:p>
        </p:txBody>
      </p:sp>
      <p:sp>
        <p:nvSpPr>
          <p:cNvPr id="6" name="Text 4"/>
          <p:cNvSpPr/>
          <p:nvPr/>
        </p:nvSpPr>
        <p:spPr>
          <a:xfrm>
            <a:off x="640080" y="3703320"/>
            <a:ext cx="9875520" cy="82296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Rebuilding a real DDA retention project with quasi-experimental causal inference (RDD + value-tier DiD + DoubleML) and formal budget optimization, translated into quantified business impact</a:t>
            </a:r>
            <a:endParaRPr lang="en-US" sz="1500" dirty="0"/>
          </a:p>
        </p:txBody>
      </p:sp>
      <p:sp>
        <p:nvSpPr>
          <p:cNvPr id="7" name="Text 5"/>
          <p:cNvSpPr/>
          <p:nvPr/>
        </p:nvSpPr>
        <p:spPr>
          <a:xfrm>
            <a:off x="640080" y="5989320"/>
            <a:ext cx="9144000" cy="365760"/>
          </a:xfrm>
          <a:prstGeom prst="rect">
            <a:avLst/>
          </a:prstGeom>
          <a:noFill/>
          <a:ln/>
        </p:spPr>
        <p:txBody>
          <a:bodyPr wrap="square" lIns="0" tIns="0" rIns="0" bIns="0" rtlCol="0" anchor="ctr"/>
          <a:lstStyle/>
          <a:p>
            <a:pPr indent="0" marL="0">
              <a:buNone/>
            </a:pPr>
            <a:r>
              <a:rPr lang="en-US" sz="1200" dirty="0">
                <a:solidFill>
                  <a:srgbClr val="5B6B8C"/>
                </a:solidFill>
                <a:latin typeface="Calibri" pitchFamily="34" charset="0"/>
                <a:ea typeface="Calibri" pitchFamily="34" charset="-122"/>
                <a:cs typeface="Calibri" pitchFamily="34" charset="-120"/>
              </a:rPr>
              <a:t>Presented for: Data Analyst, Senior Specialist / Data Scientist — Decision Analytics &amp; Modeling, Vanguard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SITUATION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 were losing checking accounts —</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only found out after they'd already closed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640080" y="2103120"/>
            <a:ext cx="457200" cy="457200"/>
          </a:xfrm>
          <a:prstGeom prst="ellipse">
            <a:avLst/>
          </a:prstGeom>
          <a:solidFill>
            <a:srgbClr val="2C4870"/>
          </a:solidFill>
          <a:ln/>
        </p:spPr>
      </p:sp>
      <p:sp>
        <p:nvSpPr>
          <p:cNvPr id="6" name="Text 4"/>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25880" y="20574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early-warning system</a:t>
            </a:r>
            <a:endParaRPr lang="en-US" sz="1700" dirty="0"/>
          </a:p>
        </p:txBody>
      </p:sp>
      <p:sp>
        <p:nvSpPr>
          <p:cNvPr id="8" name="Text 6"/>
          <p:cNvSpPr/>
          <p:nvPr/>
        </p:nvSpPr>
        <p:spPr>
          <a:xfrm>
            <a:off x="1325880" y="24505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Attrition was visible only in the rear-view mirror: the account was already closed by the time it showed up in a report.</a:t>
            </a:r>
            <a:endParaRPr lang="en-US" sz="1300" dirty="0"/>
          </a:p>
        </p:txBody>
      </p:sp>
      <p:sp>
        <p:nvSpPr>
          <p:cNvPr id="9" name="Shape 7"/>
          <p:cNvSpPr/>
          <p:nvPr/>
        </p:nvSpPr>
        <p:spPr>
          <a:xfrm>
            <a:off x="640080" y="3474720"/>
            <a:ext cx="457200" cy="457200"/>
          </a:xfrm>
          <a:prstGeom prst="ellipse">
            <a:avLst/>
          </a:prstGeom>
          <a:solidFill>
            <a:srgbClr val="2C4870"/>
          </a:solidFill>
          <a:ln/>
        </p:spPr>
      </p:sp>
      <p:sp>
        <p:nvSpPr>
          <p:cNvPr id="10" name="Text 8"/>
          <p:cNvSpPr/>
          <p:nvPr/>
        </p:nvSpPr>
        <p:spPr>
          <a:xfrm>
            <a:off x="64008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p:nvPr/>
        </p:nvSpPr>
        <p:spPr>
          <a:xfrm>
            <a:off x="1325880" y="34290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One-size-fits-all retention</a:t>
            </a:r>
            <a:endParaRPr lang="en-US" sz="1700" dirty="0"/>
          </a:p>
        </p:txBody>
      </p:sp>
      <p:sp>
        <p:nvSpPr>
          <p:cNvPr id="12" name="Text 10"/>
          <p:cNvSpPr/>
          <p:nvPr/>
        </p:nvSpPr>
        <p:spPr>
          <a:xfrm>
            <a:off x="1325880" y="38221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at-risk account got the same generic outreach, regardless of why it was actually at risk.</a:t>
            </a:r>
            <a:endParaRPr lang="en-US" sz="1300" dirty="0"/>
          </a:p>
        </p:txBody>
      </p:sp>
      <p:sp>
        <p:nvSpPr>
          <p:cNvPr id="13" name="Shape 11"/>
          <p:cNvSpPr/>
          <p:nvPr/>
        </p:nvSpPr>
        <p:spPr>
          <a:xfrm>
            <a:off x="640080" y="4846320"/>
            <a:ext cx="457200" cy="457200"/>
          </a:xfrm>
          <a:prstGeom prst="ellipse">
            <a:avLst/>
          </a:prstGeom>
          <a:solidFill>
            <a:srgbClr val="2C4870"/>
          </a:solidFill>
          <a:ln/>
        </p:spPr>
      </p:sp>
      <p:sp>
        <p:nvSpPr>
          <p:cNvPr id="14" name="Text 12"/>
          <p:cNvSpPr/>
          <p:nvPr/>
        </p:nvSpPr>
        <p:spPr>
          <a:xfrm>
            <a:off x="640080" y="4846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325880" y="48006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DDA is the low-cost funding base</a:t>
            </a:r>
            <a:endParaRPr lang="en-US" sz="1700" dirty="0"/>
          </a:p>
        </p:txBody>
      </p:sp>
      <p:sp>
        <p:nvSpPr>
          <p:cNvPr id="16" name="Text 14"/>
          <p:cNvSpPr/>
          <p:nvPr/>
        </p:nvSpPr>
        <p:spPr>
          <a:xfrm>
            <a:off x="1325880" y="51937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checking relationship lost isn't just a balance — it's lifetime value and future cross-sell, gone.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TASK — AND WHAT YOU'RE ABOUT TO SEE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things layered together: a real project,</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a rebuild that adds the rigor this role asks for</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2011680"/>
            <a:ext cx="5394960" cy="3977640"/>
          </a:xfrm>
          <a:prstGeom prst="roundRect">
            <a:avLst>
              <a:gd name="adj" fmla="val 1839"/>
            </a:avLst>
          </a:prstGeom>
          <a:solidFill>
            <a:srgbClr val="EEF3FC"/>
          </a:solidFill>
          <a:ln/>
        </p:spPr>
      </p:sp>
      <p:sp>
        <p:nvSpPr>
          <p:cNvPr id="6" name="Text 4"/>
          <p:cNvSpPr/>
          <p:nvPr/>
        </p:nvSpPr>
        <p:spPr>
          <a:xfrm>
            <a:off x="86868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 ACTUALLY BUILT</a:t>
            </a:r>
            <a:endParaRPr lang="en-US" sz="1200" dirty="0"/>
          </a:p>
        </p:txBody>
      </p:sp>
      <p:sp>
        <p:nvSpPr>
          <p:cNvPr id="7" name="Text 5"/>
          <p:cNvSpPr/>
          <p:nvPr/>
        </p:nvSpPr>
        <p:spPr>
          <a:xfrm>
            <a:off x="86868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Multi-class model predicting HOW an at-risk account would churn (large withdrawal / DD stop / dormant)</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Trigger-based interventions, one per churn mode</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Validated with a randomized A/B test: 30% relative churn reduction</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Gap I owned at the time: validation leaned on the A/B test alone — no quasi-experimental analysis, no formal budget optimization, no quantified business case</a:t>
            </a:r>
            <a:endParaRPr lang="en-US" sz="1250" dirty="0"/>
          </a:p>
        </p:txBody>
      </p:sp>
      <p:sp>
        <p:nvSpPr>
          <p:cNvPr id="8" name="Shape 6"/>
          <p:cNvSpPr/>
          <p:nvPr/>
        </p:nvSpPr>
        <p:spPr>
          <a:xfrm>
            <a:off x="6217920" y="2011680"/>
            <a:ext cx="5394960" cy="3977640"/>
          </a:xfrm>
          <a:prstGeom prst="roundRect">
            <a:avLst>
              <a:gd name="adj" fmla="val 1839"/>
            </a:avLst>
          </a:prstGeom>
          <a:solidFill>
            <a:srgbClr val="1E2761"/>
          </a:solidFill>
          <a:ln/>
        </p:spPr>
      </p:sp>
      <p:sp>
        <p:nvSpPr>
          <p:cNvPr id="9" name="Text 7"/>
          <p:cNvSpPr/>
          <p:nvPr/>
        </p:nvSpPr>
        <p:spPr>
          <a:xfrm>
            <a:off x="653796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I'M WALKING THROUGH TODAY</a:t>
            </a:r>
            <a:endParaRPr lang="en-US" sz="1200" dirty="0"/>
          </a:p>
        </p:txBody>
      </p:sp>
      <p:sp>
        <p:nvSpPr>
          <p:cNvPr id="10" name="Text 8"/>
          <p:cNvSpPr/>
          <p:nvPr/>
        </p:nvSpPr>
        <p:spPr>
          <a:xfrm>
            <a:off x="653796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rebuild that closes that gap, on my own time, with synthetic data (real account data obviously can't leave the bank)</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None of the three triggers were randomized — RDD, a value-tier staggered DiD, and DoubleML (for the one trigger with no exploitable design at all) identify each one's causal effect instead</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The old "top 50% by value" cutoff becomes a formal budget- and capacity-constrained optimization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result is translated into a quantified, confidence-tiered business recommendation — and I know the true effect I built into the data, so I can grade whether my own methods recover it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analytical engine: three layers, one decision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640080" y="2148840"/>
            <a:ext cx="3520440" cy="3291840"/>
          </a:xfrm>
          <a:prstGeom prst="roundRect">
            <a:avLst>
              <a:gd name="adj" fmla="val 2222"/>
            </a:avLst>
          </a:prstGeom>
          <a:solidFill>
            <a:srgbClr val="EEF3FC"/>
          </a:solidFill>
          <a:ln/>
        </p:spPr>
      </p:sp>
      <p:sp>
        <p:nvSpPr>
          <p:cNvPr id="6" name="Shape 4"/>
          <p:cNvSpPr/>
          <p:nvPr/>
        </p:nvSpPr>
        <p:spPr>
          <a:xfrm>
            <a:off x="914400" y="2423160"/>
            <a:ext cx="502920" cy="502920"/>
          </a:xfrm>
          <a:prstGeom prst="ellipse">
            <a:avLst/>
          </a:prstGeom>
          <a:solidFill>
            <a:srgbClr val="2C4870"/>
          </a:solidFill>
          <a:ln/>
        </p:spPr>
      </p:sp>
      <p:sp>
        <p:nvSpPr>
          <p:cNvPr id="7" name="Text 5"/>
          <p:cNvSpPr/>
          <p:nvPr/>
        </p:nvSpPr>
        <p:spPr>
          <a:xfrm>
            <a:off x="91440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91440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PREDICT</a:t>
            </a:r>
            <a:endParaRPr lang="en-US" sz="1600" dirty="0"/>
          </a:p>
        </p:txBody>
      </p:sp>
      <p:sp>
        <p:nvSpPr>
          <p:cNvPr id="9" name="Text 7"/>
          <p:cNvSpPr/>
          <p:nvPr/>
        </p:nvSpPr>
        <p:spPr>
          <a:xfrm>
            <a:off x="91440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Multi-class model: which churn mode is this account heading toward?</a:t>
            </a:r>
            <a:endParaRPr lang="en-US" sz="1250" dirty="0"/>
          </a:p>
        </p:txBody>
      </p:sp>
      <p:sp>
        <p:nvSpPr>
          <p:cNvPr id="10" name="Text 8"/>
          <p:cNvSpPr/>
          <p:nvPr/>
        </p:nvSpPr>
        <p:spPr>
          <a:xfrm>
            <a:off x="417880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1" name="Shape 9"/>
          <p:cNvSpPr/>
          <p:nvPr/>
        </p:nvSpPr>
        <p:spPr>
          <a:xfrm>
            <a:off x="4480560" y="2148840"/>
            <a:ext cx="3520440" cy="3291840"/>
          </a:xfrm>
          <a:prstGeom prst="roundRect">
            <a:avLst>
              <a:gd name="adj" fmla="val 2222"/>
            </a:avLst>
          </a:prstGeom>
          <a:solidFill>
            <a:srgbClr val="EEF3FC"/>
          </a:solidFill>
          <a:ln/>
        </p:spPr>
      </p:sp>
      <p:sp>
        <p:nvSpPr>
          <p:cNvPr id="12" name="Shape 10"/>
          <p:cNvSpPr/>
          <p:nvPr/>
        </p:nvSpPr>
        <p:spPr>
          <a:xfrm>
            <a:off x="4754880" y="2423160"/>
            <a:ext cx="502920" cy="502920"/>
          </a:xfrm>
          <a:prstGeom prst="ellipse">
            <a:avLst/>
          </a:prstGeom>
          <a:solidFill>
            <a:srgbClr val="C1613C"/>
          </a:solidFill>
          <a:ln/>
        </p:spPr>
      </p:sp>
      <p:sp>
        <p:nvSpPr>
          <p:cNvPr id="13" name="Text 11"/>
          <p:cNvSpPr/>
          <p:nvPr/>
        </p:nvSpPr>
        <p:spPr>
          <a:xfrm>
            <a:off x="475488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475488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EXPLAIN (CAUSAL)</a:t>
            </a:r>
            <a:endParaRPr lang="en-US" sz="1600" dirty="0"/>
          </a:p>
        </p:txBody>
      </p:sp>
      <p:sp>
        <p:nvSpPr>
          <p:cNvPr id="15" name="Text 13"/>
          <p:cNvSpPr/>
          <p:nvPr/>
        </p:nvSpPr>
        <p:spPr>
          <a:xfrm>
            <a:off x="475488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RDD, value-tier DiD, and DoubleML: what's the true effect of each intervention, isolated from confounds — picking the method that fits each trigger's actual structure?</a:t>
            </a:r>
            <a:endParaRPr lang="en-US" sz="1250" dirty="0"/>
          </a:p>
        </p:txBody>
      </p:sp>
      <p:sp>
        <p:nvSpPr>
          <p:cNvPr id="16" name="Text 14"/>
          <p:cNvSpPr/>
          <p:nvPr/>
        </p:nvSpPr>
        <p:spPr>
          <a:xfrm>
            <a:off x="8019288" y="3383280"/>
            <a:ext cx="283464" cy="548640"/>
          </a:xfrm>
          <a:prstGeom prst="rect">
            <a:avLst/>
          </a:prstGeom>
          <a:noFill/>
          <a:ln/>
        </p:spPr>
        <p:txBody>
          <a:bodyPr wrap="square" lIns="0" tIns="0" rIns="0" bIns="0" rtlCol="0" anchor="ctr"/>
          <a:lstStyle/>
          <a:p>
            <a:pPr algn="ctr" indent="0" marL="0">
              <a:buNone/>
            </a:pPr>
            <a:r>
              <a:rPr lang="en-US" sz="2600" b="1" dirty="0">
                <a:solidFill>
                  <a:srgbClr val="C1613C"/>
                </a:solidFill>
                <a:latin typeface="Calibri" pitchFamily="34" charset="0"/>
                <a:ea typeface="Calibri" pitchFamily="34" charset="-122"/>
                <a:cs typeface="Calibri" pitchFamily="34" charset="-120"/>
              </a:rPr>
              <a:t>→</a:t>
            </a:r>
            <a:endParaRPr lang="en-US" sz="2600" dirty="0"/>
          </a:p>
        </p:txBody>
      </p:sp>
      <p:sp>
        <p:nvSpPr>
          <p:cNvPr id="17" name="Shape 15"/>
          <p:cNvSpPr/>
          <p:nvPr/>
        </p:nvSpPr>
        <p:spPr>
          <a:xfrm>
            <a:off x="8321040" y="2148840"/>
            <a:ext cx="3520440" cy="3291840"/>
          </a:xfrm>
          <a:prstGeom prst="roundRect">
            <a:avLst>
              <a:gd name="adj" fmla="val 2222"/>
            </a:avLst>
          </a:prstGeom>
          <a:solidFill>
            <a:srgbClr val="EEF3FC"/>
          </a:solidFill>
          <a:ln/>
        </p:spPr>
      </p:sp>
      <p:sp>
        <p:nvSpPr>
          <p:cNvPr id="18" name="Shape 16"/>
          <p:cNvSpPr/>
          <p:nvPr/>
        </p:nvSpPr>
        <p:spPr>
          <a:xfrm>
            <a:off x="8595360" y="2423160"/>
            <a:ext cx="502920" cy="502920"/>
          </a:xfrm>
          <a:prstGeom prst="ellipse">
            <a:avLst/>
          </a:prstGeom>
          <a:solidFill>
            <a:srgbClr val="2C4870"/>
          </a:solidFill>
          <a:ln/>
        </p:spPr>
      </p:sp>
      <p:sp>
        <p:nvSpPr>
          <p:cNvPr id="19" name="Text 17"/>
          <p:cNvSpPr/>
          <p:nvPr/>
        </p:nvSpPr>
        <p:spPr>
          <a:xfrm>
            <a:off x="8595360" y="2423160"/>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8595360" y="3108960"/>
            <a:ext cx="29718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OPTIMIZE</a:t>
            </a:r>
            <a:endParaRPr lang="en-US" sz="1600" dirty="0"/>
          </a:p>
        </p:txBody>
      </p:sp>
      <p:sp>
        <p:nvSpPr>
          <p:cNvPr id="21" name="Text 19"/>
          <p:cNvSpPr/>
          <p:nvPr/>
        </p:nvSpPr>
        <p:spPr>
          <a:xfrm>
            <a:off x="8595360" y="3520440"/>
            <a:ext cx="2971800" cy="1737360"/>
          </a:xfrm>
          <a:prstGeom prst="rect">
            <a:avLst/>
          </a:prstGeom>
          <a:noFill/>
          <a:ln/>
        </p:spPr>
        <p:txBody>
          <a:bodyPr wrap="square" lIns="0" tIns="0" rIns="0" bIns="0" rtlCol="0" anchor="ctr"/>
          <a:lstStyle/>
          <a:p>
            <a:pPr indent="0" marL="0">
              <a:lnSpc>
                <a:spcPct val="120000"/>
              </a:lnSpc>
              <a:buNone/>
            </a:pPr>
            <a:r>
              <a:rPr lang="en-US" sz="1250" dirty="0">
                <a:solidFill>
                  <a:srgbClr val="5B6B8C"/>
                </a:solidFill>
                <a:latin typeface="Calibri" pitchFamily="34" charset="0"/>
                <a:ea typeface="Calibri" pitchFamily="34" charset="-122"/>
                <a:cs typeface="Calibri" pitchFamily="34" charset="-120"/>
              </a:rPr>
              <a:t>Budget &amp; capacity-constrained ILP: given effects and costs, who gets what, this month?</a:t>
            </a:r>
            <a:endParaRPr lang="en-US" sz="1250" dirty="0"/>
          </a:p>
        </p:txBody>
      </p:sp>
      <p:sp>
        <p:nvSpPr>
          <p:cNvPr id="22" name="Text 20"/>
          <p:cNvSpPr/>
          <p:nvPr/>
        </p:nvSpPr>
        <p:spPr>
          <a:xfrm>
            <a:off x="640080" y="5623560"/>
            <a:ext cx="10881360" cy="54864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Same structure as the real project (predict → trigger-matched action) — the new layers make the "why," the "how much to spend," and the "so what for the business" rigorous instead of assumed.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1 — PREDICT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Which way is this account most likely to churn?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5" name="Image 0" descr="/root/vanguard_dda_project/figures/feature_importance.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0.65 – 0.72</a:t>
            </a:r>
            <a:endParaRPr lang="en-US" sz="3000" dirty="0"/>
          </a:p>
        </p:txBody>
      </p:sp>
      <p:sp>
        <p:nvSpPr>
          <p:cNvPr id="8" name="Text 5"/>
          <p:cNvSpPr/>
          <p:nvPr/>
        </p:nvSpPr>
        <p:spPr>
          <a:xfrm>
            <a:off x="7013448" y="2569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ROC-AUC per churn mode (one-vs-rest)</a:t>
            </a:r>
            <a:endParaRPr lang="en-US" sz="1100" dirty="0"/>
          </a:p>
        </p:txBody>
      </p:sp>
      <p:sp>
        <p:nvSpPr>
          <p:cNvPr id="9" name="Shape 6"/>
          <p:cNvSpPr/>
          <p:nvPr/>
        </p:nvSpPr>
        <p:spPr>
          <a:xfrm>
            <a:off x="6903720" y="3108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18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2.8x – 3.2x</a:t>
            </a:r>
            <a:endParaRPr lang="en-US" sz="3000" dirty="0"/>
          </a:p>
        </p:txBody>
      </p:sp>
      <p:sp>
        <p:nvSpPr>
          <p:cNvPr id="11" name="Text 8"/>
          <p:cNvSpPr/>
          <p:nvPr/>
        </p:nvSpPr>
        <p:spPr>
          <a:xfrm>
            <a:off x="7013448" y="3712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Lift at top decile vs. base rate</a:t>
            </a:r>
            <a:endParaRPr lang="en-US" sz="1100" dirty="0"/>
          </a:p>
        </p:txBody>
      </p:sp>
      <p:sp>
        <p:nvSpPr>
          <p:cNvPr id="12" name="Text 9"/>
          <p:cNvSpPr/>
          <p:nvPr/>
        </p:nvSpPr>
        <p:spPr>
          <a:xfrm>
            <a:off x="6903720" y="4343400"/>
            <a:ext cx="4709160" cy="192024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Churn is rare (~11% combined across modes) and driven by noisy human behavior — this isn't a 0.95-AUC problem. In production you rank and act on the top slice your capacity allows, not hard-classify at a single threshold, exactly like the 30%-withdrawal cutoff on the next slides.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 EXPLAIN (CAUSAL)</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Three triggers. None of them were randomized.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1965960"/>
            <a:ext cx="10881360" cy="1417320"/>
          </a:xfrm>
          <a:prstGeom prst="roundRect">
            <a:avLst>
              <a:gd name="adj" fmla="val 4516"/>
            </a:avLst>
          </a:prstGeom>
          <a:solidFill>
            <a:srgbClr val="EEF3FC"/>
          </a:solidFill>
          <a:ln/>
        </p:spPr>
      </p:sp>
      <p:sp>
        <p:nvSpPr>
          <p:cNvPr id="6" name="Text 4"/>
          <p:cNvSpPr/>
          <p:nvPr/>
        </p:nvSpPr>
        <p:spPr>
          <a:xfrm>
            <a:off x="822960" y="20939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Large withdrawal &gt; 30% of balance</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RM calls, pitches alternatives</a:t>
            </a:r>
            <a:endParaRPr lang="en-US" sz="1250" dirty="0"/>
          </a:p>
        </p:txBody>
      </p:sp>
      <p:sp>
        <p:nvSpPr>
          <p:cNvPr id="7" name="Text 5"/>
          <p:cNvSpPr/>
          <p:nvPr/>
        </p:nvSpPr>
        <p:spPr>
          <a:xfrm>
            <a:off x="4983480" y="20939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Deterministic rule, not a coin flip</a:t>
            </a:r>
            <a:endParaRPr lang="en-US" sz="1080" dirty="0"/>
          </a:p>
        </p:txBody>
      </p:sp>
      <p:sp>
        <p:nvSpPr>
          <p:cNvPr id="8" name="Text 6"/>
          <p:cNvSpPr/>
          <p:nvPr/>
        </p:nvSpPr>
        <p:spPr>
          <a:xfrm>
            <a:off x="7543800" y="21305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Regression Discontinuity (RDD)</a:t>
            </a:r>
            <a:endParaRPr lang="en-US" sz="1400" dirty="0"/>
          </a:p>
        </p:txBody>
      </p:sp>
      <p:sp>
        <p:nvSpPr>
          <p:cNvPr id="9" name="Text 7"/>
          <p:cNvSpPr/>
          <p:nvPr/>
        </p:nvSpPr>
        <p:spPr>
          <a:xfrm>
            <a:off x="7543800" y="25603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Compare accounts just above vs.</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just below the 30% line</a:t>
            </a:r>
            <a:endParaRPr lang="en-US" sz="1080" dirty="0"/>
          </a:p>
        </p:txBody>
      </p:sp>
      <p:sp>
        <p:nvSpPr>
          <p:cNvPr id="10" name="Shape 8"/>
          <p:cNvSpPr/>
          <p:nvPr/>
        </p:nvSpPr>
        <p:spPr>
          <a:xfrm>
            <a:off x="548640" y="3566160"/>
            <a:ext cx="10881360" cy="1417320"/>
          </a:xfrm>
          <a:prstGeom prst="roundRect">
            <a:avLst>
              <a:gd name="adj" fmla="val 4516"/>
            </a:avLst>
          </a:prstGeom>
          <a:solidFill>
            <a:srgbClr val="EEF3FC"/>
          </a:solidFill>
          <a:ln/>
        </p:spPr>
      </p:sp>
      <p:sp>
        <p:nvSpPr>
          <p:cNvPr id="11" name="Text 9"/>
          <p:cNvSpPr/>
          <p:nvPr/>
        </p:nvSpPr>
        <p:spPr>
          <a:xfrm>
            <a:off x="822960" y="36941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Direct deposit stops</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$100 offer for 2 new DDs $500+</a:t>
            </a:r>
            <a:endParaRPr lang="en-US" sz="1250" dirty="0"/>
          </a:p>
        </p:txBody>
      </p:sp>
      <p:sp>
        <p:nvSpPr>
          <p:cNvPr id="12" name="Text 10"/>
          <p:cNvSpPr/>
          <p:nvPr/>
        </p:nvSpPr>
        <p:spPr>
          <a:xfrm>
            <a:off x="4983480" y="36941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Rolled out by customer-value tier — RM capacity is the real constraint, not geography</a:t>
            </a:r>
            <a:endParaRPr lang="en-US" sz="1080" dirty="0"/>
          </a:p>
        </p:txBody>
      </p:sp>
      <p:sp>
        <p:nvSpPr>
          <p:cNvPr id="13" name="Text 11"/>
          <p:cNvSpPr/>
          <p:nvPr/>
        </p:nvSpPr>
        <p:spPr>
          <a:xfrm>
            <a:off x="7543800" y="37307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Clean-control (stacked) DiD</a:t>
            </a:r>
            <a:endParaRPr lang="en-US" sz="1400" dirty="0"/>
          </a:p>
        </p:txBody>
      </p:sp>
      <p:sp>
        <p:nvSpPr>
          <p:cNvPr id="14" name="Text 12"/>
          <p:cNvSpPr/>
          <p:nvPr/>
        </p:nvSpPr>
        <p:spPr>
          <a:xfrm>
            <a:off x="7543800" y="41605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Compare not-yet-treated value</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tiers to already-treated tiers</a:t>
            </a:r>
            <a:endParaRPr lang="en-US" sz="1080" dirty="0"/>
          </a:p>
        </p:txBody>
      </p:sp>
      <p:sp>
        <p:nvSpPr>
          <p:cNvPr id="15" name="Shape 13"/>
          <p:cNvSpPr/>
          <p:nvPr/>
        </p:nvSpPr>
        <p:spPr>
          <a:xfrm>
            <a:off x="548640" y="5166360"/>
            <a:ext cx="10881360" cy="1417320"/>
          </a:xfrm>
          <a:prstGeom prst="roundRect">
            <a:avLst>
              <a:gd name="adj" fmla="val 4516"/>
            </a:avLst>
          </a:prstGeom>
          <a:solidFill>
            <a:srgbClr val="EEF3FC"/>
          </a:solidFill>
          <a:ln/>
        </p:spPr>
      </p:sp>
      <p:sp>
        <p:nvSpPr>
          <p:cNvPr id="16" name="Text 14"/>
          <p:cNvSpPr/>
          <p:nvPr/>
        </p:nvSpPr>
        <p:spPr>
          <a:xfrm>
            <a:off x="822960" y="5294376"/>
            <a:ext cx="4114800" cy="1161288"/>
          </a:xfrm>
          <a:prstGeom prst="rect">
            <a:avLst/>
          </a:prstGeom>
          <a:noFill/>
          <a:ln/>
        </p:spPr>
        <p:txBody>
          <a:bodyPr wrap="square" lIns="0" tIns="0" rIns="0" bIns="0" rtlCol="0" anchor="ctr"/>
          <a:lstStyle/>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Dormancy signal</a:t>
            </a:r>
            <a:endParaRPr lang="en-US" sz="1250" dirty="0"/>
          </a:p>
          <a:p>
            <a:pPr indent="0" marL="0">
              <a:lnSpc>
                <a:spcPct val="115000"/>
              </a:lnSpc>
              <a:buNone/>
            </a:pPr>
            <a:r>
              <a:rPr lang="en-US" sz="1250" b="1" dirty="0">
                <a:solidFill>
                  <a:srgbClr val="1E2761"/>
                </a:solidFill>
                <a:latin typeface="Calibri" pitchFamily="34" charset="0"/>
                <a:ea typeface="Calibri" pitchFamily="34" charset="-122"/>
                <a:cs typeface="Calibri" pitchFamily="34" charset="-120"/>
              </a:rPr>
              <a:t>→ re-engagement reminder</a:t>
            </a:r>
            <a:endParaRPr lang="en-US" sz="1250" dirty="0"/>
          </a:p>
        </p:txBody>
      </p:sp>
      <p:sp>
        <p:nvSpPr>
          <p:cNvPr id="17" name="Text 15"/>
          <p:cNvSpPr/>
          <p:nvPr/>
        </p:nvSpPr>
        <p:spPr>
          <a:xfrm>
            <a:off x="4983480" y="5294376"/>
            <a:ext cx="2468880" cy="1161288"/>
          </a:xfrm>
          <a:prstGeom prst="rect">
            <a:avLst/>
          </a:prstGeom>
          <a:noFill/>
          <a:ln/>
        </p:spPr>
        <p:txBody>
          <a:bodyPr wrap="square" lIns="0" tIns="0" rIns="0" bIns="0" rtlCol="0" anchor="ctr"/>
          <a:lstStyle/>
          <a:p>
            <a:pPr indent="0" marL="0">
              <a:lnSpc>
                <a:spcPct val="118000"/>
              </a:lnSpc>
              <a:buNone/>
            </a:pPr>
            <a:r>
              <a:rPr lang="en-US" sz="1080" i="1" dirty="0">
                <a:solidFill>
                  <a:srgbClr val="5B6B8C"/>
                </a:solidFill>
                <a:latin typeface="Calibri" pitchFamily="34" charset="0"/>
                <a:ea typeface="Calibri" pitchFamily="34" charset="-122"/>
                <a:cs typeface="Calibri" pitchFamily="34" charset="-120"/>
              </a:rPr>
              <a:t>No design at all to exploit — account gets flagged and treated together, no threshold or rollout</a:t>
            </a:r>
            <a:endParaRPr lang="en-US" sz="1080" dirty="0"/>
          </a:p>
        </p:txBody>
      </p:sp>
      <p:sp>
        <p:nvSpPr>
          <p:cNvPr id="18" name="Text 16"/>
          <p:cNvSpPr/>
          <p:nvPr/>
        </p:nvSpPr>
        <p:spPr>
          <a:xfrm>
            <a:off x="7543800" y="5330952"/>
            <a:ext cx="3703320" cy="457200"/>
          </a:xfrm>
          <a:prstGeom prst="rect">
            <a:avLst/>
          </a:prstGeom>
          <a:noFill/>
          <a:ln/>
        </p:spPr>
        <p:txBody>
          <a:bodyPr wrap="square" lIns="0" tIns="0" rIns="0" bIns="0" rtlCol="0" anchor="ctr"/>
          <a:lstStyle/>
          <a:p>
            <a:pPr indent="0" marL="0">
              <a:buNone/>
            </a:pPr>
            <a:r>
              <a:rPr lang="en-US" sz="1400" b="1" dirty="0">
                <a:solidFill>
                  <a:srgbClr val="C1613C"/>
                </a:solidFill>
                <a:latin typeface="Cambria" pitchFamily="34" charset="0"/>
                <a:ea typeface="Cambria" pitchFamily="34" charset="-122"/>
                <a:cs typeface="Cambria" pitchFamily="34" charset="-120"/>
              </a:rPr>
              <a:t>DoubleML (selection-on-observables)</a:t>
            </a:r>
            <a:endParaRPr lang="en-US" sz="1400" dirty="0"/>
          </a:p>
        </p:txBody>
      </p:sp>
      <p:sp>
        <p:nvSpPr>
          <p:cNvPr id="19" name="Text 17"/>
          <p:cNvSpPr/>
          <p:nvPr/>
        </p:nvSpPr>
        <p:spPr>
          <a:xfrm>
            <a:off x="7543800" y="5760720"/>
            <a:ext cx="3703320" cy="777240"/>
          </a:xfrm>
          <a:prstGeom prst="rect">
            <a:avLst/>
          </a:prstGeom>
          <a:noFill/>
          <a:ln/>
        </p:spPr>
        <p:txBody>
          <a:bodyPr wrap="square" lIns="0" tIns="0" rIns="0" bIns="0" rtlCol="0" anchor="ctr"/>
          <a:lstStyle/>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ML-adjusted comparison,</a:t>
            </a:r>
            <a:endParaRPr lang="en-US" sz="1080" dirty="0"/>
          </a:p>
          <a:p>
            <a:pPr indent="0" marL="0">
              <a:lnSpc>
                <a:spcPct val="118000"/>
              </a:lnSpc>
              <a:buNone/>
            </a:pPr>
            <a:r>
              <a:rPr lang="en-US" sz="1080" dirty="0">
                <a:solidFill>
                  <a:srgbClr val="5B6B8C"/>
                </a:solidFill>
                <a:latin typeface="Calibri" pitchFamily="34" charset="0"/>
                <a:ea typeface="Calibri" pitchFamily="34" charset="-122"/>
                <a:cs typeface="Calibri" pitchFamily="34" charset="-120"/>
              </a:rPr>
              <a:t>conditioning on everything observed</a:t>
            </a:r>
            <a:endParaRPr lang="en-US" sz="10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identifying assumption: no one can “game” the 30% line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5" name="Image 0" descr="/root/vanguard_dda_project/figures/rdd_density_check.png">    </p:cNvPr>
          <p:cNvPicPr>
            <a:picLocks noChangeAspect="1"/>
          </p:cNvPicPr>
          <p:nvPr/>
        </p:nvPicPr>
        <p:blipFill>
          <a:blip r:embed="rId1"/>
          <a:stretch>
            <a:fillRect/>
          </a:stretch>
        </p:blipFill>
        <p:spPr>
          <a:xfrm>
            <a:off x="548640" y="1965960"/>
            <a:ext cx="6400800" cy="4297680"/>
          </a:xfrm>
          <a:prstGeom prst="rect">
            <a:avLst/>
          </a:prstGeom>
        </p:spPr>
      </p:pic>
      <p:sp>
        <p:nvSpPr>
          <p:cNvPr id="6" name="Text 3"/>
          <p:cNvSpPr/>
          <p:nvPr/>
        </p:nvSpPr>
        <p:spPr>
          <a:xfrm>
            <a:off x="7223760" y="2103120"/>
            <a:ext cx="43891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McCrary-style density test</a:t>
            </a:r>
            <a:endParaRPr lang="en-US" sz="1500" dirty="0"/>
          </a:p>
        </p:txBody>
      </p:sp>
      <p:sp>
        <p:nvSpPr>
          <p:cNvPr id="7" name="Text 4"/>
          <p:cNvSpPr/>
          <p:nvPr/>
        </p:nvSpPr>
        <p:spPr>
          <a:xfrm>
            <a:off x="7223760" y="2514600"/>
            <a:ext cx="4389120" cy="118872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If customers could nudge a withdrawal just above/below 30% to trigger or dodge an RM call, the density of the running variable would jump at the cutoff — and RDD would be invalid.</a:t>
            </a:r>
            <a:endParaRPr lang="en-US" sz="1200" dirty="0"/>
          </a:p>
        </p:txBody>
      </p:sp>
      <p:sp>
        <p:nvSpPr>
          <p:cNvPr id="8" name="Shape 5"/>
          <p:cNvSpPr/>
          <p:nvPr/>
        </p:nvSpPr>
        <p:spPr>
          <a:xfrm>
            <a:off x="7223760" y="3840480"/>
            <a:ext cx="43891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333488" y="3950208"/>
            <a:ext cx="41696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0.151</a:t>
            </a:r>
            <a:endParaRPr lang="en-US" sz="2400" dirty="0"/>
          </a:p>
        </p:txBody>
      </p:sp>
      <p:sp>
        <p:nvSpPr>
          <p:cNvPr id="10" name="Text 7"/>
          <p:cNvSpPr/>
          <p:nvPr/>
        </p:nvSpPr>
        <p:spPr>
          <a:xfrm>
            <a:off x="7333488" y="4389120"/>
            <a:ext cx="41696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Local log-density jump at cutoff (bootstrap test)</a:t>
            </a:r>
            <a:endParaRPr lang="en-US" sz="1100" dirty="0"/>
          </a:p>
        </p:txBody>
      </p:sp>
      <p:sp>
        <p:nvSpPr>
          <p:cNvPr id="11" name="Text 8"/>
          <p:cNvSpPr/>
          <p:nvPr/>
        </p:nvSpPr>
        <p:spPr>
          <a:xfrm>
            <a:off x="7223760" y="4892040"/>
            <a:ext cx="4389120" cy="118872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No evidence of manipulation — withdrawal size is a real economic behavior, not something dialed in to dodge a phone call.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RM outreach cuts next-month churn by ~11 points at the margin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pic>
        <p:nvPicPr>
          <p:cNvPr id="5" name="Image 0" descr="/root/vanguard_dda_project/figures/rdd_effect_plot.png">    </p:cNvPr>
          <p:cNvPicPr>
            <a:picLocks noChangeAspect="1"/>
          </p:cNvPicPr>
          <p:nvPr/>
        </p:nvPicPr>
        <p:blipFill>
          <a:blip r:embed="rId1"/>
          <a:stretch>
            <a:fillRect/>
          </a:stretch>
        </p:blipFill>
        <p:spPr>
          <a:xfrm>
            <a:off x="548640" y="1965960"/>
            <a:ext cx="6858000" cy="4343400"/>
          </a:xfrm>
          <a:prstGeom prst="rect">
            <a:avLst/>
          </a:prstGeom>
        </p:spPr>
      </p:pic>
      <p:sp>
        <p:nvSpPr>
          <p:cNvPr id="6" name="Shape 3"/>
          <p:cNvSpPr/>
          <p:nvPr/>
        </p:nvSpPr>
        <p:spPr>
          <a:xfrm>
            <a:off x="7635240" y="196596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744968" y="2075688"/>
            <a:ext cx="3758184" cy="528066"/>
          </a:xfrm>
          <a:prstGeom prst="rect">
            <a:avLst/>
          </a:prstGeom>
          <a:noFill/>
          <a:ln/>
        </p:spPr>
        <p:txBody>
          <a:bodyPr wrap="square" lIns="0" tIns="0" rIns="0" bIns="0" rtlCol="0" anchor="b"/>
          <a:lstStyle/>
          <a:p>
            <a:pPr algn="l" indent="0" marL="0">
              <a:buNone/>
            </a:pPr>
            <a:r>
              <a:rPr lang="en-US" sz="2400" b="1" dirty="0">
                <a:solidFill>
                  <a:srgbClr val="5B6B8C"/>
                </a:solidFill>
                <a:latin typeface="Cambria" pitchFamily="34" charset="0"/>
                <a:ea typeface="Cambria" pitchFamily="34" charset="-122"/>
                <a:cs typeface="Cambria" pitchFamily="34" charset="-120"/>
              </a:rPr>
              <a:t>-1.5 pp</a:t>
            </a:r>
            <a:endParaRPr lang="en-US" sz="2400" dirty="0"/>
          </a:p>
        </p:txBody>
      </p:sp>
      <p:sp>
        <p:nvSpPr>
          <p:cNvPr id="8" name="Text 5"/>
          <p:cNvSpPr/>
          <p:nvPr/>
        </p:nvSpPr>
        <p:spPr>
          <a:xfrm>
            <a:off x="7744968" y="254203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treated-vs-control (biased by confound)</a:t>
            </a:r>
            <a:endParaRPr lang="en-US" sz="1100" dirty="0"/>
          </a:p>
        </p:txBody>
      </p:sp>
      <p:sp>
        <p:nvSpPr>
          <p:cNvPr id="9" name="Shape 6"/>
          <p:cNvSpPr/>
          <p:nvPr/>
        </p:nvSpPr>
        <p:spPr>
          <a:xfrm>
            <a:off x="7635240" y="306324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744968" y="3172968"/>
            <a:ext cx="375818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-10.7 pp</a:t>
            </a:r>
            <a:endParaRPr lang="en-US" sz="2600" dirty="0"/>
          </a:p>
        </p:txBody>
      </p:sp>
      <p:sp>
        <p:nvSpPr>
          <p:cNvPr id="11" name="Text 8"/>
          <p:cNvSpPr/>
          <p:nvPr/>
        </p:nvSpPr>
        <p:spPr>
          <a:xfrm>
            <a:off x="7744968" y="363931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RDD robust estimate  ·  95% CI [-14.8, -6.6]  ·  p&lt;0.001</a:t>
            </a:r>
            <a:endParaRPr lang="en-US" sz="1100" dirty="0"/>
          </a:p>
        </p:txBody>
      </p:sp>
      <p:sp>
        <p:nvSpPr>
          <p:cNvPr id="12" name="Text 9"/>
          <p:cNvSpPr/>
          <p:nvPr/>
        </p:nvSpPr>
        <p:spPr>
          <a:xfrm>
            <a:off x="7635240" y="4206240"/>
            <a:ext cx="3977640" cy="18288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Bandwidth sensitivity: stable between -9.4pp and -10.7pp across h = 4 to 20 months. Graded against the effect I built into the simulation: RDD lands within 1.3pp of the true value — the naive comparison doesn't.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offer rolled out by customer-value tier — a staggered natural experiment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5" name="Image 0" descr="/root/vanguard_dda_project/figures/did_pretrends_check.png">    </p:cNvPr>
          <p:cNvPicPr>
            <a:picLocks noChangeAspect="1"/>
          </p:cNvPicPr>
          <p:nvPr/>
        </p:nvPicPr>
        <p:blipFill>
          <a:blip r:embed="rId1"/>
          <a:stretch>
            <a:fillRect/>
          </a:stretch>
        </p:blipFill>
        <p:spPr>
          <a:xfrm>
            <a:off x="548640" y="1965960"/>
            <a:ext cx="6766560" cy="4206240"/>
          </a:xfrm>
          <a:prstGeom prst="rect">
            <a:avLst/>
          </a:prstGeom>
        </p:spPr>
      </p:pic>
      <p:sp>
        <p:nvSpPr>
          <p:cNvPr id="6" name="Text 3"/>
          <p:cNvSpPr/>
          <p:nvPr/>
        </p:nvSpPr>
        <p:spPr>
          <a:xfrm>
            <a:off x="7452360" y="2103120"/>
            <a:ext cx="41605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Parallel pre-trends check</a:t>
            </a:r>
            <a:endParaRPr lang="en-US" sz="1500" dirty="0"/>
          </a:p>
        </p:txBody>
      </p:sp>
      <p:sp>
        <p:nvSpPr>
          <p:cNvPr id="7" name="Text 4"/>
          <p:cNvSpPr/>
          <p:nvPr/>
        </p:nvSpPr>
        <p:spPr>
          <a:xfrm>
            <a:off x="7452360" y="2514600"/>
            <a:ext cx="4160520" cy="14630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RM capacity is limited, so the offer rolled out to the top-value tier first, then the next, then the next — tier 4 (bottom 25% by value) hadn't gone live by the end of the observation window. DiD's core assumption: before any tier goes live, they should trend together.</a:t>
            </a:r>
            <a:endParaRPr lang="en-US" sz="1150" dirty="0"/>
          </a:p>
        </p:txBody>
      </p:sp>
      <p:sp>
        <p:nvSpPr>
          <p:cNvPr id="8" name="Shape 5"/>
          <p:cNvSpPr/>
          <p:nvPr/>
        </p:nvSpPr>
        <p:spPr>
          <a:xfrm>
            <a:off x="7452360" y="4160520"/>
            <a:ext cx="41605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562088" y="4270248"/>
            <a:ext cx="39410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0.951</a:t>
            </a:r>
            <a:endParaRPr lang="en-US" sz="2400" dirty="0"/>
          </a:p>
        </p:txBody>
      </p:sp>
      <p:sp>
        <p:nvSpPr>
          <p:cNvPr id="10" name="Text 7"/>
          <p:cNvSpPr/>
          <p:nvPr/>
        </p:nvSpPr>
        <p:spPr>
          <a:xfrm>
            <a:off x="7562088" y="4709160"/>
            <a:ext cx="39410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F-test on tier × month interaction, common pre-period</a:t>
            </a:r>
            <a:endParaRPr lang="en-US" sz="1100" dirty="0"/>
          </a:p>
        </p:txBody>
      </p:sp>
      <p:sp>
        <p:nvSpPr>
          <p:cNvPr id="11" name="Text 8"/>
          <p:cNvSpPr/>
          <p:nvPr/>
        </p:nvSpPr>
        <p:spPr>
          <a:xfrm>
            <a:off x="7452360" y="5166360"/>
            <a:ext cx="4160520" cy="1005840"/>
          </a:xfrm>
          <a:prstGeom prst="rect">
            <a:avLst/>
          </a:prstGeom>
          <a:noFill/>
          <a:ln/>
        </p:spPr>
        <p:txBody>
          <a:bodyPr wrap="square" lIns="0" tIns="0" rIns="0" bIns="0" rtlCol="0" anchor="ctr"/>
          <a:lstStyle/>
          <a:p>
            <a:pPr indent="0" marL="0">
              <a:lnSpc>
                <a:spcPct val="120000"/>
              </a:lnSpc>
              <a:buNone/>
            </a:pPr>
            <a:r>
              <a:rPr lang="en-US" sz="1100" i="1" dirty="0">
                <a:solidFill>
                  <a:srgbClr val="5B6B8C"/>
                </a:solidFill>
                <a:latin typeface="Calibri" pitchFamily="34" charset="0"/>
                <a:ea typeface="Calibri" pitchFamily="34" charset="-122"/>
                <a:cs typeface="Calibri" pitchFamily="34" charset="-120"/>
              </a:rPr>
              <a:t>No evidence of differential pre-trends. (Restricted to the common window before ANY tier adopts — mixing in tiers with unequal pre-period length would bias this test.)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naive estimator and a clean-control one — and why I check both</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5" name="Image 0" descr="/root/vanguard_dda_project/figures/did_event_study.png">    </p:cNvPr>
          <p:cNvPicPr>
            <a:picLocks noChangeAspect="1"/>
          </p:cNvPicPr>
          <p:nvPr/>
        </p:nvPicPr>
        <p:blipFill>
          <a:blip r:embed="rId1"/>
          <a:stretch>
            <a:fillRect/>
          </a:stretch>
        </p:blipFill>
        <p:spPr>
          <a:xfrm>
            <a:off x="548640" y="1965960"/>
            <a:ext cx="6766560" cy="4160520"/>
          </a:xfrm>
          <a:prstGeom prst="rect">
            <a:avLst/>
          </a:prstGeom>
        </p:spPr>
      </p:pic>
      <p:sp>
        <p:nvSpPr>
          <p:cNvPr id="6" name="Shape 3"/>
          <p:cNvSpPr/>
          <p:nvPr/>
        </p:nvSpPr>
        <p:spPr>
          <a:xfrm>
            <a:off x="7452360" y="196596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562088" y="2075688"/>
            <a:ext cx="3941064" cy="477774"/>
          </a:xfrm>
          <a:prstGeom prst="rect">
            <a:avLst/>
          </a:prstGeom>
          <a:noFill/>
          <a:ln/>
        </p:spPr>
        <p:txBody>
          <a:bodyPr wrap="square" lIns="0" tIns="0" rIns="0" bIns="0" rtlCol="0" anchor="b"/>
          <a:lstStyle/>
          <a:p>
            <a:pPr algn="l" indent="0" marL="0">
              <a:buNone/>
            </a:pPr>
            <a:r>
              <a:rPr lang="en-US" sz="2200" b="1" dirty="0">
                <a:solidFill>
                  <a:srgbClr val="5B6B8C"/>
                </a:solidFill>
                <a:latin typeface="Cambria" pitchFamily="34" charset="0"/>
                <a:ea typeface="Cambria" pitchFamily="34" charset="-122"/>
                <a:cs typeface="Cambria" pitchFamily="34" charset="-120"/>
              </a:rPr>
              <a:t>-3.5 pp</a:t>
            </a:r>
            <a:endParaRPr lang="en-US" sz="2200" dirty="0"/>
          </a:p>
        </p:txBody>
      </p:sp>
      <p:sp>
        <p:nvSpPr>
          <p:cNvPr id="8" name="Text 5"/>
          <p:cNvSpPr/>
          <p:nvPr/>
        </p:nvSpPr>
        <p:spPr>
          <a:xfrm>
            <a:off x="7562088" y="248716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static TWFE (tier + month FE)</a:t>
            </a:r>
            <a:endParaRPr lang="en-US" sz="1100" dirty="0"/>
          </a:p>
        </p:txBody>
      </p:sp>
      <p:sp>
        <p:nvSpPr>
          <p:cNvPr id="9" name="Shape 6"/>
          <p:cNvSpPr/>
          <p:nvPr/>
        </p:nvSpPr>
        <p:spPr>
          <a:xfrm>
            <a:off x="7452360" y="297180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562088" y="308152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-3.7 pp</a:t>
            </a:r>
            <a:endParaRPr lang="en-US" sz="2400" dirty="0"/>
          </a:p>
        </p:txBody>
      </p:sp>
      <p:sp>
        <p:nvSpPr>
          <p:cNvPr id="11" name="Text 8"/>
          <p:cNvSpPr/>
          <p:nvPr/>
        </p:nvSpPr>
        <p:spPr>
          <a:xfrm>
            <a:off x="7562088" y="349300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Clean-control (stacked) DiD</a:t>
            </a:r>
            <a:endParaRPr lang="en-US" sz="1100" dirty="0"/>
          </a:p>
        </p:txBody>
      </p:sp>
      <p:sp>
        <p:nvSpPr>
          <p:cNvPr id="12" name="Text 9"/>
          <p:cNvSpPr/>
          <p:nvPr/>
        </p:nvSpPr>
        <p:spPr>
          <a:xfrm>
            <a:off x="7452360" y="3977640"/>
            <a:ext cx="4160520" cy="23774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Effect ramps in over ~3 months as RM awareness and take-up build. Naive TWFE pools all tiers and periods into one regression, so already-treated tiers implicitly contaminate the comparison trend for later tiers (Goodman-Bacon 2021 negative-weighting bias). The clean-control estimator instead compares each newly-treated tier only to tiers that are NOT YET treated at that point (in the spirit of Cengiz et al. 2019's stacked-regression approach) and lands closer to the true simulated effect (-4.7pp).</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(CONT.) — DORMANT PLAY: NO DESIGN TO EXPLOIT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No cutoff, no rollout — adjust for confounders directly with ML</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pic>
        <p:nvPicPr>
          <p:cNvPr id="5" name="Image 0" descr="/root/vanguard_dda_project/figures/doubleml_dormant.png">    </p:cNvPr>
          <p:cNvPicPr>
            <a:picLocks noChangeAspect="1"/>
          </p:cNvPicPr>
          <p:nvPr/>
        </p:nvPicPr>
        <p:blipFill>
          <a:blip r:embed="rId1"/>
          <a:stretch>
            <a:fillRect/>
          </a:stretch>
        </p:blipFill>
        <p:spPr>
          <a:xfrm>
            <a:off x="548640" y="1965960"/>
            <a:ext cx="6035040" cy="4343400"/>
          </a:xfrm>
          <a:prstGeom prst="rect">
            <a:avLst/>
          </a:prstGeom>
        </p:spPr>
      </p:pic>
      <p:sp>
        <p:nvSpPr>
          <p:cNvPr id="6" name="Text 3"/>
          <p:cNvSpPr/>
          <p:nvPr/>
        </p:nvSpPr>
        <p:spPr>
          <a:xfrm>
            <a:off x="6858000" y="1965960"/>
            <a:ext cx="475488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Why this one's different</a:t>
            </a:r>
            <a:endParaRPr lang="en-US" sz="1450" dirty="0"/>
          </a:p>
        </p:txBody>
      </p:sp>
      <p:sp>
        <p:nvSpPr>
          <p:cNvPr id="7" name="Text 4"/>
          <p:cNvSpPr/>
          <p:nvPr/>
        </p:nvSpPr>
        <p:spPr>
          <a:xfrm>
            <a:off x="6858000" y="2331720"/>
            <a:ext cx="4754880" cy="169164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Accounts get flagged (dormancy streak, or a low-engagement + short dormancy combination) and treated together — no threshold like RDD, no phased rollout like DiD. The flagging rule itself is the confound: the accounts most likely to be flagged are also the ones most likely to churn anyway ("confounding by indication"). That's WHY the naive and even logistic-adjusted comparisons below get the wrong sign.</a:t>
            </a:r>
            <a:endParaRPr lang="en-US" sz="1150" dirty="0"/>
          </a:p>
        </p:txBody>
      </p:sp>
      <p:sp>
        <p:nvSpPr>
          <p:cNvPr id="8" name="Shape 5"/>
          <p:cNvSpPr/>
          <p:nvPr/>
        </p:nvSpPr>
        <p:spPr>
          <a:xfrm>
            <a:off x="6858000" y="4069080"/>
            <a:ext cx="228600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6967728" y="4178808"/>
            <a:ext cx="2066544" cy="477774"/>
          </a:xfrm>
          <a:prstGeom prst="rect">
            <a:avLst/>
          </a:prstGeom>
          <a:noFill/>
          <a:ln/>
        </p:spPr>
        <p:txBody>
          <a:bodyPr wrap="square" lIns="0" tIns="0" rIns="0" bIns="0" rtlCol="0" anchor="b"/>
          <a:lstStyle/>
          <a:p>
            <a:pPr algn="l" indent="0" marL="0">
              <a:buNone/>
            </a:pPr>
            <a:r>
              <a:rPr lang="en-US" sz="1800" b="1" dirty="0">
                <a:solidFill>
                  <a:srgbClr val="5B6B8C"/>
                </a:solidFill>
                <a:latin typeface="Cambria" pitchFamily="34" charset="0"/>
                <a:ea typeface="Cambria" pitchFamily="34" charset="-122"/>
                <a:cs typeface="Cambria" pitchFamily="34" charset="-120"/>
              </a:rPr>
              <a:t>+11.2pp</a:t>
            </a:r>
            <a:endParaRPr lang="en-US" sz="1800" dirty="0"/>
          </a:p>
        </p:txBody>
      </p:sp>
      <p:sp>
        <p:nvSpPr>
          <p:cNvPr id="10" name="Text 7"/>
          <p:cNvSpPr/>
          <p:nvPr/>
        </p:nvSpPr>
        <p:spPr>
          <a:xfrm>
            <a:off x="6967728" y="4590288"/>
            <a:ext cx="206654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diff — wrong sign</a:t>
            </a:r>
            <a:endParaRPr lang="en-US" sz="1100" dirty="0"/>
          </a:p>
        </p:txBody>
      </p:sp>
      <p:sp>
        <p:nvSpPr>
          <p:cNvPr id="11" name="Shape 8"/>
          <p:cNvSpPr/>
          <p:nvPr/>
        </p:nvSpPr>
        <p:spPr>
          <a:xfrm>
            <a:off x="9326880" y="4069080"/>
            <a:ext cx="228600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2" name="Text 9"/>
          <p:cNvSpPr/>
          <p:nvPr/>
        </p:nvSpPr>
        <p:spPr>
          <a:xfrm>
            <a:off x="9436608" y="4178808"/>
            <a:ext cx="2066544" cy="477774"/>
          </a:xfrm>
          <a:prstGeom prst="rect">
            <a:avLst/>
          </a:prstGeom>
          <a:noFill/>
          <a:ln/>
        </p:spPr>
        <p:txBody>
          <a:bodyPr wrap="square" lIns="0" tIns="0" rIns="0" bIns="0" rtlCol="0" anchor="b"/>
          <a:lstStyle/>
          <a:p>
            <a:pPr algn="l" indent="0" marL="0">
              <a:buNone/>
            </a:pPr>
            <a:r>
              <a:rPr lang="en-US" sz="1800" b="1" dirty="0">
                <a:solidFill>
                  <a:srgbClr val="5B6B8C"/>
                </a:solidFill>
                <a:latin typeface="Cambria" pitchFamily="34" charset="0"/>
                <a:ea typeface="Cambria" pitchFamily="34" charset="-122"/>
                <a:cs typeface="Cambria" pitchFamily="34" charset="-120"/>
              </a:rPr>
              <a:t>+0.8pp</a:t>
            </a:r>
            <a:endParaRPr lang="en-US" sz="1800" dirty="0"/>
          </a:p>
        </p:txBody>
      </p:sp>
      <p:sp>
        <p:nvSpPr>
          <p:cNvPr id="13" name="Text 10"/>
          <p:cNvSpPr/>
          <p:nvPr/>
        </p:nvSpPr>
        <p:spPr>
          <a:xfrm>
            <a:off x="9436608" y="4590288"/>
            <a:ext cx="206654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Logistic AME — wrong sign</a:t>
            </a:r>
            <a:endParaRPr lang="en-US" sz="1100" dirty="0"/>
          </a:p>
        </p:txBody>
      </p:sp>
      <p:sp>
        <p:nvSpPr>
          <p:cNvPr id="14" name="Shape 11"/>
          <p:cNvSpPr/>
          <p:nvPr/>
        </p:nvSpPr>
        <p:spPr>
          <a:xfrm>
            <a:off x="6858000" y="5029200"/>
            <a:ext cx="475488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5" name="Text 12"/>
          <p:cNvSpPr/>
          <p:nvPr/>
        </p:nvSpPr>
        <p:spPr>
          <a:xfrm>
            <a:off x="6967728" y="5138928"/>
            <a:ext cx="4535424" cy="55321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-6.5 pp</a:t>
            </a:r>
            <a:endParaRPr lang="en-US" sz="2400" dirty="0"/>
          </a:p>
        </p:txBody>
      </p:sp>
      <p:sp>
        <p:nvSpPr>
          <p:cNvPr id="16" name="Text 13"/>
          <p:cNvSpPr/>
          <p:nvPr/>
        </p:nvSpPr>
        <p:spPr>
          <a:xfrm>
            <a:off x="6967728" y="5632704"/>
            <a:ext cx="453542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DoubleML (IRM, XGBoost nuisance, ATT) — correct sign  ·  95% CI [-8.6, -4.5]  ·  true value -9.8pp</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3 — OPTIMIZE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From “top 50% by value” to a formal budget allocation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48640" y="2011680"/>
            <a:ext cx="5212080" cy="3977640"/>
          </a:xfrm>
          <a:prstGeom prst="roundRect">
            <a:avLst>
              <a:gd name="adj" fmla="val 1839"/>
            </a:avLst>
          </a:prstGeom>
          <a:solidFill>
            <a:srgbClr val="EEF3FC"/>
          </a:solidFill>
          <a:ln/>
        </p:spPr>
      </p:sp>
      <p:sp>
        <p:nvSpPr>
          <p:cNvPr id="6" name="Text 4"/>
          <p:cNvSpPr/>
          <p:nvPr/>
        </p:nvSpPr>
        <p:spPr>
          <a:xfrm>
            <a:off x="868680" y="224028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OBJECTIVE</a:t>
            </a:r>
            <a:endParaRPr lang="en-US" sz="1200" dirty="0"/>
          </a:p>
        </p:txBody>
      </p:sp>
      <p:sp>
        <p:nvSpPr>
          <p:cNvPr id="7" name="Text 5"/>
          <p:cNvSpPr/>
          <p:nvPr/>
        </p:nvSpPr>
        <p:spPr>
          <a:xfrm>
            <a:off x="868680" y="2606040"/>
            <a:ext cx="4617720" cy="1234440"/>
          </a:xfrm>
          <a:prstGeom prst="rect">
            <a:avLst/>
          </a:prstGeom>
          <a:noFill/>
          <a:ln/>
        </p:spPr>
        <p:txBody>
          <a:bodyPr wrap="square" lIns="0" tIns="0" rIns="0" bIns="0" rtlCol="0" anchor="ctr"/>
          <a:lstStyle/>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Maximize total net expected value protected:</a:t>
            </a:r>
            <a:endParaRPr lang="en-US" sz="1300" dirty="0"/>
          </a:p>
          <a:p>
            <a:pPr indent="0" marL="0">
              <a:lnSpc>
                <a:spcPct val="125000"/>
              </a:lnSpc>
              <a:buNone/>
            </a:pPr>
            <a:r>
              <a:rPr lang="en-US" sz="1300" dirty="0">
                <a:solidFill>
                  <a:srgbClr val="1E2761"/>
                </a:solidFill>
                <a:latin typeface="Calibri" pitchFamily="34" charset="0"/>
                <a:ea typeface="Calibri" pitchFamily="34" charset="-122"/>
                <a:cs typeface="Calibri" pitchFamily="34" charset="-120"/>
              </a:rPr>
              <a:t>P(churn mode) × causal effect (pp) × dollars at risk − intervention cost, summed across every account-intervention pair selected.</a:t>
            </a:r>
            <a:endParaRPr lang="en-US" sz="1300" dirty="0"/>
          </a:p>
        </p:txBody>
      </p:sp>
      <p:sp>
        <p:nvSpPr>
          <p:cNvPr id="8" name="Text 6"/>
          <p:cNvSpPr/>
          <p:nvPr/>
        </p:nvSpPr>
        <p:spPr>
          <a:xfrm>
            <a:off x="868680" y="3794760"/>
            <a:ext cx="4617720" cy="777240"/>
          </a:xfrm>
          <a:prstGeom prst="rect">
            <a:avLst/>
          </a:prstGeom>
          <a:noFill/>
          <a:ln/>
        </p:spPr>
        <p:txBody>
          <a:bodyPr wrap="square" lIns="0" tIns="0" rIns="0" bIns="0" rtlCol="0" anchor="ctr"/>
          <a:lstStyle/>
          <a:p>
            <a:pPr indent="0" marL="0">
              <a:lnSpc>
                <a:spcPct val="120000"/>
              </a:lnSpc>
              <a:buNone/>
            </a:pPr>
            <a:r>
              <a:rPr lang="en-US" sz="1050" i="1" dirty="0">
                <a:solidFill>
                  <a:srgbClr val="5B6B8C"/>
                </a:solidFill>
                <a:latin typeface="Calibri" pitchFamily="34" charset="0"/>
                <a:ea typeface="Calibri" pitchFamily="34" charset="-122"/>
                <a:cs typeface="Calibri" pitchFamily="34" charset="-120"/>
              </a:rPr>
              <a:t>"Dollars at risk" = account_value = balance × (1 + 15% × product_count) — a dollar-denominated, sensitivity-tested proxy for relationship value (see Business Impact), not an arbitrary weighted score.</a:t>
            </a:r>
            <a:endParaRPr lang="en-US" sz="1050" dirty="0"/>
          </a:p>
        </p:txBody>
      </p:sp>
      <p:sp>
        <p:nvSpPr>
          <p:cNvPr id="9" name="Text 7"/>
          <p:cNvSpPr/>
          <p:nvPr/>
        </p:nvSpPr>
        <p:spPr>
          <a:xfrm>
            <a:off x="868680" y="457200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CONSTRAINTS</a:t>
            </a:r>
            <a:endParaRPr lang="en-US" sz="1200" dirty="0"/>
          </a:p>
        </p:txBody>
      </p:sp>
      <p:sp>
        <p:nvSpPr>
          <p:cNvPr id="10" name="Text 8"/>
          <p:cNvSpPr/>
          <p:nvPr/>
        </p:nvSpPr>
        <p:spPr>
          <a:xfrm>
            <a:off x="868680" y="4937760"/>
            <a:ext cx="4617720" cy="1005840"/>
          </a:xfrm>
          <a:prstGeom prst="rect">
            <a:avLst/>
          </a:prstGeom>
          <a:noFill/>
          <a:ln/>
        </p:spPr>
        <p:txBody>
          <a:bodyPr wrap="square" lIns="0" tIns="0" rIns="0" bIns="0" rtlCol="0" anchor="ctr"/>
          <a:lstStyle/>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Total spend ≤ monthly retention budget</a:t>
            </a:r>
            <a:endParaRPr lang="en-US" sz="1200" dirty="0"/>
          </a:p>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RM contacts ≤ RM capacity (the real scarce resource)</a:t>
            </a:r>
            <a:endParaRPr lang="en-US" sz="1200" dirty="0"/>
          </a:p>
          <a:p>
            <a:pPr marL="342900" indent="-342900">
              <a:lnSpc>
                <a:spcPct val="115000"/>
              </a:lnSpc>
              <a:spcAft>
                <a:spcPts val="300"/>
              </a:spcAft>
              <a:buSzPct val="100000"/>
              <a:buChar char="•"/>
            </a:pPr>
            <a:r>
              <a:rPr lang="en-US" sz="1200" dirty="0">
                <a:solidFill>
                  <a:srgbClr val="1E2761"/>
                </a:solidFill>
                <a:latin typeface="Calibri" pitchFamily="34" charset="0"/>
                <a:ea typeface="Calibri" pitchFamily="34" charset="-122"/>
                <a:cs typeface="Calibri" pitchFamily="34" charset="-120"/>
              </a:rPr>
              <a:t>At most one intervention per account</a:t>
            </a:r>
            <a:endParaRPr lang="en-US" sz="1200" dirty="0"/>
          </a:p>
        </p:txBody>
      </p:sp>
      <p:sp>
        <p:nvSpPr>
          <p:cNvPr id="11" name="Shape 9"/>
          <p:cNvSpPr/>
          <p:nvPr/>
        </p:nvSpPr>
        <p:spPr>
          <a:xfrm>
            <a:off x="6035040" y="2011680"/>
            <a:ext cx="5394960" cy="3977640"/>
          </a:xfrm>
          <a:prstGeom prst="roundRect">
            <a:avLst>
              <a:gd name="adj" fmla="val 1839"/>
            </a:avLst>
          </a:prstGeom>
          <a:solidFill>
            <a:srgbClr val="1E2761"/>
          </a:solidFill>
          <a:ln/>
        </p:spPr>
      </p:sp>
      <p:sp>
        <p:nvSpPr>
          <p:cNvPr id="12" name="Text 10"/>
          <p:cNvSpPr/>
          <p:nvPr/>
        </p:nvSpPr>
        <p:spPr>
          <a:xfrm>
            <a:off x="6355080" y="2240280"/>
            <a:ext cx="4754880" cy="320040"/>
          </a:xfrm>
          <a:prstGeom prst="rect">
            <a:avLst/>
          </a:prstGeom>
          <a:noFill/>
          <a:ln/>
        </p:spPr>
        <p:txBody>
          <a:bodyPr wrap="square" lIns="0" tIns="0" rIns="0" bIns="0" rtlCol="0" anchor="ctr"/>
          <a:lstStyle/>
          <a:p>
            <a:pPr indent="0" marL="0">
              <a:buNone/>
            </a:pPr>
            <a:r>
              <a:rPr lang="en-US" sz="1200" b="1" spc="100" kern="0" dirty="0">
                <a:solidFill>
                  <a:srgbClr val="C1613C"/>
                </a:solidFill>
                <a:latin typeface="Calibri" pitchFamily="34" charset="0"/>
                <a:ea typeface="Calibri" pitchFamily="34" charset="-122"/>
                <a:cs typeface="Calibri" pitchFamily="34" charset="-120"/>
              </a:rPr>
              <a:t>EFFECT SIZES FEEDING THE OPTIMIZER</a:t>
            </a:r>
            <a:endParaRPr lang="en-US" sz="1200" dirty="0"/>
          </a:p>
        </p:txBody>
      </p:sp>
      <p:sp>
        <p:nvSpPr>
          <p:cNvPr id="13" name="Text 11"/>
          <p:cNvSpPr/>
          <p:nvPr/>
        </p:nvSpPr>
        <p:spPr>
          <a:xfrm>
            <a:off x="6355080" y="2697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Large withdrawal → RM call</a:t>
            </a:r>
            <a:endParaRPr lang="en-US" sz="1250" dirty="0"/>
          </a:p>
        </p:txBody>
      </p:sp>
      <p:sp>
        <p:nvSpPr>
          <p:cNvPr id="14" name="Text 12"/>
          <p:cNvSpPr/>
          <p:nvPr/>
        </p:nvSpPr>
        <p:spPr>
          <a:xfrm>
            <a:off x="9326880" y="2697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10.7 pp</a:t>
            </a:r>
            <a:endParaRPr lang="en-US" sz="1400" dirty="0"/>
          </a:p>
        </p:txBody>
      </p:sp>
      <p:sp>
        <p:nvSpPr>
          <p:cNvPr id="15" name="Text 13"/>
          <p:cNvSpPr/>
          <p:nvPr/>
        </p:nvSpPr>
        <p:spPr>
          <a:xfrm>
            <a:off x="6355080" y="3044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RDD — high confidence</a:t>
            </a:r>
            <a:endParaRPr lang="en-US" sz="1050" dirty="0"/>
          </a:p>
        </p:txBody>
      </p:sp>
      <p:sp>
        <p:nvSpPr>
          <p:cNvPr id="16" name="Text 14"/>
          <p:cNvSpPr/>
          <p:nvPr/>
        </p:nvSpPr>
        <p:spPr>
          <a:xfrm>
            <a:off x="6355080" y="3840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DD stop → $100 offer</a:t>
            </a:r>
            <a:endParaRPr lang="en-US" sz="1250" dirty="0"/>
          </a:p>
        </p:txBody>
      </p:sp>
      <p:sp>
        <p:nvSpPr>
          <p:cNvPr id="17" name="Text 15"/>
          <p:cNvSpPr/>
          <p:nvPr/>
        </p:nvSpPr>
        <p:spPr>
          <a:xfrm>
            <a:off x="9326880" y="3840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3.7 pp</a:t>
            </a:r>
            <a:endParaRPr lang="en-US" sz="1400" dirty="0"/>
          </a:p>
        </p:txBody>
      </p:sp>
      <p:sp>
        <p:nvSpPr>
          <p:cNvPr id="18" name="Text 16"/>
          <p:cNvSpPr/>
          <p:nvPr/>
        </p:nvSpPr>
        <p:spPr>
          <a:xfrm>
            <a:off x="6355080" y="4187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clean-control DiD — high confidence</a:t>
            </a:r>
            <a:endParaRPr lang="en-US" sz="1050" dirty="0"/>
          </a:p>
        </p:txBody>
      </p:sp>
      <p:sp>
        <p:nvSpPr>
          <p:cNvPr id="19" name="Text 17"/>
          <p:cNvSpPr/>
          <p:nvPr/>
        </p:nvSpPr>
        <p:spPr>
          <a:xfrm>
            <a:off x="6355080" y="4983480"/>
            <a:ext cx="301752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Dormant → reminder</a:t>
            </a:r>
            <a:endParaRPr lang="en-US" sz="1250" dirty="0"/>
          </a:p>
        </p:txBody>
      </p:sp>
      <p:sp>
        <p:nvSpPr>
          <p:cNvPr id="20" name="Text 18"/>
          <p:cNvSpPr/>
          <p:nvPr/>
        </p:nvSpPr>
        <p:spPr>
          <a:xfrm>
            <a:off x="9326880" y="4983480"/>
            <a:ext cx="1005840" cy="365760"/>
          </a:xfrm>
          <a:prstGeom prst="rect">
            <a:avLst/>
          </a:prstGeom>
          <a:noFill/>
          <a:ln/>
        </p:spPr>
        <p:txBody>
          <a:bodyPr wrap="square" lIns="0" tIns="0" rIns="0" bIns="0" rtlCol="0" anchor="ctr"/>
          <a:lstStyle/>
          <a:p>
            <a:pPr algn="r" indent="0" marL="0">
              <a:buNone/>
            </a:pPr>
            <a:r>
              <a:rPr lang="en-US" sz="1400" b="1" dirty="0">
                <a:solidFill>
                  <a:srgbClr val="C1613C"/>
                </a:solidFill>
                <a:latin typeface="Cambria" pitchFamily="34" charset="0"/>
                <a:ea typeface="Cambria" pitchFamily="34" charset="-122"/>
                <a:cs typeface="Cambria" pitchFamily="34" charset="-120"/>
              </a:rPr>
              <a:t>6.5 pp</a:t>
            </a:r>
            <a:endParaRPr lang="en-US" sz="1400" dirty="0"/>
          </a:p>
        </p:txBody>
      </p:sp>
      <p:sp>
        <p:nvSpPr>
          <p:cNvPr id="21" name="Text 19"/>
          <p:cNvSpPr/>
          <p:nvPr/>
        </p:nvSpPr>
        <p:spPr>
          <a:xfrm>
            <a:off x="6355080" y="5330952"/>
            <a:ext cx="4754880" cy="502920"/>
          </a:xfrm>
          <a:prstGeom prst="rect">
            <a:avLst/>
          </a:prstGeom>
          <a:noFill/>
          <a:ln/>
        </p:spPr>
        <p:txBody>
          <a:bodyPr wrap="square" lIns="0" tIns="0" rIns="0" bIns="0" rtlCol="0" anchor="ctr"/>
          <a:lstStyle/>
          <a:p>
            <a:pPr indent="0" marL="0">
              <a:lnSpc>
                <a:spcPct val="110000"/>
              </a:lnSpc>
              <a:buNone/>
            </a:pPr>
            <a:r>
              <a:rPr lang="en-US" sz="1050" i="1" dirty="0">
                <a:solidFill>
                  <a:srgbClr val="CADCFC"/>
                </a:solidFill>
                <a:latin typeface="Calibri" pitchFamily="34" charset="0"/>
                <a:ea typeface="Calibri" pitchFamily="34" charset="-122"/>
                <a:cs typeface="Calibri" pitchFamily="34" charset="-120"/>
              </a:rPr>
              <a:t>DoubleML — moderate confidence (untestable assumption)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OPTIMIZE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Same budget, same RM capacity: 63% more value protected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pic>
        <p:nvPicPr>
          <p:cNvPr id="5" name="Image 0" descr="/root/vanguard_dda_project/figures/optimization_comparison.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+63%</a:t>
            </a:r>
            <a:endParaRPr lang="en-US" sz="3000" dirty="0"/>
          </a:p>
        </p:txBody>
      </p:sp>
      <p:sp>
        <p:nvSpPr>
          <p:cNvPr id="8" name="Text 5"/>
          <p:cNvSpPr/>
          <p:nvPr/>
        </p:nvSpPr>
        <p:spPr>
          <a:xfrm>
            <a:off x="7013448" y="259689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Net value protected vs. the heuristic, at equal budget &amp; RM capacity</a:t>
            </a:r>
            <a:endParaRPr lang="en-US" sz="1100" dirty="0"/>
          </a:p>
        </p:txBody>
      </p:sp>
      <p:sp>
        <p:nvSpPr>
          <p:cNvPr id="9" name="Shape 6"/>
          <p:cNvSpPr/>
          <p:nvPr/>
        </p:nvSpPr>
        <p:spPr>
          <a:xfrm>
            <a:off x="6903720" y="315468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6440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297 / 400</a:t>
            </a:r>
            <a:endParaRPr lang="en-US" sz="3000" dirty="0"/>
          </a:p>
        </p:txBody>
      </p:sp>
      <p:sp>
        <p:nvSpPr>
          <p:cNvPr id="11" name="Text 8"/>
          <p:cNvSpPr/>
          <p:nvPr/>
        </p:nvSpPr>
        <p:spPr>
          <a:xfrm>
            <a:off x="7013448" y="378561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RM contacts used — the optimizer stops once marginal expected value turns negative, not when capacity runs out</a:t>
            </a:r>
            <a:endParaRPr lang="en-US" sz="1100" dirty="0"/>
          </a:p>
        </p:txBody>
      </p:sp>
      <p:sp>
        <p:nvSpPr>
          <p:cNvPr id="12" name="Text 9"/>
          <p:cNvSpPr/>
          <p:nvPr/>
        </p:nvSpPr>
        <p:spPr>
          <a:xfrm>
            <a:off x="6903720" y="4434840"/>
            <a:ext cx="4709160" cy="182880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The heuristic doesn't discriminate by risk LEVEL within the top-50%-value pool — it spends on high-value accounts whether they're actually at risk or not, and it has no notion of an RM-capacity limit at all. The optimizer ranks by expected payoff per dollar and per RM-minute directly, and it's disciplined enough to leave budget and capacity on the table rather than fund a marginal account that isn't worth it.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BUSINESS IMPACT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Translating the model into a dollar figure a stakeholder can act 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pic>
        <p:nvPicPr>
          <p:cNvPr id="5" name="Image 0" descr="/root/vanguard_dda_project/figures/business_impact_headline.png">    </p:cNvPr>
          <p:cNvPicPr>
            <a:picLocks noChangeAspect="1"/>
          </p:cNvPicPr>
          <p:nvPr/>
        </p:nvPicPr>
        <p:blipFill>
          <a:blip r:embed="rId1"/>
          <a:stretch>
            <a:fillRect/>
          </a:stretch>
        </p:blipFill>
        <p:spPr>
          <a:xfrm>
            <a:off x="548640" y="1965960"/>
            <a:ext cx="5577840" cy="4343400"/>
          </a:xfrm>
          <a:prstGeom prst="rect">
            <a:avLst/>
          </a:prstGeom>
        </p:spPr>
      </p:pic>
      <p:sp>
        <p:nvSpPr>
          <p:cNvPr id="6" name="Shape 3"/>
          <p:cNvSpPr/>
          <p:nvPr/>
        </p:nvSpPr>
        <p:spPr>
          <a:xfrm>
            <a:off x="6446520" y="1965960"/>
            <a:ext cx="5166360" cy="1143000"/>
          </a:xfrm>
          <a:prstGeom prst="roundRect">
            <a:avLst>
              <a:gd name="adj" fmla="val 6400"/>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6556248" y="2075688"/>
            <a:ext cx="4946904" cy="628650"/>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+$117,079</a:t>
            </a:r>
            <a:endParaRPr lang="en-US" sz="3000" dirty="0"/>
          </a:p>
        </p:txBody>
      </p:sp>
      <p:sp>
        <p:nvSpPr>
          <p:cNvPr id="8" name="Text 5"/>
          <p:cNvSpPr/>
          <p:nvPr/>
        </p:nvSpPr>
        <p:spPr>
          <a:xfrm>
            <a:off x="6556248" y="2651760"/>
            <a:ext cx="4946904" cy="434340"/>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Incremental net value protected, per 10,000 scored accounts (+63.2%)</a:t>
            </a:r>
            <a:endParaRPr lang="en-US" sz="1100" dirty="0"/>
          </a:p>
        </p:txBody>
      </p:sp>
      <p:sp>
        <p:nvSpPr>
          <p:cNvPr id="9" name="Text 6"/>
          <p:cNvSpPr/>
          <p:nvPr/>
        </p:nvSpPr>
        <p:spPr>
          <a:xfrm>
            <a:off x="6446520" y="3246120"/>
            <a:ext cx="5166360" cy="155448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Deliberately NOT scaled to a fabricated "total accounts at the bank" number — this project's data is a sized demo, not the real book. Reported per 10,000 scored accounts with an explicit scaling instruction instead: multiply by (your real scored-account count / 10,000). The mechanism — same spend, better targeting — scales linearly with book size, unlike a one-time fixed-cost project.</a:t>
            </a:r>
            <a:endParaRPr lang="en-US" sz="1150" dirty="0"/>
          </a:p>
        </p:txBody>
      </p:sp>
      <p:sp>
        <p:nvSpPr>
          <p:cNvPr id="10" name="Shape 7"/>
          <p:cNvSpPr/>
          <p:nvPr/>
        </p:nvSpPr>
        <p:spPr>
          <a:xfrm>
            <a:off x="6446520" y="4937760"/>
            <a:ext cx="51663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1" name="Text 8"/>
          <p:cNvSpPr/>
          <p:nvPr/>
        </p:nvSpPr>
        <p:spPr>
          <a:xfrm>
            <a:off x="6556248" y="5047488"/>
            <a:ext cx="4946904" cy="578358"/>
          </a:xfrm>
          <a:prstGeom prst="rect">
            <a:avLst/>
          </a:prstGeom>
          <a:noFill/>
          <a:ln/>
        </p:spPr>
        <p:txBody>
          <a:bodyPr wrap="square" lIns="0" tIns="0" rIns="0" bIns="0" rtlCol="0" anchor="b"/>
          <a:lstStyle/>
          <a:p>
            <a:pPr algn="l" indent="0" marL="0">
              <a:buNone/>
            </a:pPr>
            <a:r>
              <a:rPr lang="en-US" sz="2200" b="1" dirty="0">
                <a:solidFill>
                  <a:srgbClr val="C1613C"/>
                </a:solidFill>
                <a:latin typeface="Cambria" pitchFamily="34" charset="0"/>
                <a:ea typeface="Cambria" pitchFamily="34" charset="-122"/>
                <a:cs typeface="Cambria" pitchFamily="34" charset="-120"/>
              </a:rPr>
              <a:t>98.2% / 98.3%</a:t>
            </a:r>
            <a:endParaRPr lang="en-US" sz="2200" dirty="0"/>
          </a:p>
        </p:txBody>
      </p:sp>
      <p:sp>
        <p:nvSpPr>
          <p:cNvPr id="12" name="Text 9"/>
          <p:cNvSpPr/>
          <p:nvPr/>
        </p:nvSpPr>
        <p:spPr>
          <a:xfrm>
            <a:off x="6556248" y="5568696"/>
            <a:ext cx="49469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Top-value-quartile membership overlap if the 15% product-value-uplift assumption were 10% / 20% instead — the specific number isn't load-bearing for who gets prioritized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RECOMMENDATIONS</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Four actions, tiered by how much confidence each estimate actually earned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5" name="Shape 3"/>
          <p:cNvSpPr/>
          <p:nvPr/>
        </p:nvSpPr>
        <p:spPr>
          <a:xfrm>
            <a:off x="548640" y="1965960"/>
            <a:ext cx="10881360" cy="960120"/>
          </a:xfrm>
          <a:prstGeom prst="roundRect">
            <a:avLst>
              <a:gd name="adj" fmla="val 5714"/>
            </a:avLst>
          </a:prstGeom>
          <a:solidFill>
            <a:srgbClr val="EEF3FC"/>
          </a:solidFill>
          <a:ln/>
        </p:spPr>
      </p:sp>
      <p:sp>
        <p:nvSpPr>
          <p:cNvPr id="6" name="Shape 4"/>
          <p:cNvSpPr/>
          <p:nvPr/>
        </p:nvSpPr>
        <p:spPr>
          <a:xfrm>
            <a:off x="731520" y="2167128"/>
            <a:ext cx="502920" cy="502920"/>
          </a:xfrm>
          <a:prstGeom prst="ellipse">
            <a:avLst/>
          </a:prstGeom>
          <a:solidFill>
            <a:srgbClr val="2C4870"/>
          </a:solidFill>
          <a:ln/>
        </p:spPr>
      </p:sp>
      <p:sp>
        <p:nvSpPr>
          <p:cNvPr id="7" name="Text 5"/>
          <p:cNvSpPr/>
          <p:nvPr/>
        </p:nvSpPr>
        <p:spPr>
          <a:xfrm>
            <a:off x="731520" y="2167128"/>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1417320" y="2039112"/>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Adopt the ILP optimizer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in place of the informal "top 50% by value" rule.</a:t>
            </a:r>
            <a:endParaRPr lang="en-US" sz="1200" dirty="0"/>
          </a:p>
        </p:txBody>
      </p:sp>
      <p:sp>
        <p:nvSpPr>
          <p:cNvPr id="9" name="Text 7"/>
          <p:cNvSpPr/>
          <p:nvPr/>
        </p:nvSpPr>
        <p:spPr>
          <a:xfrm>
            <a:off x="8503920" y="2075688"/>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0" name="Text 8"/>
          <p:cNvSpPr/>
          <p:nvPr/>
        </p:nvSpPr>
        <p:spPr>
          <a:xfrm>
            <a:off x="8503920" y="2331720"/>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mechanical improvement on already-validated inputs, not a new causal claim.</a:t>
            </a:r>
            <a:endParaRPr lang="en-US" sz="1000" dirty="0"/>
          </a:p>
        </p:txBody>
      </p:sp>
      <p:sp>
        <p:nvSpPr>
          <p:cNvPr id="11" name="Shape 9"/>
          <p:cNvSpPr/>
          <p:nvPr/>
        </p:nvSpPr>
        <p:spPr>
          <a:xfrm>
            <a:off x="548640" y="3081528"/>
            <a:ext cx="10881360" cy="960120"/>
          </a:xfrm>
          <a:prstGeom prst="roundRect">
            <a:avLst>
              <a:gd name="adj" fmla="val 5714"/>
            </a:avLst>
          </a:prstGeom>
          <a:solidFill>
            <a:srgbClr val="EEF3FC"/>
          </a:solidFill>
          <a:ln/>
        </p:spPr>
      </p:sp>
      <p:sp>
        <p:nvSpPr>
          <p:cNvPr id="12" name="Shape 10"/>
          <p:cNvSpPr/>
          <p:nvPr/>
        </p:nvSpPr>
        <p:spPr>
          <a:xfrm>
            <a:off x="731520" y="3282696"/>
            <a:ext cx="502920" cy="502920"/>
          </a:xfrm>
          <a:prstGeom prst="ellipse">
            <a:avLst/>
          </a:prstGeom>
          <a:solidFill>
            <a:srgbClr val="2C4870"/>
          </a:solidFill>
          <a:ln/>
        </p:spPr>
      </p:sp>
      <p:sp>
        <p:nvSpPr>
          <p:cNvPr id="13" name="Text 11"/>
          <p:cNvSpPr/>
          <p:nvPr/>
        </p:nvSpPr>
        <p:spPr>
          <a:xfrm>
            <a:off x="731520" y="3282696"/>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1417320" y="3154680"/>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Formalize the 30%-withdrawal → RM-outreach trigger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as an explicit, monitored policy.</a:t>
            </a:r>
            <a:endParaRPr lang="en-US" sz="1200" dirty="0"/>
          </a:p>
        </p:txBody>
      </p:sp>
      <p:sp>
        <p:nvSpPr>
          <p:cNvPr id="15" name="Text 13"/>
          <p:cNvSpPr/>
          <p:nvPr/>
        </p:nvSpPr>
        <p:spPr>
          <a:xfrm>
            <a:off x="8503920" y="3191256"/>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6" name="Text 14"/>
          <p:cNvSpPr/>
          <p:nvPr/>
        </p:nvSpPr>
        <p:spPr>
          <a:xfrm>
            <a:off x="8503920" y="3447288"/>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RDD, no-manipulation assumption directly tested.</a:t>
            </a:r>
            <a:endParaRPr lang="en-US" sz="1000" dirty="0"/>
          </a:p>
        </p:txBody>
      </p:sp>
      <p:sp>
        <p:nvSpPr>
          <p:cNvPr id="17" name="Shape 15"/>
          <p:cNvSpPr/>
          <p:nvPr/>
        </p:nvSpPr>
        <p:spPr>
          <a:xfrm>
            <a:off x="548640" y="4197096"/>
            <a:ext cx="10881360" cy="960120"/>
          </a:xfrm>
          <a:prstGeom prst="roundRect">
            <a:avLst>
              <a:gd name="adj" fmla="val 5714"/>
            </a:avLst>
          </a:prstGeom>
          <a:solidFill>
            <a:srgbClr val="EEF3FC"/>
          </a:solidFill>
          <a:ln/>
        </p:spPr>
      </p:sp>
      <p:sp>
        <p:nvSpPr>
          <p:cNvPr id="18" name="Shape 16"/>
          <p:cNvSpPr/>
          <p:nvPr/>
        </p:nvSpPr>
        <p:spPr>
          <a:xfrm>
            <a:off x="731520" y="4398264"/>
            <a:ext cx="502920" cy="502920"/>
          </a:xfrm>
          <a:prstGeom prst="ellipse">
            <a:avLst/>
          </a:prstGeom>
          <a:solidFill>
            <a:srgbClr val="2C4870"/>
          </a:solidFill>
          <a:ln/>
        </p:spPr>
      </p:sp>
      <p:sp>
        <p:nvSpPr>
          <p:cNvPr id="19" name="Text 17"/>
          <p:cNvSpPr/>
          <p:nvPr/>
        </p:nvSpPr>
        <p:spPr>
          <a:xfrm>
            <a:off x="731520" y="4398264"/>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1417320" y="4270248"/>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Don't evaluate the DD-stop offer's rollout before month 3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of each wave — the effect ramps in.</a:t>
            </a:r>
            <a:endParaRPr lang="en-US" sz="1200" dirty="0"/>
          </a:p>
        </p:txBody>
      </p:sp>
      <p:sp>
        <p:nvSpPr>
          <p:cNvPr id="21" name="Text 19"/>
          <p:cNvSpPr/>
          <p:nvPr/>
        </p:nvSpPr>
        <p:spPr>
          <a:xfrm>
            <a:off x="8503920" y="4306824"/>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2" name="Text 20"/>
          <p:cNvSpPr/>
          <p:nvPr/>
        </p:nvSpPr>
        <p:spPr>
          <a:xfrm>
            <a:off x="8503920" y="4562856"/>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DiD, parallel pre-trends directly tested.</a:t>
            </a:r>
            <a:endParaRPr lang="en-US" sz="1000" dirty="0"/>
          </a:p>
        </p:txBody>
      </p:sp>
      <p:sp>
        <p:nvSpPr>
          <p:cNvPr id="23" name="Shape 21"/>
          <p:cNvSpPr/>
          <p:nvPr/>
        </p:nvSpPr>
        <p:spPr>
          <a:xfrm>
            <a:off x="548640" y="5312664"/>
            <a:ext cx="10881360" cy="960120"/>
          </a:xfrm>
          <a:prstGeom prst="roundRect">
            <a:avLst>
              <a:gd name="adj" fmla="val 5714"/>
            </a:avLst>
          </a:prstGeom>
          <a:solidFill>
            <a:srgbClr val="EEF3FC"/>
          </a:solidFill>
          <a:ln/>
        </p:spPr>
      </p:sp>
      <p:sp>
        <p:nvSpPr>
          <p:cNvPr id="24" name="Shape 22"/>
          <p:cNvSpPr/>
          <p:nvPr/>
        </p:nvSpPr>
        <p:spPr>
          <a:xfrm>
            <a:off x="731520" y="5513832"/>
            <a:ext cx="502920" cy="502920"/>
          </a:xfrm>
          <a:prstGeom prst="ellipse">
            <a:avLst/>
          </a:prstGeom>
          <a:solidFill>
            <a:srgbClr val="C1613C"/>
          </a:solidFill>
          <a:ln/>
        </p:spPr>
      </p:sp>
      <p:sp>
        <p:nvSpPr>
          <p:cNvPr id="25" name="Text 23"/>
          <p:cNvSpPr/>
          <p:nvPr/>
        </p:nvSpPr>
        <p:spPr>
          <a:xfrm>
            <a:off x="731520" y="5513832"/>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4</a:t>
            </a:r>
            <a:endParaRPr lang="en-US" sz="1540" dirty="0"/>
          </a:p>
        </p:txBody>
      </p:sp>
      <p:sp>
        <p:nvSpPr>
          <p:cNvPr id="26" name="Text 24"/>
          <p:cNvSpPr/>
          <p:nvPr/>
        </p:nvSpPr>
        <p:spPr>
          <a:xfrm>
            <a:off x="1417320" y="5385816"/>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 NOT scale budget into the dormant play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on this estimate alone — run a real randomized pilot first.</a:t>
            </a:r>
            <a:endParaRPr lang="en-US" sz="1200" dirty="0"/>
          </a:p>
        </p:txBody>
      </p:sp>
      <p:sp>
        <p:nvSpPr>
          <p:cNvPr id="27" name="Text 25"/>
          <p:cNvSpPr/>
          <p:nvPr/>
        </p:nvSpPr>
        <p:spPr>
          <a:xfrm>
            <a:off x="8503920" y="5422392"/>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8" name="Text 26"/>
          <p:cNvSpPr/>
          <p:nvPr/>
        </p:nvSpPr>
        <p:spPr>
          <a:xfrm>
            <a:off x="8503920" y="5678424"/>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Moderate — DoubleML's unconfoundedness assumption isn't testable from data.</a:t>
            </a:r>
            <a:endParaRPr lang="en-US" sz="1000" dirty="0"/>
          </a:p>
        </p:txBody>
      </p:sp>
      <p:sp>
        <p:nvSpPr>
          <p:cNvPr id="29" name="Text 27"/>
          <p:cNvSpPr/>
          <p:nvPr/>
        </p:nvSpPr>
        <p:spPr>
          <a:xfrm>
            <a:off x="548640" y="6355080"/>
            <a:ext cx="10881360" cy="365760"/>
          </a:xfrm>
          <a:prstGeom prst="rect">
            <a:avLst/>
          </a:prstGeom>
          <a:noFill/>
          <a:ln/>
        </p:spPr>
        <p:txBody>
          <a:bodyPr wrap="square" lIns="0" tIns="0" rIns="0" bIns="0" rtlCol="0" anchor="ctr"/>
          <a:lstStyle/>
          <a:p>
            <a:pPr indent="0" marL="0">
              <a:buNone/>
            </a:pPr>
            <a:r>
              <a:rPr lang="en-US" sz="1100" i="1" dirty="0">
                <a:solidFill>
                  <a:srgbClr val="5B6B8C"/>
                </a:solidFill>
                <a:latin typeface="Calibri" pitchFamily="34" charset="0"/>
                <a:ea typeface="Calibri" pitchFamily="34" charset="-122"/>
                <a:cs typeface="Calibri" pitchFamily="34" charset="-120"/>
              </a:rPr>
              <a:t>Priority order follows confidence, not effect size — the dormant play's 6.5pp is the second-largest estimated effect, but it's ranked last because its identifying assumption is the one that can't be checked.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RESULT — TYING IT BACK</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real project already worked. This is how I'd make it rigorous.</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48640" y="2057400"/>
            <a:ext cx="5303520" cy="3931920"/>
          </a:xfrm>
          <a:prstGeom prst="roundRect">
            <a:avLst>
              <a:gd name="adj" fmla="val 1860"/>
            </a:avLst>
          </a:prstGeom>
          <a:solidFill>
            <a:srgbClr val="EEF3FC"/>
          </a:solidFill>
          <a:ln/>
        </p:spPr>
      </p:sp>
      <p:sp>
        <p:nvSpPr>
          <p:cNvPr id="6" name="Text 4"/>
          <p:cNvSpPr/>
          <p:nvPr/>
        </p:nvSpPr>
        <p:spPr>
          <a:xfrm>
            <a:off x="86868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ACTUALLY HAPPENED</a:t>
            </a:r>
            <a:endParaRPr lang="en-US" sz="1200" dirty="0"/>
          </a:p>
        </p:txBody>
      </p:sp>
      <p:sp>
        <p:nvSpPr>
          <p:cNvPr id="7" name="Shape 5"/>
          <p:cNvSpPr/>
          <p:nvPr/>
        </p:nvSpPr>
        <p:spPr>
          <a:xfrm>
            <a:off x="868680" y="2697480"/>
            <a:ext cx="4663440" cy="1051560"/>
          </a:xfrm>
          <a:prstGeom prst="roundRect">
            <a:avLst>
              <a:gd name="adj" fmla="val 6957"/>
            </a:avLst>
          </a:prstGeom>
          <a:solidFill>
            <a:srgbClr val="FFFFFF"/>
          </a:solidFill>
          <a:ln/>
          <a:effectLst>
            <a:outerShdw sx="100000" sy="100000" kx="0" ky="0" algn="bl" rotWithShape="0" blurRad="76200" dist="25400" dir="5400000">
              <a:srgbClr val="1E2761">
                <a:alpha val="12000"/>
              </a:srgbClr>
            </a:outerShdw>
          </a:effectLst>
        </p:spPr>
      </p:sp>
      <p:sp>
        <p:nvSpPr>
          <p:cNvPr id="8" name="Text 6"/>
          <p:cNvSpPr/>
          <p:nvPr/>
        </p:nvSpPr>
        <p:spPr>
          <a:xfrm>
            <a:off x="978408" y="2807208"/>
            <a:ext cx="444398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978408" y="3328416"/>
            <a:ext cx="444398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Relative churn reduction, randomized A/B test vs. blanket outreach</a:t>
            </a:r>
            <a:endParaRPr lang="en-US" sz="1100" dirty="0"/>
          </a:p>
        </p:txBody>
      </p:sp>
      <p:sp>
        <p:nvSpPr>
          <p:cNvPr id="10" name="Text 8"/>
          <p:cNvSpPr/>
          <p:nvPr/>
        </p:nvSpPr>
        <p:spPr>
          <a:xfrm>
            <a:off x="868680" y="3931920"/>
            <a:ext cx="466344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Validated the only way we had time and buy-in to validate: an outcomes-based A/B test. That's a real, defensible result — and it's also the limit of what we did.</a:t>
            </a:r>
            <a:endParaRPr lang="en-US" sz="1250" dirty="0"/>
          </a:p>
        </p:txBody>
      </p:sp>
      <p:sp>
        <p:nvSpPr>
          <p:cNvPr id="11" name="Shape 9"/>
          <p:cNvSpPr/>
          <p:nvPr/>
        </p:nvSpPr>
        <p:spPr>
          <a:xfrm>
            <a:off x="6126480" y="2057400"/>
            <a:ext cx="5303520" cy="3931920"/>
          </a:xfrm>
          <a:prstGeom prst="roundRect">
            <a:avLst>
              <a:gd name="adj" fmla="val 1860"/>
            </a:avLst>
          </a:prstGeom>
          <a:solidFill>
            <a:srgbClr val="1E2761"/>
          </a:solidFill>
          <a:ln/>
        </p:spPr>
      </p:sp>
      <p:sp>
        <p:nvSpPr>
          <p:cNvPr id="12" name="Text 10"/>
          <p:cNvSpPr/>
          <p:nvPr/>
        </p:nvSpPr>
        <p:spPr>
          <a:xfrm>
            <a:off x="644652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THIS ADDS</a:t>
            </a:r>
            <a:endParaRPr lang="en-US" sz="1200" dirty="0"/>
          </a:p>
        </p:txBody>
      </p:sp>
      <p:sp>
        <p:nvSpPr>
          <p:cNvPr id="13" name="Text 11"/>
          <p:cNvSpPr/>
          <p:nvPr/>
        </p:nvSpPr>
        <p:spPr>
          <a:xfrm>
            <a:off x="6446520" y="2697480"/>
            <a:ext cx="4709160" cy="3108960"/>
          </a:xfrm>
          <a:prstGeom prst="rect">
            <a:avLst/>
          </a:prstGeom>
          <a:noFill/>
          <a:ln/>
        </p:spPr>
        <p:txBody>
          <a:bodyPr wrap="square" lIns="0" tIns="0" rIns="0" bIns="0" rtlCol="0" anchor="ctr"/>
          <a:lstStyle/>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Causal identification for triggers that CAN'T be A/B tested, not just the ones that can</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formal, re-runnable optimization instead of a fixed value-score cutoff — it flexes with budget</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quantified, confidence-tiered business case instead of a technical result that stops at the model</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method graded against a known ground truth before I'd trust it on a real decision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LIMITATIONS — AND WHY THIS ROLE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What I'd still want before this touches production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5" name="Shape 3"/>
          <p:cNvSpPr/>
          <p:nvPr/>
        </p:nvSpPr>
        <p:spPr>
          <a:xfrm>
            <a:off x="548640" y="2057400"/>
            <a:ext cx="10881360" cy="1051560"/>
          </a:xfrm>
          <a:prstGeom prst="roundRect">
            <a:avLst>
              <a:gd name="adj" fmla="val 5217"/>
            </a:avLst>
          </a:prstGeom>
          <a:solidFill>
            <a:srgbClr val="EEF3FC"/>
          </a:solidFill>
          <a:ln/>
        </p:spPr>
      </p:sp>
      <p:sp>
        <p:nvSpPr>
          <p:cNvPr id="6" name="Text 4"/>
          <p:cNvSpPr/>
          <p:nvPr/>
        </p:nvSpPr>
        <p:spPr>
          <a:xfrm>
            <a:off x="822960" y="214884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Dormant-play effect rests on an untestable assumption</a:t>
            </a:r>
            <a:endParaRPr lang="en-US" sz="1300" dirty="0"/>
          </a:p>
        </p:txBody>
      </p:sp>
      <p:sp>
        <p:nvSpPr>
          <p:cNvPr id="7" name="Text 5"/>
          <p:cNvSpPr/>
          <p:nvPr/>
        </p:nvSpPr>
        <p:spPr>
          <a:xfrm>
            <a:off x="4800600" y="214884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DoubleML corrects the sign vs. naive/logistic, but its selection-on-observables identification can't be checked the way RDD's no-manipulation test or DiD's pre-trends test can — needs a real randomized pilot before scaling spend.</a:t>
            </a:r>
            <a:endParaRPr lang="en-US" sz="1200" dirty="0"/>
          </a:p>
        </p:txBody>
      </p:sp>
      <p:sp>
        <p:nvSpPr>
          <p:cNvPr id="8" name="Shape 6"/>
          <p:cNvSpPr/>
          <p:nvPr/>
        </p:nvSpPr>
        <p:spPr>
          <a:xfrm>
            <a:off x="548640" y="3291840"/>
            <a:ext cx="10881360" cy="1051560"/>
          </a:xfrm>
          <a:prstGeom prst="roundRect">
            <a:avLst>
              <a:gd name="adj" fmla="val 5217"/>
            </a:avLst>
          </a:prstGeom>
          <a:solidFill>
            <a:srgbClr val="EEF3FC"/>
          </a:solidFill>
          <a:ln/>
        </p:spPr>
      </p:sp>
      <p:sp>
        <p:nvSpPr>
          <p:cNvPr id="9" name="Text 7"/>
          <p:cNvSpPr/>
          <p:nvPr/>
        </p:nvSpPr>
        <p:spPr>
          <a:xfrm>
            <a:off x="822960" y="338328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No formal independent model-risk validation</a:t>
            </a:r>
            <a:endParaRPr lang="en-US" sz="1300" dirty="0"/>
          </a:p>
        </p:txBody>
      </p:sp>
      <p:sp>
        <p:nvSpPr>
          <p:cNvPr id="10" name="Text 8"/>
          <p:cNvSpPr/>
          <p:nvPr/>
        </p:nvSpPr>
        <p:spPr>
          <a:xfrm>
            <a:off x="4800600" y="338328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Today's validation is outcomes-based (A/B test) and, here, grading against a KNOWN synthetic truth — a real deployment needs an independent conceptual-soundness review per SR 11-7.</a:t>
            </a:r>
            <a:endParaRPr lang="en-US" sz="1200" dirty="0"/>
          </a:p>
        </p:txBody>
      </p:sp>
      <p:sp>
        <p:nvSpPr>
          <p:cNvPr id="11" name="Shape 9"/>
          <p:cNvSpPr/>
          <p:nvPr/>
        </p:nvSpPr>
        <p:spPr>
          <a:xfrm>
            <a:off x="548640" y="4526280"/>
            <a:ext cx="10881360" cy="1051560"/>
          </a:xfrm>
          <a:prstGeom prst="roundRect">
            <a:avLst>
              <a:gd name="adj" fmla="val 5217"/>
            </a:avLst>
          </a:prstGeom>
          <a:solidFill>
            <a:srgbClr val="EEF3FC"/>
          </a:solidFill>
          <a:ln/>
        </p:spPr>
      </p:sp>
      <p:sp>
        <p:nvSpPr>
          <p:cNvPr id="12" name="Text 10"/>
          <p:cNvSpPr/>
          <p:nvPr/>
        </p:nvSpPr>
        <p:spPr>
          <a:xfrm>
            <a:off x="822960" y="4617720"/>
            <a:ext cx="3840480" cy="868680"/>
          </a:xfrm>
          <a:prstGeom prst="rect">
            <a:avLst/>
          </a:prstGeom>
          <a:noFill/>
          <a:ln/>
        </p:spPr>
        <p:txBody>
          <a:bodyPr wrap="square" lIns="0" tIns="0" rIns="0" bIns="0" rtlCol="0" anchor="ctr"/>
          <a:lstStyle/>
          <a:p>
            <a:pPr indent="0" marL="0">
              <a:lnSpc>
                <a:spcPct val="110000"/>
              </a:lnSpc>
              <a:buNone/>
            </a:pPr>
            <a:r>
              <a:rPr lang="en-US" sz="1300" b="1" dirty="0">
                <a:solidFill>
                  <a:srgbClr val="1E2761"/>
                </a:solidFill>
                <a:latin typeface="Calibri" pitchFamily="34" charset="0"/>
                <a:ea typeface="Calibri" pitchFamily="34" charset="-122"/>
                <a:cs typeface="Calibri" pitchFamily="34" charset="-120"/>
              </a:rPr>
              <a:t>Synthetic data throughout</a:t>
            </a:r>
            <a:endParaRPr lang="en-US" sz="1300" dirty="0"/>
          </a:p>
        </p:txBody>
      </p:sp>
      <p:sp>
        <p:nvSpPr>
          <p:cNvPr id="13" name="Text 11"/>
          <p:cNvSpPr/>
          <p:nvPr/>
        </p:nvSpPr>
        <p:spPr>
          <a:xfrm>
            <a:off x="4800600" y="4617720"/>
            <a:ext cx="6446520" cy="868680"/>
          </a:xfrm>
          <a:prstGeom prst="rect">
            <a:avLst/>
          </a:prstGeom>
          <a:noFill/>
          <a:ln/>
        </p:spPr>
        <p:txBody>
          <a:bodyPr wrap="square" lIns="0" tIns="0" rIns="0" bIns="0" rtlCol="0" anchor="ctr"/>
          <a:lstStyle/>
          <a:p>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Built specifically so I could validate method correctness with a known ground truth — real deployment validates differently, without that luxury.</a:t>
            </a:r>
            <a:endParaRPr lang="en-US" sz="1200" dirty="0"/>
          </a:p>
        </p:txBody>
      </p:sp>
      <p:sp>
        <p:nvSpPr>
          <p:cNvPr id="14" name="Text 12"/>
          <p:cNvSpPr/>
          <p:nvPr/>
        </p:nvSpPr>
        <p:spPr>
          <a:xfrm>
            <a:off x="548640" y="5806440"/>
            <a:ext cx="10881360" cy="68580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That gap between “validated by outcome” and “validated by design, before launch” is exactly what draws me to this role — building the analytical engine where that rigor is the default, not a stretch goal.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828800" y="4114800"/>
            <a:ext cx="5029200" cy="5029200"/>
          </a:xfrm>
          <a:prstGeom prst="ellipse">
            <a:avLst/>
          </a:prstGeom>
          <a:solidFill>
            <a:srgbClr val="2C4870"/>
          </a:solidFill>
          <a:ln/>
        </p:spPr>
      </p:sp>
      <p:sp>
        <p:nvSpPr>
          <p:cNvPr id="3" name="Text 1"/>
          <p:cNvSpPr/>
          <p:nvPr/>
        </p:nvSpPr>
        <p:spPr>
          <a:xfrm>
            <a:off x="640080" y="2286000"/>
            <a:ext cx="9144000" cy="10972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2"/>
          <p:cNvSpPr/>
          <p:nvPr/>
        </p:nvSpPr>
        <p:spPr>
          <a:xfrm>
            <a:off x="640080" y="3291840"/>
            <a:ext cx="960120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Predict → Explain (causally) → Optimize → Act — one decision engine, four layers of rigor.</a:t>
            </a:r>
            <a:endParaRPr lang="en-US" sz="1500" dirty="0"/>
          </a:p>
        </p:txBody>
      </p:sp>
      <p:sp>
        <p:nvSpPr>
          <p:cNvPr id="5" name="Text 3"/>
          <p:cNvSpPr/>
          <p:nvPr/>
        </p:nvSpPr>
        <p:spPr>
          <a:xfrm>
            <a:off x="640080" y="3977640"/>
            <a:ext cx="731520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2026-08-18T06:18:53Z</dcterms:created>
  <dcterms:modified xsi:type="dcterms:W3CDTF">2026-08-18T06:18:53Z</dcterms:modified>
</cp:coreProperties>
</file>