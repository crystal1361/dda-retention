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this as a purpose-built demonstration of the analytical engine this JD calls for: causal inference where randomization isn't feasible, plus formal optimization under uncertainty. Say up front that today's data is synthetic (next slide explains why) and that the project is grounded in real DDA retention work I led, but isn't presented as a literal retrofit of that project's original test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situation from my actual DDA retention work. RMs and the retention team had no forward-looking signal, and the retention motion that did exist wasn't differentiated by WHY someone was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very explicit and upfront here: this is honest framing, not a trick. If asked 'is this the exact project you shipped' -- no, and I don't present it that way. It's a from-scratch analytical engine, built to demonstrate the causal-inference-under-non-randomization plus optimization skillset this JD asks for, using the same real business problem and triggers I actually worked on. The 'analysis plan fixed before looking at outcomes' point matters: it's what separates this from p-hacking a result out of data I already had --  RDD's cutoff, DiD's launch date and comparison groups, and the dormant RCT's holdout design were all decided before computing a single effect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directly to the JD language: 'design the analytical engine... how relationships are modeled... how outputs are generated for decision-making.' Predict/Explain/Optimize is that engine; Act is what turns the engine's output into something a stakeholder can approve. The callout at the bottom is deliberate -- it previews that every causal design from here forward shares one reused business split, so it doesn't look like three separately-invented cutoffs when RDD/DiD/dormant each show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DD stability, and liquidity-need scores dominate, as expected -- and region importance sits at noise level, a good sanity check that the model isn't picking up spurious geography effects. I evaluate by ranking quality, not hard-classification accuracy, because forcing balanced weights on an 89%-none target produces garbage precision numbers that don't reflect how the model is actually used. This layer's job is purely routing: WHICH causal-layer estimate applies to this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what the JD is asking for: causal inference 'in situations where randomized testing is not feasible, practical, or cost-effective.' All three are real, non-randomized business situations, so I pick the quasi-experimental design that fits each one's actual structure rather than forcing one method on all three. The third row is the one place a real experiment IS feasible and cheap -- a small randomized holdout -- so that's what it uses, rather than reaching for an observational method just because the other two triggers needed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check this at all, customers don't know the 30% rule exists' -- that's exactly right, and it's why I don't expect INTENTIONAL gaming. But the McCrary test isn't only a test for intentional gaming; it's a general smoothness check on the running variable's density, which would also catch unrelated sources of bunching that could bias the comparison even without anyone trying to dodge OUR rule specifically. It's also the standard, expected validation step for any RDD -- skipping it is what would actually raise questions. Restricting to HV accounts here matters for external validity too: this estimate speaks to the HV population it was tested on, not a claim about how RM outreach would work on LV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comparison looks almost nothing like the true effect because bigger withdrawals were already higher-risk before any outreach -- that confound roughly cancels out the real negative effect of the call. RDD isolates it by comparing only the narrow window right around the cutoff, where the confound is approximately constant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launches for the whole HV group on ONE calendar month, and LV never gets it in-window -- a plain 2-group, single-adoption-date design, deliberately simpler than a multi-wave rollout. That's a design choice worth being able to defend if asked 'why not stagger it': staggering by tier would have introduced exactly the kind of already-treated-cohort contamination Goodman-Bacon (2021) warns about, and there's no operational reason (RM capacity, say) that requires phasing HERE the way there was for the withdrawal trigger's RM contacts -- an offer code can go out to everyone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the most 'textbook' estimator in the deck, and I say so if asked: with a clean 2-group, single-adoption-date design, there's no staggered-rollout machinery needed -- the four-group-means differencing and the fixed-effects regression are two ways of computing the SAME number, which is itself a good sanity check to show working. If this were a multi-wave rollout instead, I'd reach for a clean-control / stacked estimator or the real Callaway-Sant'Anna package -- worth knowing when you'd need that extra machinery and when you wouldn't.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trigger used to have NO exploitable design at all -- an ops team just decided who to call, based on a mix of signals, which is exactly a selection-on-observables problem an earlier version of this project handled with DoubleML. The redesign here is deliberate: rather than reach for a heavier observational estimator, build the missing randomization directly into the rollout -- a small (10%) holdout is cheap, doesn't meaningfully change who gets helped, and converts an untestable identifying assumption into a directly-testable one. The balance check is what proves the randomization actually worked, not just that it was intended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two tiers are never pooled -- each has its own two-proportion z-test against its own holdout. The LV test has a visibly wider CI and a less extreme z (bring up the backup slide's design-effect table if asked why a 90/10 split still has enough power here -- short answer: it's the ABSOLUTE size of the smaller arm, ~600 accounts, not its SHARE, that sets the precision floor, and 600 is enough to detect an effect this size). If asked why ATT-style framing isn't needed here the way it was for the old DoubleML version: randomization already IS the comparison being asked for -- there's no separate 'effect on the treated' vs. population question when treatment assignment was randomized within the exact population being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multiple-choice knapsack problem, solved with PuLP (CBC solver): each account can get at most one intervention, subject to a total budget and a separate RM-capacity constraint, since RM time -- not dollars -- is actually the binding resource for the withdrawal play. Every effect size here now comes from a design-based estimate with a checked identifying assumption -- RDD's no-manipulation test, DiD's pre-trends test, and the dormant RCT's balance check -- so, unlike an earlier version of this project, there's no separate lower-confidence tier to flag in the objective. If asked when NOT to reach for an ILP: when the decision isn't actually discrete (e.g. setting a continuous discount rate), or when the input effect sizes themselves are too uncertain to trust as point estimates -- you'd want a robust/ distributionally-aware formulation first, not a plain linear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carefully: the heuristic, run without any cap, overspends both the budget and the RM capacity on its own -- that's itself a finding worth surfacing to the business, since it means the original process needed an unwritten manual cap that the optimization now formalizes. The dormant cashback play alone accounts for the majority of the optimizer's total net value ($328k of $405k) -- worth calling out since it's also the play with the most causal-identification headroom gained in this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direct answer to 'so what' -- it's also where I address the weight-formula criticism head on. Rather than asserting the 15% product-value-uplift number is right, I show it doesn't matter much: ranking is nearly identical (Spearman ~0.999) whether it's 10%, 15%, or 20%, and over 98% of the accounts that get prioritized stay prioritized either way. That's the concrete, defensible answer to 'how did you pick that weight' -- I picked a reasonable one and then proved the conclusion doesn't hinge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a Decision Analytics stakeholder actually wants. Point out explicitly, if not asked, that recommendation 3 moved from 'don't scale on this alone, pilot first' in an earlier version of this project to 'scale it, it's high-confidence now' -- that shift is the direct, concrete payoff of redesigning the dormant play as a randomized holdout instead of an observational estimate. I want to be the one pointing out that shift, not waiting to be asked why it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back to the STAR story: the real result stands on its own, and everything in this deck is presented as the analytical engine underneath that kind of program — the part the original A/B test alone couldn't show, not a replacement for what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 honesty, matching how I handled similar gap questions in the real project's prep -- own the gap, and turn it into the motivation for the role rather than hiding it. The external-validity point is the one I'd expect an interviewer with a stats background to probe hardest -- it's a genuine limitation of doing everything through one shared HV/LV split rather than testing every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have the bandwidth-sensitivity numbers, the 2x2 DiD table, and the appendix SE→z→power backup slide ready if asked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bring this slide up if asked to defend the 90/10 split, or asked to derive SE/z/power by hand. The HV tier's own table (not shown) looks even more comfortable since its effect size is larger; LV/SMS is the more conservative case worth having ready. This is the same SE→z→power chain used to originally size the real project's A/B test allocation -- reused here to check the holdout fraction, not just to size a test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2C4870"/>
          </a:solidFill>
          <a:ln/>
        </p:spPr>
      </p:sp>
      <p:sp>
        <p:nvSpPr>
          <p:cNvPr id="3" name="Shape 1"/>
          <p:cNvSpPr/>
          <p:nvPr/>
        </p:nvSpPr>
        <p:spPr>
          <a:xfrm>
            <a:off x="10789920" y="4206240"/>
            <a:ext cx="2926080" cy="2926080"/>
          </a:xfrm>
          <a:prstGeom prst="ellipse">
            <a:avLst/>
          </a:prstGeom>
          <a:solidFill>
            <a:srgbClr val="C1613C"/>
          </a:solidFill>
          <a:ln/>
        </p:spPr>
      </p:sp>
      <p:sp>
        <p:nvSpPr>
          <p:cNvPr id="4" name="Text 2"/>
          <p:cNvSpPr/>
          <p:nvPr/>
        </p:nvSpPr>
        <p:spPr>
          <a:xfrm>
            <a:off x="640080" y="1417320"/>
            <a:ext cx="9144000"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DDA RETENTION  ·  DECISION ANALYTICS</a:t>
            </a:r>
            <a:endParaRPr lang="en-US" sz="1300" dirty="0"/>
          </a:p>
        </p:txBody>
      </p:sp>
      <p:sp>
        <p:nvSpPr>
          <p:cNvPr id="5" name="Text 3"/>
          <p:cNvSpPr/>
          <p:nvPr/>
        </p:nvSpPr>
        <p:spPr>
          <a:xfrm>
            <a:off x="640080" y="1874520"/>
            <a:ext cx="9875520" cy="192024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From a Heuristic Rule to a</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Causal, Optimized Decision Engine</a:t>
            </a:r>
            <a:endParaRPr lang="en-US" sz="4000" dirty="0"/>
          </a:p>
        </p:txBody>
      </p:sp>
      <p:sp>
        <p:nvSpPr>
          <p:cNvPr id="6" name="Text 4"/>
          <p:cNvSpPr/>
          <p:nvPr/>
        </p:nvSpPr>
        <p:spPr>
          <a:xfrm>
            <a:off x="640080" y="3703320"/>
            <a:ext cx="9875520" cy="82296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decision engine built with quasi-experimental causal inference (sharp RDD, 2-group DiD, and a tier-stratified randomized-holdout RCT) plus formal ILP budget optimization, translated into quantified, actionable business impact</a:t>
            </a:r>
            <a:endParaRPr lang="en-US" sz="1500" dirty="0"/>
          </a:p>
        </p:txBody>
      </p:sp>
      <p:sp>
        <p:nvSpPr>
          <p:cNvPr id="7" name="Text 5"/>
          <p:cNvSpPr/>
          <p:nvPr/>
        </p:nvSpPr>
        <p:spPr>
          <a:xfrm>
            <a:off x="640080" y="5989320"/>
            <a:ext cx="9144000" cy="365760"/>
          </a:xfrm>
          <a:prstGeom prst="rect">
            <a:avLst/>
          </a:prstGeom>
          <a:noFill/>
          <a:ln/>
        </p:spPr>
        <p:txBody>
          <a:bodyPr wrap="square" lIns="0" tIns="0" rIns="0" bIns="0" rtlCol="0" anchor="ctr"/>
          <a:lstStyle/>
          <a:p>
            <a:pPr indent="0" marL="0">
              <a:buNone/>
            </a:pPr>
            <a:r>
              <a:rPr lang="en-US" sz="1200" dirty="0">
                <a:solidFill>
                  <a:srgbClr val="5B6B8C"/>
                </a:solidFill>
                <a:latin typeface="Calibri" pitchFamily="34" charset="0"/>
                <a:ea typeface="Calibri" pitchFamily="34" charset="-122"/>
                <a:cs typeface="Calibri" pitchFamily="34" charset="-120"/>
              </a:rPr>
              <a:t>Presented for: Data Analyst, Senior Specialist / Data Scientist — Decision Analytics &amp; Modeling, Vanguard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SITUATION</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We were losing checking accounts —</a:t>
            </a:r>
            <a:endParaRPr lang="en-US" sz="2800" dirty="0"/>
          </a:p>
          <a:p>
            <a:pPr indent="0" marL="0">
              <a:buNone/>
            </a:pPr>
            <a:r>
              <a:rPr lang="en-US" sz="2800" b="1" dirty="0">
                <a:solidFill>
                  <a:srgbClr val="1E2761"/>
                </a:solidFill>
                <a:latin typeface="Cambria" pitchFamily="34" charset="0"/>
                <a:ea typeface="Cambria" pitchFamily="34" charset="-122"/>
                <a:cs typeface="Cambria" pitchFamily="34" charset="-120"/>
              </a:rPr>
              <a:t>and only found out after they'd already closed</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640080" y="2103120"/>
            <a:ext cx="457200" cy="457200"/>
          </a:xfrm>
          <a:prstGeom prst="ellipse">
            <a:avLst/>
          </a:prstGeom>
          <a:solidFill>
            <a:srgbClr val="2C4870"/>
          </a:solidFill>
          <a:ln/>
        </p:spPr>
      </p:sp>
      <p:sp>
        <p:nvSpPr>
          <p:cNvPr id="6" name="Text 4"/>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25880" y="2057400"/>
            <a:ext cx="96012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No early-warning system</a:t>
            </a:r>
            <a:endParaRPr lang="en-US" sz="1700" dirty="0"/>
          </a:p>
        </p:txBody>
      </p:sp>
      <p:sp>
        <p:nvSpPr>
          <p:cNvPr id="8" name="Text 6"/>
          <p:cNvSpPr/>
          <p:nvPr/>
        </p:nvSpPr>
        <p:spPr>
          <a:xfrm>
            <a:off x="1325880" y="2450592"/>
            <a:ext cx="969264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Attrition was visible only in the rear-view mirror: the account was already closed by the time it showed up in a report.</a:t>
            </a:r>
            <a:endParaRPr lang="en-US" sz="1300" dirty="0"/>
          </a:p>
        </p:txBody>
      </p:sp>
      <p:sp>
        <p:nvSpPr>
          <p:cNvPr id="9" name="Shape 7"/>
          <p:cNvSpPr/>
          <p:nvPr/>
        </p:nvSpPr>
        <p:spPr>
          <a:xfrm>
            <a:off x="640080" y="3474720"/>
            <a:ext cx="457200" cy="457200"/>
          </a:xfrm>
          <a:prstGeom prst="ellipse">
            <a:avLst/>
          </a:prstGeom>
          <a:solidFill>
            <a:srgbClr val="2C4870"/>
          </a:solidFill>
          <a:ln/>
        </p:spPr>
      </p:sp>
      <p:sp>
        <p:nvSpPr>
          <p:cNvPr id="10" name="Text 8"/>
          <p:cNvSpPr/>
          <p:nvPr/>
        </p:nvSpPr>
        <p:spPr>
          <a:xfrm>
            <a:off x="640080" y="3474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1325880" y="3429000"/>
            <a:ext cx="96012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One-size-fits-all retention</a:t>
            </a:r>
            <a:endParaRPr lang="en-US" sz="1700" dirty="0"/>
          </a:p>
        </p:txBody>
      </p:sp>
      <p:sp>
        <p:nvSpPr>
          <p:cNvPr id="12" name="Text 10"/>
          <p:cNvSpPr/>
          <p:nvPr/>
        </p:nvSpPr>
        <p:spPr>
          <a:xfrm>
            <a:off x="1325880" y="3822192"/>
            <a:ext cx="969264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Every at-risk account got the same generic outreach, regardless of why it was actually at risk.</a:t>
            </a:r>
            <a:endParaRPr lang="en-US" sz="1300" dirty="0"/>
          </a:p>
        </p:txBody>
      </p:sp>
      <p:sp>
        <p:nvSpPr>
          <p:cNvPr id="13" name="Shape 11"/>
          <p:cNvSpPr/>
          <p:nvPr/>
        </p:nvSpPr>
        <p:spPr>
          <a:xfrm>
            <a:off x="640080" y="4846320"/>
            <a:ext cx="457200" cy="457200"/>
          </a:xfrm>
          <a:prstGeom prst="ellipse">
            <a:avLst/>
          </a:prstGeom>
          <a:solidFill>
            <a:srgbClr val="2C4870"/>
          </a:solidFill>
          <a:ln/>
        </p:spPr>
      </p:sp>
      <p:sp>
        <p:nvSpPr>
          <p:cNvPr id="14" name="Text 12"/>
          <p:cNvSpPr/>
          <p:nvPr/>
        </p:nvSpPr>
        <p:spPr>
          <a:xfrm>
            <a:off x="640080" y="4846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325880" y="4800600"/>
            <a:ext cx="96012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DDA is the low-cost funding base</a:t>
            </a:r>
            <a:endParaRPr lang="en-US" sz="1700" dirty="0"/>
          </a:p>
        </p:txBody>
      </p:sp>
      <p:sp>
        <p:nvSpPr>
          <p:cNvPr id="16" name="Text 14"/>
          <p:cNvSpPr/>
          <p:nvPr/>
        </p:nvSpPr>
        <p:spPr>
          <a:xfrm>
            <a:off x="1325880" y="5193792"/>
            <a:ext cx="9692640" cy="640080"/>
          </a:xfrm>
          <a:prstGeom prst="rect">
            <a:avLst/>
          </a:prstGeom>
          <a:noFill/>
          <a:ln/>
        </p:spPr>
        <p:txBody>
          <a:bodyPr wrap="square" lIns="0" tIns="0" rIns="0" bIns="0" rtlCol="0" anchor="ctr"/>
          <a:lstStyle/>
          <a:p>
            <a:pPr indent="0" marL="0">
              <a:buNone/>
            </a:pPr>
            <a:r>
              <a:rPr lang="en-US" sz="1300" dirty="0">
                <a:solidFill>
                  <a:srgbClr val="5B6B8C"/>
                </a:solidFill>
                <a:latin typeface="Calibri" pitchFamily="34" charset="0"/>
                <a:ea typeface="Calibri" pitchFamily="34" charset="-122"/>
                <a:cs typeface="Calibri" pitchFamily="34" charset="-120"/>
              </a:rPr>
              <a:t>Every checking relationship lost isn't just a balance — it's lifetime value and future cross-sell, gone.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TASK — HOW TO READ WHAT YOU'RE ABOUT TO SEE</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Grounded in a real retention problem;</a:t>
            </a:r>
            <a:endParaRPr lang="en-US" sz="2800" dirty="0"/>
          </a:p>
          <a:p>
            <a:pPr indent="0" marL="0">
              <a:buNone/>
            </a:pPr>
            <a:r>
              <a:rPr lang="en-US" sz="2800" b="1" dirty="0">
                <a:solidFill>
                  <a:srgbClr val="1E2761"/>
                </a:solidFill>
                <a:latin typeface="Cambria" pitchFamily="34" charset="0"/>
                <a:ea typeface="Cambria" pitchFamily="34" charset="-122"/>
                <a:cs typeface="Cambria" pitchFamily="34" charset="-120"/>
              </a:rPr>
              <a:t>built, end to end, to demonstrate this role's engine</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2011680"/>
            <a:ext cx="5394960" cy="3977640"/>
          </a:xfrm>
          <a:prstGeom prst="roundRect">
            <a:avLst>
              <a:gd name="adj" fmla="val 1839"/>
            </a:avLst>
          </a:prstGeom>
          <a:solidFill>
            <a:srgbClr val="EEF3FC"/>
          </a:solidFill>
          <a:ln/>
        </p:spPr>
      </p:sp>
      <p:sp>
        <p:nvSpPr>
          <p:cNvPr id="6" name="Text 4"/>
          <p:cNvSpPr/>
          <p:nvPr/>
        </p:nvSpPr>
        <p:spPr>
          <a:xfrm>
            <a:off x="868680" y="2240280"/>
            <a:ext cx="475488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WHAT'S REAL</a:t>
            </a:r>
            <a:endParaRPr lang="en-US" sz="1200" dirty="0"/>
          </a:p>
        </p:txBody>
      </p:sp>
      <p:sp>
        <p:nvSpPr>
          <p:cNvPr id="7" name="Text 5"/>
          <p:cNvSpPr/>
          <p:nvPr/>
        </p:nvSpPr>
        <p:spPr>
          <a:xfrm>
            <a:off x="868680" y="2651760"/>
            <a:ext cx="4754880" cy="32004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50" dirty="0">
                <a:solidFill>
                  <a:srgbClr val="1E2761"/>
                </a:solidFill>
                <a:latin typeface="Calibri" pitchFamily="34" charset="0"/>
                <a:ea typeface="Calibri" pitchFamily="34" charset="-122"/>
                <a:cs typeface="Calibri" pitchFamily="34" charset="-120"/>
              </a:rPr>
              <a:t>The business problem: DDA churn, no early warning, undifferentiated outreach</a:t>
            </a:r>
            <a:endParaRPr lang="en-US" sz="1250" dirty="0"/>
          </a:p>
          <a:p>
            <a:pPr marL="342900" indent="-342900">
              <a:lnSpc>
                <a:spcPct val="115000"/>
              </a:lnSpc>
              <a:spcAft>
                <a:spcPts val="800"/>
              </a:spcAft>
              <a:buSzPct val="100000"/>
              <a:buChar char="•"/>
            </a:pPr>
            <a:r>
              <a:rPr lang="en-US" sz="1250" dirty="0">
                <a:solidFill>
                  <a:srgbClr val="1E2761"/>
                </a:solidFill>
                <a:latin typeface="Calibri" pitchFamily="34" charset="0"/>
                <a:ea typeface="Calibri" pitchFamily="34" charset="-122"/>
                <a:cs typeface="Calibri" pitchFamily="34" charset="-120"/>
              </a:rPr>
              <a:t>The three churn triggers (large withdrawal, DD stop, dormancy) and the multi-class predictive layer that routes each account to the right playbook</a:t>
            </a:r>
            <a:endParaRPr lang="en-US" sz="1250" dirty="0"/>
          </a:p>
          <a:p>
            <a:pPr marL="342900" indent="-342900">
              <a:lnSpc>
                <a:spcPct val="115000"/>
              </a:lnSpc>
              <a:spcAft>
                <a:spcPts val="800"/>
              </a:spcAft>
              <a:buSzPct val="100000"/>
              <a:buChar char="•"/>
            </a:pPr>
            <a:r>
              <a:rPr lang="en-US" sz="1250" dirty="0">
                <a:solidFill>
                  <a:srgbClr val="1E2761"/>
                </a:solidFill>
                <a:latin typeface="Calibri" pitchFamily="34" charset="0"/>
                <a:ea typeface="Calibri" pitchFamily="34" charset="-122"/>
                <a:cs typeface="Calibri" pitchFamily="34" charset="-120"/>
              </a:rPr>
              <a:t>The retention economics — funded outreach only pencils out above a value cutoff; below it, cheaper touches make more sense (see slide 4)</a:t>
            </a:r>
            <a:endParaRPr lang="en-US" sz="1250" dirty="0"/>
          </a:p>
        </p:txBody>
      </p:sp>
      <p:sp>
        <p:nvSpPr>
          <p:cNvPr id="8" name="Shape 6"/>
          <p:cNvSpPr/>
          <p:nvPr/>
        </p:nvSpPr>
        <p:spPr>
          <a:xfrm>
            <a:off x="6217920" y="2011680"/>
            <a:ext cx="5394960" cy="3977640"/>
          </a:xfrm>
          <a:prstGeom prst="roundRect">
            <a:avLst>
              <a:gd name="adj" fmla="val 1839"/>
            </a:avLst>
          </a:prstGeom>
          <a:solidFill>
            <a:srgbClr val="1E2761"/>
          </a:solidFill>
          <a:ln/>
        </p:spPr>
      </p:sp>
      <p:sp>
        <p:nvSpPr>
          <p:cNvPr id="9" name="Text 7"/>
          <p:cNvSpPr/>
          <p:nvPr/>
        </p:nvSpPr>
        <p:spPr>
          <a:xfrm>
            <a:off x="6537960" y="2240280"/>
            <a:ext cx="475488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WHAT'S PURPOSE-BUILT FOR THIS ROLE</a:t>
            </a:r>
            <a:endParaRPr lang="en-US" sz="1200" dirty="0"/>
          </a:p>
        </p:txBody>
      </p:sp>
      <p:sp>
        <p:nvSpPr>
          <p:cNvPr id="10" name="Text 8"/>
          <p:cNvSpPr/>
          <p:nvPr/>
        </p:nvSpPr>
        <p:spPr>
          <a:xfrm>
            <a:off x="6537960" y="2651760"/>
            <a:ext cx="4754880" cy="32004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Everything from here on — the RDD, the DiD, the randomized dormant-play holdout, the ILP optimizer, and the business-impact translation — was designed from scratch on synthetic data (known account data can't leave the bank, or be posted to a public repo)</a:t>
            </a:r>
            <a:endParaRPr lang="en-US" sz="1250" dirty="0"/>
          </a:p>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No extra A/B test was proposed. Instead: for each trigger, the analysis plan was fixed FIRST — which comparison, which population, which test — before ever looking at outcomes, the same discipline as pre-registration</a:t>
            </a:r>
            <a:endParaRPr lang="en-US" sz="1250" dirty="0"/>
          </a:p>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The DD-stop offer and both dormant plays roll out to everyone eligible in-window; only a small randomized holdout is withheld, purely for measurement — nothing is delayed or denied just to run a test</a:t>
            </a:r>
            <a:endParaRPr lang="en-US" sz="1250" dirty="0"/>
          </a:p>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Because the ground truth is injected, every method here can be graded against a known answer before I'd ever trust it on a real decision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APPROACH</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One decision engine, four layers — each one earning its place in the final call</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2103120"/>
            <a:ext cx="2670048" cy="3017520"/>
          </a:xfrm>
          <a:prstGeom prst="roundRect">
            <a:avLst>
              <a:gd name="adj" fmla="val 2740"/>
            </a:avLst>
          </a:prstGeom>
          <a:solidFill>
            <a:srgbClr val="EEF3FC"/>
          </a:solidFill>
          <a:ln/>
        </p:spPr>
      </p:sp>
      <p:sp>
        <p:nvSpPr>
          <p:cNvPr id="6" name="Shape 4"/>
          <p:cNvSpPr/>
          <p:nvPr/>
        </p:nvSpPr>
        <p:spPr>
          <a:xfrm>
            <a:off x="777240" y="2359152"/>
            <a:ext cx="457200" cy="457200"/>
          </a:xfrm>
          <a:prstGeom prst="ellipse">
            <a:avLst/>
          </a:prstGeom>
          <a:solidFill>
            <a:srgbClr val="2C4870"/>
          </a:solidFill>
          <a:ln/>
        </p:spPr>
      </p:sp>
      <p:sp>
        <p:nvSpPr>
          <p:cNvPr id="7" name="Text 5"/>
          <p:cNvSpPr/>
          <p:nvPr/>
        </p:nvSpPr>
        <p:spPr>
          <a:xfrm>
            <a:off x="777240" y="23591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77240" y="2962656"/>
            <a:ext cx="221284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PREDICT</a:t>
            </a:r>
            <a:endParaRPr lang="en-US" sz="1450" dirty="0"/>
          </a:p>
        </p:txBody>
      </p:sp>
      <p:sp>
        <p:nvSpPr>
          <p:cNvPr id="9" name="Text 7"/>
          <p:cNvSpPr/>
          <p:nvPr/>
        </p:nvSpPr>
        <p:spPr>
          <a:xfrm>
            <a:off x="777240" y="3474720"/>
            <a:ext cx="2212848" cy="1508760"/>
          </a:xfrm>
          <a:prstGeom prst="rect">
            <a:avLst/>
          </a:prstGeom>
          <a:noFill/>
          <a:ln/>
        </p:spPr>
        <p:txBody>
          <a:bodyPr wrap="square" lIns="0" tIns="0" rIns="0" bIns="0" rtlCol="0" anchor="ctr"/>
          <a:lstStyle/>
          <a:p>
            <a:pPr indent="0" marL="0">
              <a:lnSpc>
                <a:spcPct val="118000"/>
              </a:lnSpc>
              <a:buNone/>
            </a:pPr>
            <a:r>
              <a:rPr lang="en-US" sz="1100" dirty="0">
                <a:solidFill>
                  <a:srgbClr val="5B6B8C"/>
                </a:solidFill>
                <a:latin typeface="Calibri" pitchFamily="34" charset="0"/>
                <a:ea typeface="Calibri" pitchFamily="34" charset="-122"/>
                <a:cs typeface="Calibri" pitchFamily="34" charset="-120"/>
              </a:rPr>
              <a:t>Which churn mode is this account heading toward? Routes each account to the right causal layer.</a:t>
            </a:r>
            <a:endParaRPr lang="en-US" sz="1100" dirty="0"/>
          </a:p>
        </p:txBody>
      </p:sp>
      <p:sp>
        <p:nvSpPr>
          <p:cNvPr id="10" name="Text 8"/>
          <p:cNvSpPr/>
          <p:nvPr/>
        </p:nvSpPr>
        <p:spPr>
          <a:xfrm>
            <a:off x="3227832" y="3291840"/>
            <a:ext cx="201168" cy="548640"/>
          </a:xfrm>
          <a:prstGeom prst="rect">
            <a:avLst/>
          </a:prstGeom>
          <a:noFill/>
          <a:ln/>
        </p:spPr>
        <p:txBody>
          <a:bodyPr wrap="square" lIns="0" tIns="0" rIns="0" bIns="0" rtlCol="0" anchor="ctr"/>
          <a:lstStyle/>
          <a:p>
            <a:pPr algn="ctr" indent="0" marL="0">
              <a:buNone/>
            </a:pPr>
            <a:r>
              <a:rPr lang="en-US" sz="2200" b="1" dirty="0">
                <a:solidFill>
                  <a:srgbClr val="C1613C"/>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3438144" y="2103120"/>
            <a:ext cx="2670048" cy="3017520"/>
          </a:xfrm>
          <a:prstGeom prst="roundRect">
            <a:avLst>
              <a:gd name="adj" fmla="val 2740"/>
            </a:avLst>
          </a:prstGeom>
          <a:solidFill>
            <a:srgbClr val="EEF3FC"/>
          </a:solidFill>
          <a:ln/>
        </p:spPr>
      </p:sp>
      <p:sp>
        <p:nvSpPr>
          <p:cNvPr id="12" name="Shape 10"/>
          <p:cNvSpPr/>
          <p:nvPr/>
        </p:nvSpPr>
        <p:spPr>
          <a:xfrm>
            <a:off x="3666744" y="2359152"/>
            <a:ext cx="457200" cy="457200"/>
          </a:xfrm>
          <a:prstGeom prst="ellipse">
            <a:avLst/>
          </a:prstGeom>
          <a:solidFill>
            <a:srgbClr val="C1613C"/>
          </a:solidFill>
          <a:ln/>
        </p:spPr>
      </p:sp>
      <p:sp>
        <p:nvSpPr>
          <p:cNvPr id="13" name="Text 11"/>
          <p:cNvSpPr/>
          <p:nvPr/>
        </p:nvSpPr>
        <p:spPr>
          <a:xfrm>
            <a:off x="3666744" y="23591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3666744" y="2962656"/>
            <a:ext cx="221284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EXPLAIN</a:t>
            </a:r>
            <a:endParaRPr lang="en-US" sz="1450" dirty="0"/>
          </a:p>
          <a:p>
            <a:pPr indent="0" marL="0">
              <a:buNone/>
            </a:pPr>
            <a:r>
              <a:rPr lang="en-US" sz="1450" b="1" dirty="0">
                <a:solidFill>
                  <a:srgbClr val="1E2761"/>
                </a:solidFill>
                <a:latin typeface="Cambria" pitchFamily="34" charset="0"/>
                <a:ea typeface="Cambria" pitchFamily="34" charset="-122"/>
                <a:cs typeface="Cambria" pitchFamily="34" charset="-120"/>
              </a:rPr>
              <a:t>(CAUSAL)</a:t>
            </a:r>
            <a:endParaRPr lang="en-US" sz="1450" dirty="0"/>
          </a:p>
        </p:txBody>
      </p:sp>
      <p:sp>
        <p:nvSpPr>
          <p:cNvPr id="15" name="Text 13"/>
          <p:cNvSpPr/>
          <p:nvPr/>
        </p:nvSpPr>
        <p:spPr>
          <a:xfrm>
            <a:off x="3666744" y="3474720"/>
            <a:ext cx="2212848" cy="1508760"/>
          </a:xfrm>
          <a:prstGeom prst="rect">
            <a:avLst/>
          </a:prstGeom>
          <a:noFill/>
          <a:ln/>
        </p:spPr>
        <p:txBody>
          <a:bodyPr wrap="square" lIns="0" tIns="0" rIns="0" bIns="0" rtlCol="0" anchor="ctr"/>
          <a:lstStyle/>
          <a:p>
            <a:pPr indent="0" marL="0">
              <a:lnSpc>
                <a:spcPct val="118000"/>
              </a:lnSpc>
              <a:buNone/>
            </a:pPr>
            <a:r>
              <a:rPr lang="en-US" sz="1100" dirty="0">
                <a:solidFill>
                  <a:srgbClr val="5B6B8C"/>
                </a:solidFill>
                <a:latin typeface="Calibri" pitchFamily="34" charset="0"/>
                <a:ea typeface="Calibri" pitchFamily="34" charset="-122"/>
                <a:cs typeface="Calibri" pitchFamily="34" charset="-120"/>
              </a:rPr>
              <a:t>Sharp RDD, 2-group DiD, tier-stratified randomized-holdout RCT: the true effect of each intervention, isolated from confounds.</a:t>
            </a:r>
            <a:endParaRPr lang="en-US" sz="1100" dirty="0"/>
          </a:p>
        </p:txBody>
      </p:sp>
      <p:sp>
        <p:nvSpPr>
          <p:cNvPr id="16" name="Text 14"/>
          <p:cNvSpPr/>
          <p:nvPr/>
        </p:nvSpPr>
        <p:spPr>
          <a:xfrm>
            <a:off x="6117336" y="3291840"/>
            <a:ext cx="201168" cy="548640"/>
          </a:xfrm>
          <a:prstGeom prst="rect">
            <a:avLst/>
          </a:prstGeom>
          <a:noFill/>
          <a:ln/>
        </p:spPr>
        <p:txBody>
          <a:bodyPr wrap="square" lIns="0" tIns="0" rIns="0" bIns="0" rtlCol="0" anchor="ctr"/>
          <a:lstStyle/>
          <a:p>
            <a:pPr algn="ctr" indent="0" marL="0">
              <a:buNone/>
            </a:pPr>
            <a:r>
              <a:rPr lang="en-US" sz="2200" b="1" dirty="0">
                <a:solidFill>
                  <a:srgbClr val="C1613C"/>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6327648" y="2103120"/>
            <a:ext cx="2670048" cy="3017520"/>
          </a:xfrm>
          <a:prstGeom prst="roundRect">
            <a:avLst>
              <a:gd name="adj" fmla="val 2740"/>
            </a:avLst>
          </a:prstGeom>
          <a:solidFill>
            <a:srgbClr val="EEF3FC"/>
          </a:solidFill>
          <a:ln/>
        </p:spPr>
      </p:sp>
      <p:sp>
        <p:nvSpPr>
          <p:cNvPr id="18" name="Shape 16"/>
          <p:cNvSpPr/>
          <p:nvPr/>
        </p:nvSpPr>
        <p:spPr>
          <a:xfrm>
            <a:off x="6556248" y="2359152"/>
            <a:ext cx="457200" cy="457200"/>
          </a:xfrm>
          <a:prstGeom prst="ellipse">
            <a:avLst/>
          </a:prstGeom>
          <a:solidFill>
            <a:srgbClr val="2C4870"/>
          </a:solidFill>
          <a:ln/>
        </p:spPr>
      </p:sp>
      <p:sp>
        <p:nvSpPr>
          <p:cNvPr id="19" name="Text 17"/>
          <p:cNvSpPr/>
          <p:nvPr/>
        </p:nvSpPr>
        <p:spPr>
          <a:xfrm>
            <a:off x="6556248" y="23591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p:nvPr/>
        </p:nvSpPr>
        <p:spPr>
          <a:xfrm>
            <a:off x="6556248" y="2962656"/>
            <a:ext cx="221284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OPTIMIZE</a:t>
            </a:r>
            <a:endParaRPr lang="en-US" sz="1450" dirty="0"/>
          </a:p>
        </p:txBody>
      </p:sp>
      <p:sp>
        <p:nvSpPr>
          <p:cNvPr id="21" name="Text 19"/>
          <p:cNvSpPr/>
          <p:nvPr/>
        </p:nvSpPr>
        <p:spPr>
          <a:xfrm>
            <a:off x="6556248" y="3474720"/>
            <a:ext cx="2212848" cy="1508760"/>
          </a:xfrm>
          <a:prstGeom prst="rect">
            <a:avLst/>
          </a:prstGeom>
          <a:noFill/>
          <a:ln/>
        </p:spPr>
        <p:txBody>
          <a:bodyPr wrap="square" lIns="0" tIns="0" rIns="0" bIns="0" rtlCol="0" anchor="ctr"/>
          <a:lstStyle/>
          <a:p>
            <a:pPr indent="0" marL="0">
              <a:lnSpc>
                <a:spcPct val="118000"/>
              </a:lnSpc>
              <a:buNone/>
            </a:pPr>
            <a:r>
              <a:rPr lang="en-US" sz="1100" dirty="0">
                <a:solidFill>
                  <a:srgbClr val="5B6B8C"/>
                </a:solidFill>
                <a:latin typeface="Calibri" pitchFamily="34" charset="0"/>
                <a:ea typeface="Calibri" pitchFamily="34" charset="-122"/>
                <a:cs typeface="Calibri" pitchFamily="34" charset="-120"/>
              </a:rPr>
              <a:t>Budget &amp; capacity-constrained ILP: given real effects and real costs, who gets what, this month?</a:t>
            </a:r>
            <a:endParaRPr lang="en-US" sz="1100" dirty="0"/>
          </a:p>
        </p:txBody>
      </p:sp>
      <p:sp>
        <p:nvSpPr>
          <p:cNvPr id="22" name="Text 20"/>
          <p:cNvSpPr/>
          <p:nvPr/>
        </p:nvSpPr>
        <p:spPr>
          <a:xfrm>
            <a:off x="9006840" y="3291840"/>
            <a:ext cx="201168" cy="548640"/>
          </a:xfrm>
          <a:prstGeom prst="rect">
            <a:avLst/>
          </a:prstGeom>
          <a:noFill/>
          <a:ln/>
        </p:spPr>
        <p:txBody>
          <a:bodyPr wrap="square" lIns="0" tIns="0" rIns="0" bIns="0" rtlCol="0" anchor="ctr"/>
          <a:lstStyle/>
          <a:p>
            <a:pPr algn="ctr" indent="0" marL="0">
              <a:buNone/>
            </a:pPr>
            <a:r>
              <a:rPr lang="en-US" sz="2200" b="1" dirty="0">
                <a:solidFill>
                  <a:srgbClr val="C1613C"/>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9217152" y="2103120"/>
            <a:ext cx="2670048" cy="3017520"/>
          </a:xfrm>
          <a:prstGeom prst="roundRect">
            <a:avLst>
              <a:gd name="adj" fmla="val 2740"/>
            </a:avLst>
          </a:prstGeom>
          <a:solidFill>
            <a:srgbClr val="EEF3FC"/>
          </a:solidFill>
          <a:ln/>
        </p:spPr>
      </p:sp>
      <p:sp>
        <p:nvSpPr>
          <p:cNvPr id="24" name="Shape 22"/>
          <p:cNvSpPr/>
          <p:nvPr/>
        </p:nvSpPr>
        <p:spPr>
          <a:xfrm>
            <a:off x="9445752" y="2359152"/>
            <a:ext cx="457200" cy="457200"/>
          </a:xfrm>
          <a:prstGeom prst="ellipse">
            <a:avLst/>
          </a:prstGeom>
          <a:solidFill>
            <a:srgbClr val="2C4870"/>
          </a:solidFill>
          <a:ln/>
        </p:spPr>
      </p:sp>
      <p:sp>
        <p:nvSpPr>
          <p:cNvPr id="25" name="Text 23"/>
          <p:cNvSpPr/>
          <p:nvPr/>
        </p:nvSpPr>
        <p:spPr>
          <a:xfrm>
            <a:off x="9445752" y="23591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6" name="Text 24"/>
          <p:cNvSpPr/>
          <p:nvPr/>
        </p:nvSpPr>
        <p:spPr>
          <a:xfrm>
            <a:off x="9445752" y="2962656"/>
            <a:ext cx="2212848" cy="50292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ACT</a:t>
            </a:r>
            <a:endParaRPr lang="en-US" sz="1450" dirty="0"/>
          </a:p>
        </p:txBody>
      </p:sp>
      <p:sp>
        <p:nvSpPr>
          <p:cNvPr id="27" name="Text 25"/>
          <p:cNvSpPr/>
          <p:nvPr/>
        </p:nvSpPr>
        <p:spPr>
          <a:xfrm>
            <a:off x="9445752" y="3474720"/>
            <a:ext cx="2212848" cy="1508760"/>
          </a:xfrm>
          <a:prstGeom prst="rect">
            <a:avLst/>
          </a:prstGeom>
          <a:noFill/>
          <a:ln/>
        </p:spPr>
        <p:txBody>
          <a:bodyPr wrap="square" lIns="0" tIns="0" rIns="0" bIns="0" rtlCol="0" anchor="ctr"/>
          <a:lstStyle/>
          <a:p>
            <a:pPr indent="0" marL="0">
              <a:lnSpc>
                <a:spcPct val="118000"/>
              </a:lnSpc>
              <a:buNone/>
            </a:pPr>
            <a:r>
              <a:rPr lang="en-US" sz="1100" dirty="0">
                <a:solidFill>
                  <a:srgbClr val="5B6B8C"/>
                </a:solidFill>
                <a:latin typeface="Calibri" pitchFamily="34" charset="0"/>
                <a:ea typeface="Calibri" pitchFamily="34" charset="-122"/>
                <a:cs typeface="Calibri" pitchFamily="34" charset="-120"/>
              </a:rPr>
              <a:t>Tiered, quantified recommendations a stakeholder can approve and a team can execute.</a:t>
            </a:r>
            <a:endParaRPr lang="en-US" sz="1100" dirty="0"/>
          </a:p>
        </p:txBody>
      </p:sp>
      <p:sp>
        <p:nvSpPr>
          <p:cNvPr id="28" name="Shape 26"/>
          <p:cNvSpPr/>
          <p:nvPr/>
        </p:nvSpPr>
        <p:spPr>
          <a:xfrm>
            <a:off x="548640" y="5349240"/>
            <a:ext cx="10881360" cy="1051560"/>
          </a:xfrm>
          <a:prstGeom prst="roundRect">
            <a:avLst>
              <a:gd name="adj" fmla="val 6087"/>
            </a:avLst>
          </a:prstGeom>
          <a:solidFill>
            <a:srgbClr val="1E2761"/>
          </a:solidFill>
          <a:ln/>
        </p:spPr>
      </p:sp>
      <p:sp>
        <p:nvSpPr>
          <p:cNvPr id="29" name="Text 27"/>
          <p:cNvSpPr/>
          <p:nvPr/>
        </p:nvSpPr>
        <p:spPr>
          <a:xfrm>
            <a:off x="822960" y="5486400"/>
            <a:ext cx="2743200" cy="777240"/>
          </a:xfrm>
          <a:prstGeom prst="rect">
            <a:avLst/>
          </a:prstGeom>
          <a:noFill/>
          <a:ln/>
        </p:spPr>
        <p:txBody>
          <a:bodyPr wrap="square" lIns="0" tIns="0" rIns="0" bIns="0" rtlCol="0" anchor="ctr"/>
          <a:lstStyle/>
          <a:p>
            <a:pPr indent="0" marL="0">
              <a:buNone/>
            </a:pPr>
            <a:r>
              <a:rPr lang="en-US" sz="1150" b="1" spc="100" kern="0" dirty="0">
                <a:solidFill>
                  <a:srgbClr val="C1613C"/>
                </a:solidFill>
                <a:latin typeface="Calibri" pitchFamily="34" charset="0"/>
                <a:ea typeface="Calibri" pitchFamily="34" charset="-122"/>
                <a:cs typeface="Calibri" pitchFamily="34" charset="-120"/>
              </a:rPr>
              <a:t>ONE SPLIT, REUSED EVERYWHERE</a:t>
            </a:r>
            <a:endParaRPr lang="en-US" sz="1150" dirty="0"/>
          </a:p>
        </p:txBody>
      </p:sp>
      <p:sp>
        <p:nvSpPr>
          <p:cNvPr id="30" name="Text 28"/>
          <p:cNvSpPr/>
          <p:nvPr/>
        </p:nvSpPr>
        <p:spPr>
          <a:xfrm>
            <a:off x="3611880" y="5440680"/>
            <a:ext cx="7680960" cy="914400"/>
          </a:xfrm>
          <a:prstGeom prst="rect">
            <a:avLst/>
          </a:prstGeom>
          <a:noFill/>
          <a:ln/>
        </p:spPr>
        <p:txBody>
          <a:bodyPr wrap="square" lIns="0" tIns="0" rIns="0" bIns="0" rtlCol="0" anchor="ctr"/>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RDD's population, DiD's treated/control groups, and both dormant-play RCT arms all use the SAME high-value / low-value account split (top/bottom 50% by account_value) — a business ROI cutoff, not a statistical one (next slide). One reused definition of "who's worth a funded intervention," instead of three separately-justified cutoffs.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LAYER 1 — PREDICT</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Which way is this account most likely to churn?</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pic>
        <p:nvPicPr>
          <p:cNvPr id="5" name="Image 0" descr="/root/vanguard_dda_project/figures/feature_importance.png">    </p:cNvPr>
          <p:cNvPicPr>
            <a:picLocks noChangeAspect="1"/>
          </p:cNvPicPr>
          <p:nvPr/>
        </p:nvPicPr>
        <p:blipFill>
          <a:blip r:embed="rId1"/>
          <a:stretch>
            <a:fillRect/>
          </a:stretch>
        </p:blipFill>
        <p:spPr>
          <a:xfrm>
            <a:off x="548640" y="1965960"/>
            <a:ext cx="6126480" cy="4343400"/>
          </a:xfrm>
          <a:prstGeom prst="rect">
            <a:avLst/>
          </a:prstGeom>
        </p:spPr>
      </p:pic>
      <p:sp>
        <p:nvSpPr>
          <p:cNvPr id="6" name="Shape 3"/>
          <p:cNvSpPr/>
          <p:nvPr/>
        </p:nvSpPr>
        <p:spPr>
          <a:xfrm>
            <a:off x="6903720" y="1965960"/>
            <a:ext cx="4709160" cy="1005840"/>
          </a:xfrm>
          <a:prstGeom prst="roundRect">
            <a:avLst>
              <a:gd name="adj" fmla="val 7273"/>
            </a:avLst>
          </a:prstGeom>
          <a:solidFill>
            <a:srgbClr val="EEF3FC"/>
          </a:solidFill>
          <a:ln/>
          <a:effectLst>
            <a:outerShdw sx="100000" sy="100000" kx="0" ky="0" algn="bl" rotWithShape="0" blurRad="76200" dist="25400" dir="5400000">
              <a:srgbClr val="1E2761">
                <a:alpha val="12000"/>
              </a:srgbClr>
            </a:outerShdw>
          </a:effectLst>
        </p:spPr>
      </p:sp>
      <p:sp>
        <p:nvSpPr>
          <p:cNvPr id="7" name="Text 4"/>
          <p:cNvSpPr/>
          <p:nvPr/>
        </p:nvSpPr>
        <p:spPr>
          <a:xfrm>
            <a:off x="7013448" y="2075688"/>
            <a:ext cx="4489704" cy="553212"/>
          </a:xfrm>
          <a:prstGeom prst="rect">
            <a:avLst/>
          </a:prstGeom>
          <a:noFill/>
          <a:ln/>
        </p:spPr>
        <p:txBody>
          <a:bodyPr wrap="square" lIns="0" tIns="0" rIns="0" bIns="0" rtlCol="0" anchor="b"/>
          <a:lstStyle/>
          <a:p>
            <a:pPr algn="l" indent="0" marL="0">
              <a:buNone/>
            </a:pPr>
            <a:r>
              <a:rPr lang="en-US" sz="3000" b="1" dirty="0">
                <a:solidFill>
                  <a:srgbClr val="C1613C"/>
                </a:solidFill>
                <a:latin typeface="Cambria" pitchFamily="34" charset="0"/>
                <a:ea typeface="Cambria" pitchFamily="34" charset="-122"/>
                <a:cs typeface="Cambria" pitchFamily="34" charset="-120"/>
              </a:rPr>
              <a:t>0.65 – 0.72</a:t>
            </a:r>
            <a:endParaRPr lang="en-US" sz="3000" dirty="0"/>
          </a:p>
        </p:txBody>
      </p:sp>
      <p:sp>
        <p:nvSpPr>
          <p:cNvPr id="8" name="Text 5"/>
          <p:cNvSpPr/>
          <p:nvPr/>
        </p:nvSpPr>
        <p:spPr>
          <a:xfrm>
            <a:off x="7013448" y="2569464"/>
            <a:ext cx="4489704" cy="382219"/>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ROC-AUC per churn mode (one-vs-rest)</a:t>
            </a:r>
            <a:endParaRPr lang="en-US" sz="1100" dirty="0"/>
          </a:p>
        </p:txBody>
      </p:sp>
      <p:sp>
        <p:nvSpPr>
          <p:cNvPr id="9" name="Shape 6"/>
          <p:cNvSpPr/>
          <p:nvPr/>
        </p:nvSpPr>
        <p:spPr>
          <a:xfrm>
            <a:off x="6903720" y="3108960"/>
            <a:ext cx="4709160" cy="1005840"/>
          </a:xfrm>
          <a:prstGeom prst="roundRect">
            <a:avLst>
              <a:gd name="adj" fmla="val 7273"/>
            </a:avLst>
          </a:prstGeom>
          <a:solidFill>
            <a:srgbClr val="EEF3FC"/>
          </a:solidFill>
          <a:ln/>
          <a:effectLst>
            <a:outerShdw sx="100000" sy="100000" kx="0" ky="0" algn="bl" rotWithShape="0" blurRad="76200" dist="25400" dir="5400000">
              <a:srgbClr val="1E2761">
                <a:alpha val="12000"/>
              </a:srgbClr>
            </a:outerShdw>
          </a:effectLst>
        </p:spPr>
      </p:sp>
      <p:sp>
        <p:nvSpPr>
          <p:cNvPr id="10" name="Text 7"/>
          <p:cNvSpPr/>
          <p:nvPr/>
        </p:nvSpPr>
        <p:spPr>
          <a:xfrm>
            <a:off x="7013448" y="3218688"/>
            <a:ext cx="4489704" cy="553212"/>
          </a:xfrm>
          <a:prstGeom prst="rect">
            <a:avLst/>
          </a:prstGeom>
          <a:noFill/>
          <a:ln/>
        </p:spPr>
        <p:txBody>
          <a:bodyPr wrap="square" lIns="0" tIns="0" rIns="0" bIns="0" rtlCol="0" anchor="b"/>
          <a:lstStyle/>
          <a:p>
            <a:pPr algn="l" indent="0" marL="0">
              <a:buNone/>
            </a:pPr>
            <a:r>
              <a:rPr lang="en-US" sz="3000" b="1" dirty="0">
                <a:solidFill>
                  <a:srgbClr val="C1613C"/>
                </a:solidFill>
                <a:latin typeface="Cambria" pitchFamily="34" charset="0"/>
                <a:ea typeface="Cambria" pitchFamily="34" charset="-122"/>
                <a:cs typeface="Cambria" pitchFamily="34" charset="-120"/>
              </a:rPr>
              <a:t>2.8x – 3.2x</a:t>
            </a:r>
            <a:endParaRPr lang="en-US" sz="3000" dirty="0"/>
          </a:p>
        </p:txBody>
      </p:sp>
      <p:sp>
        <p:nvSpPr>
          <p:cNvPr id="11" name="Text 8"/>
          <p:cNvSpPr/>
          <p:nvPr/>
        </p:nvSpPr>
        <p:spPr>
          <a:xfrm>
            <a:off x="7013448" y="3712464"/>
            <a:ext cx="4489704" cy="382219"/>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Lift at top decile vs. base rate</a:t>
            </a:r>
            <a:endParaRPr lang="en-US" sz="1100" dirty="0"/>
          </a:p>
        </p:txBody>
      </p:sp>
      <p:sp>
        <p:nvSpPr>
          <p:cNvPr id="12" name="Text 9"/>
          <p:cNvSpPr/>
          <p:nvPr/>
        </p:nvSpPr>
        <p:spPr>
          <a:xfrm>
            <a:off x="6903720" y="4343400"/>
            <a:ext cx="4709160" cy="1920240"/>
          </a:xfrm>
          <a:prstGeom prst="rect">
            <a:avLst/>
          </a:prstGeom>
          <a:noFill/>
          <a:ln/>
        </p:spPr>
        <p:txBody>
          <a:bodyPr wrap="square" lIns="0" tIns="0" rIns="0" bIns="0" rtlCol="0" anchor="ctr"/>
          <a:lstStyle/>
          <a:p>
            <a:pPr indent="0" marL="0">
              <a:lnSpc>
                <a:spcPct val="125000"/>
              </a:lnSpc>
              <a:buNone/>
            </a:pPr>
            <a:r>
              <a:rPr lang="en-US" sz="1250" dirty="0">
                <a:solidFill>
                  <a:srgbClr val="5B6B8C"/>
                </a:solidFill>
                <a:latin typeface="Calibri" pitchFamily="34" charset="0"/>
                <a:ea typeface="Calibri" pitchFamily="34" charset="-122"/>
                <a:cs typeface="Calibri" pitchFamily="34" charset="-120"/>
              </a:rPr>
              <a:t>Churn is rare (~11% combined across modes) and driven by noisy human behavior — this isn't a 0.95-AUC problem. In production you rank and act on the top slice your capacity allows, not hard-classify at a single threshold, exactly like the causal layer's HV/LV split on the next slides.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LAYER 2 — EXPLAIN (CAUSAL)</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Three triggers, none of them randomized — one shared value split</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48640" y="1874520"/>
            <a:ext cx="10881360" cy="777240"/>
          </a:xfrm>
          <a:prstGeom prst="roundRect">
            <a:avLst>
              <a:gd name="adj" fmla="val 7059"/>
            </a:avLst>
          </a:prstGeom>
          <a:solidFill>
            <a:srgbClr val="EEF3FC"/>
          </a:solidFill>
          <a:ln/>
        </p:spPr>
      </p:sp>
      <p:sp>
        <p:nvSpPr>
          <p:cNvPr id="6" name="Text 4"/>
          <p:cNvSpPr/>
          <p:nvPr/>
        </p:nvSpPr>
        <p:spPr>
          <a:xfrm>
            <a:off x="777240" y="1975104"/>
            <a:ext cx="10424160" cy="594360"/>
          </a:xfrm>
          <a:prstGeom prst="rect">
            <a:avLst/>
          </a:prstGeom>
          <a:noFill/>
          <a:ln/>
        </p:spPr>
        <p:txBody>
          <a:bodyPr wrap="square" lIns="0" tIns="0" rIns="0" bIns="0" rtlCol="0" anchor="ctr"/>
          <a:lstStyle/>
          <a:p>
            <a:pPr indent="0" marL="0">
              <a:lnSpc>
                <a:spcPct val="115000"/>
              </a:lnSpc>
              <a:buNone/>
            </a:pPr>
            <a:r>
              <a:rPr lang="en-US" sz="1150" b="1" dirty="0">
                <a:solidFill>
                  <a:srgbClr val="1E2761"/>
                </a:solidFill>
                <a:latin typeface="Calibri" pitchFamily="34" charset="0"/>
                <a:ea typeface="Calibri" pitchFamily="34" charset="-122"/>
                <a:cs typeface="Calibri" pitchFamily="34" charset="-120"/>
              </a:rPr>
              <a:t>Why 50/50 by account value: </a:t>
            </a:r>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a ROI cutoff, not a statistical one — "for the top half, the deposits and lifetime value protected clearly outweighed the cost; below that the economics got thin," so only the top half gets a funded, randomized intervention. Same split, all three rows below.</a:t>
            </a:r>
            <a:endParaRPr lang="en-US" sz="1150" dirty="0"/>
          </a:p>
        </p:txBody>
      </p:sp>
      <p:sp>
        <p:nvSpPr>
          <p:cNvPr id="7" name="Shape 5"/>
          <p:cNvSpPr/>
          <p:nvPr/>
        </p:nvSpPr>
        <p:spPr>
          <a:xfrm>
            <a:off x="548640" y="2788920"/>
            <a:ext cx="10881360" cy="1207008"/>
          </a:xfrm>
          <a:prstGeom prst="roundRect">
            <a:avLst>
              <a:gd name="adj" fmla="val 5303"/>
            </a:avLst>
          </a:prstGeom>
          <a:solidFill>
            <a:srgbClr val="EEF3FC"/>
          </a:solidFill>
          <a:ln/>
        </p:spPr>
      </p:sp>
      <p:sp>
        <p:nvSpPr>
          <p:cNvPr id="8" name="Text 6"/>
          <p:cNvSpPr/>
          <p:nvPr/>
        </p:nvSpPr>
        <p:spPr>
          <a:xfrm>
            <a:off x="822960" y="2898648"/>
            <a:ext cx="4114800" cy="987552"/>
          </a:xfrm>
          <a:prstGeom prst="rect">
            <a:avLst/>
          </a:prstGeom>
          <a:noFill/>
          <a:ln/>
        </p:spPr>
        <p:txBody>
          <a:bodyPr wrap="square" lIns="0" tIns="0" rIns="0" bIns="0" rtlCol="0" anchor="ctr"/>
          <a:lstStyle/>
          <a:p>
            <a:pPr indent="0" marL="0">
              <a:lnSpc>
                <a:spcPct val="112000"/>
              </a:lnSpc>
              <a:buNone/>
            </a:pPr>
            <a:r>
              <a:rPr lang="en-US" sz="1200" b="1" dirty="0">
                <a:solidFill>
                  <a:srgbClr val="1E2761"/>
                </a:solidFill>
                <a:latin typeface="Calibri" pitchFamily="34" charset="0"/>
                <a:ea typeface="Calibri" pitchFamily="34" charset="-122"/>
                <a:cs typeface="Calibri" pitchFamily="34" charset="-120"/>
              </a:rPr>
              <a:t>Large withdrawal &gt; 30% of balance</a:t>
            </a:r>
            <a:endParaRPr lang="en-US" sz="1200" dirty="0"/>
          </a:p>
          <a:p>
            <a:pPr indent="0" marL="0">
              <a:lnSpc>
                <a:spcPct val="112000"/>
              </a:lnSpc>
              <a:buNone/>
            </a:pPr>
            <a:r>
              <a:rPr lang="en-US" sz="1200" b="1" dirty="0">
                <a:solidFill>
                  <a:srgbClr val="1E2761"/>
                </a:solidFill>
                <a:latin typeface="Calibri" pitchFamily="34" charset="0"/>
                <a:ea typeface="Calibri" pitchFamily="34" charset="-122"/>
                <a:cs typeface="Calibri" pitchFamily="34" charset="-120"/>
              </a:rPr>
              <a:t>→ RM calls, pitches alternatives (HV only)</a:t>
            </a:r>
            <a:endParaRPr lang="en-US" sz="1200" dirty="0"/>
          </a:p>
        </p:txBody>
      </p:sp>
      <p:sp>
        <p:nvSpPr>
          <p:cNvPr id="9" name="Text 7"/>
          <p:cNvSpPr/>
          <p:nvPr/>
        </p:nvSpPr>
        <p:spPr>
          <a:xfrm>
            <a:off x="4983480" y="2898648"/>
            <a:ext cx="2468880" cy="987552"/>
          </a:xfrm>
          <a:prstGeom prst="rect">
            <a:avLst/>
          </a:prstGeom>
          <a:noFill/>
          <a:ln/>
        </p:spPr>
        <p:txBody>
          <a:bodyPr wrap="square" lIns="0" tIns="0" rIns="0" bIns="0" rtlCol="0" anchor="ctr"/>
          <a:lstStyle/>
          <a:p>
            <a:pPr indent="0" marL="0">
              <a:lnSpc>
                <a:spcPct val="115000"/>
              </a:lnSpc>
              <a:buNone/>
            </a:pPr>
            <a:r>
              <a:rPr lang="en-US" sz="1020" i="1" dirty="0">
                <a:solidFill>
                  <a:srgbClr val="5B6B8C"/>
                </a:solidFill>
                <a:latin typeface="Calibri" pitchFamily="34" charset="0"/>
                <a:ea typeface="Calibri" pitchFamily="34" charset="-122"/>
                <a:cs typeface="Calibri" pitchFamily="34" charset="-120"/>
              </a:rPr>
              <a:t>Deterministic rule, not a coin flip</a:t>
            </a:r>
            <a:endParaRPr lang="en-US" sz="1020" dirty="0"/>
          </a:p>
        </p:txBody>
      </p:sp>
      <p:sp>
        <p:nvSpPr>
          <p:cNvPr id="10" name="Text 8"/>
          <p:cNvSpPr/>
          <p:nvPr/>
        </p:nvSpPr>
        <p:spPr>
          <a:xfrm>
            <a:off x="7543800" y="2926080"/>
            <a:ext cx="3703320" cy="457200"/>
          </a:xfrm>
          <a:prstGeom prst="rect">
            <a:avLst/>
          </a:prstGeom>
          <a:noFill/>
          <a:ln/>
        </p:spPr>
        <p:txBody>
          <a:bodyPr wrap="square" lIns="0" tIns="0" rIns="0" bIns="0" rtlCol="0" anchor="ctr"/>
          <a:lstStyle/>
          <a:p>
            <a:pPr indent="0" marL="0">
              <a:buNone/>
            </a:pPr>
            <a:r>
              <a:rPr lang="en-US" sz="1300" b="1" dirty="0">
                <a:solidFill>
                  <a:srgbClr val="C1613C"/>
                </a:solidFill>
                <a:latin typeface="Cambria" pitchFamily="34" charset="0"/>
                <a:ea typeface="Cambria" pitchFamily="34" charset="-122"/>
                <a:cs typeface="Cambria" pitchFamily="34" charset="-120"/>
              </a:rPr>
              <a:t>Sharp Regression Discontinuity (RDD)</a:t>
            </a:r>
            <a:endParaRPr lang="en-US" sz="1300" dirty="0"/>
          </a:p>
        </p:txBody>
      </p:sp>
      <p:sp>
        <p:nvSpPr>
          <p:cNvPr id="11" name="Text 9"/>
          <p:cNvSpPr/>
          <p:nvPr/>
        </p:nvSpPr>
        <p:spPr>
          <a:xfrm>
            <a:off x="7543800" y="3319272"/>
            <a:ext cx="3703320" cy="594360"/>
          </a:xfrm>
          <a:prstGeom prst="rect">
            <a:avLst/>
          </a:prstGeom>
          <a:noFill/>
          <a:ln/>
        </p:spPr>
        <p:txBody>
          <a:bodyPr wrap="square" lIns="0" tIns="0" rIns="0" bIns="0" rtlCol="0" anchor="ctr"/>
          <a:lstStyle/>
          <a:p>
            <a:pPr indent="0" marL="0">
              <a:lnSpc>
                <a:spcPct val="115000"/>
              </a:lnSpc>
              <a:buNone/>
            </a:pPr>
            <a:r>
              <a:rPr lang="en-US" sz="1020" dirty="0">
                <a:solidFill>
                  <a:srgbClr val="5B6B8C"/>
                </a:solidFill>
                <a:latin typeface="Calibri" pitchFamily="34" charset="0"/>
                <a:ea typeface="Calibri" pitchFamily="34" charset="-122"/>
                <a:cs typeface="Calibri" pitchFamily="34" charset="-120"/>
              </a:rPr>
              <a:t>Compare accounts just above vs.</a:t>
            </a:r>
            <a:endParaRPr lang="en-US" sz="1020" dirty="0"/>
          </a:p>
          <a:p>
            <a:pPr indent="0" marL="0">
              <a:lnSpc>
                <a:spcPct val="115000"/>
              </a:lnSpc>
              <a:buNone/>
            </a:pPr>
            <a:r>
              <a:rPr lang="en-US" sz="1020" dirty="0">
                <a:solidFill>
                  <a:srgbClr val="5B6B8C"/>
                </a:solidFill>
                <a:latin typeface="Calibri" pitchFamily="34" charset="0"/>
                <a:ea typeface="Calibri" pitchFamily="34" charset="-122"/>
                <a:cs typeface="Calibri" pitchFamily="34" charset="-120"/>
              </a:rPr>
              <a:t>just below the 30% line</a:t>
            </a:r>
            <a:endParaRPr lang="en-US" sz="1020" dirty="0"/>
          </a:p>
        </p:txBody>
      </p:sp>
      <p:sp>
        <p:nvSpPr>
          <p:cNvPr id="12" name="Shape 10"/>
          <p:cNvSpPr/>
          <p:nvPr/>
        </p:nvSpPr>
        <p:spPr>
          <a:xfrm>
            <a:off x="548640" y="4133088"/>
            <a:ext cx="10881360" cy="1207008"/>
          </a:xfrm>
          <a:prstGeom prst="roundRect">
            <a:avLst>
              <a:gd name="adj" fmla="val 5303"/>
            </a:avLst>
          </a:prstGeom>
          <a:solidFill>
            <a:srgbClr val="EEF3FC"/>
          </a:solidFill>
          <a:ln/>
        </p:spPr>
      </p:sp>
      <p:sp>
        <p:nvSpPr>
          <p:cNvPr id="13" name="Text 11"/>
          <p:cNvSpPr/>
          <p:nvPr/>
        </p:nvSpPr>
        <p:spPr>
          <a:xfrm>
            <a:off x="822960" y="4242816"/>
            <a:ext cx="4114800" cy="987552"/>
          </a:xfrm>
          <a:prstGeom prst="rect">
            <a:avLst/>
          </a:prstGeom>
          <a:noFill/>
          <a:ln/>
        </p:spPr>
        <p:txBody>
          <a:bodyPr wrap="square" lIns="0" tIns="0" rIns="0" bIns="0" rtlCol="0" anchor="ctr"/>
          <a:lstStyle/>
          <a:p>
            <a:pPr indent="0" marL="0">
              <a:lnSpc>
                <a:spcPct val="112000"/>
              </a:lnSpc>
              <a:buNone/>
            </a:pPr>
            <a:r>
              <a:rPr lang="en-US" sz="1200" b="1" dirty="0">
                <a:solidFill>
                  <a:srgbClr val="1E2761"/>
                </a:solidFill>
                <a:latin typeface="Calibri" pitchFamily="34" charset="0"/>
                <a:ea typeface="Calibri" pitchFamily="34" charset="-122"/>
                <a:cs typeface="Calibri" pitchFamily="34" charset="-120"/>
              </a:rPr>
              <a:t>Direct deposit stops</a:t>
            </a:r>
            <a:endParaRPr lang="en-US" sz="1200" dirty="0"/>
          </a:p>
          <a:p>
            <a:pPr indent="0" marL="0">
              <a:lnSpc>
                <a:spcPct val="112000"/>
              </a:lnSpc>
              <a:buNone/>
            </a:pPr>
            <a:r>
              <a:rPr lang="en-US" sz="1200" b="1" dirty="0">
                <a:solidFill>
                  <a:srgbClr val="1E2761"/>
                </a:solidFill>
                <a:latin typeface="Calibri" pitchFamily="34" charset="0"/>
                <a:ea typeface="Calibri" pitchFamily="34" charset="-122"/>
                <a:cs typeface="Calibri" pitchFamily="34" charset="-120"/>
              </a:rPr>
              <a:t>→ $100 offer for 2 new DDs $500+ (HV only)</a:t>
            </a:r>
            <a:endParaRPr lang="en-US" sz="1200" dirty="0"/>
          </a:p>
        </p:txBody>
      </p:sp>
      <p:sp>
        <p:nvSpPr>
          <p:cNvPr id="14" name="Text 12"/>
          <p:cNvSpPr/>
          <p:nvPr/>
        </p:nvSpPr>
        <p:spPr>
          <a:xfrm>
            <a:off x="4983480" y="4242816"/>
            <a:ext cx="2468880" cy="987552"/>
          </a:xfrm>
          <a:prstGeom prst="rect">
            <a:avLst/>
          </a:prstGeom>
          <a:noFill/>
          <a:ln/>
        </p:spPr>
        <p:txBody>
          <a:bodyPr wrap="square" lIns="0" tIns="0" rIns="0" bIns="0" rtlCol="0" anchor="ctr"/>
          <a:lstStyle/>
          <a:p>
            <a:pPr indent="0" marL="0">
              <a:lnSpc>
                <a:spcPct val="115000"/>
              </a:lnSpc>
              <a:buNone/>
            </a:pPr>
            <a:r>
              <a:rPr lang="en-US" sz="1020" i="1" dirty="0">
                <a:solidFill>
                  <a:srgbClr val="5B6B8C"/>
                </a:solidFill>
                <a:latin typeface="Calibri" pitchFamily="34" charset="0"/>
                <a:ea typeface="Calibri" pitchFamily="34" charset="-122"/>
                <a:cs typeface="Calibri" pitchFamily="34" charset="-120"/>
              </a:rPr>
              <a:t>Rolled out to HV accounts on one launch date; LV never gets it in-window</a:t>
            </a:r>
            <a:endParaRPr lang="en-US" sz="1020" dirty="0"/>
          </a:p>
        </p:txBody>
      </p:sp>
      <p:sp>
        <p:nvSpPr>
          <p:cNvPr id="15" name="Text 13"/>
          <p:cNvSpPr/>
          <p:nvPr/>
        </p:nvSpPr>
        <p:spPr>
          <a:xfrm>
            <a:off x="7543800" y="4270248"/>
            <a:ext cx="3703320" cy="457200"/>
          </a:xfrm>
          <a:prstGeom prst="rect">
            <a:avLst/>
          </a:prstGeom>
          <a:noFill/>
          <a:ln/>
        </p:spPr>
        <p:txBody>
          <a:bodyPr wrap="square" lIns="0" tIns="0" rIns="0" bIns="0" rtlCol="0" anchor="ctr"/>
          <a:lstStyle/>
          <a:p>
            <a:pPr indent="0" marL="0">
              <a:buNone/>
            </a:pPr>
            <a:r>
              <a:rPr lang="en-US" sz="1300" b="1" dirty="0">
                <a:solidFill>
                  <a:srgbClr val="C1613C"/>
                </a:solidFill>
                <a:latin typeface="Cambria" pitchFamily="34" charset="0"/>
                <a:ea typeface="Cambria" pitchFamily="34" charset="-122"/>
                <a:cs typeface="Cambria" pitchFamily="34" charset="-120"/>
              </a:rPr>
              <a:t>2-group Difference-in-Differences</a:t>
            </a:r>
            <a:endParaRPr lang="en-US" sz="1300" dirty="0"/>
          </a:p>
        </p:txBody>
      </p:sp>
      <p:sp>
        <p:nvSpPr>
          <p:cNvPr id="16" name="Text 14"/>
          <p:cNvSpPr/>
          <p:nvPr/>
        </p:nvSpPr>
        <p:spPr>
          <a:xfrm>
            <a:off x="7543800" y="4663440"/>
            <a:ext cx="3703320" cy="594360"/>
          </a:xfrm>
          <a:prstGeom prst="rect">
            <a:avLst/>
          </a:prstGeom>
          <a:noFill/>
          <a:ln/>
        </p:spPr>
        <p:txBody>
          <a:bodyPr wrap="square" lIns="0" tIns="0" rIns="0" bIns="0" rtlCol="0" anchor="ctr"/>
          <a:lstStyle/>
          <a:p>
            <a:pPr indent="0" marL="0">
              <a:lnSpc>
                <a:spcPct val="115000"/>
              </a:lnSpc>
              <a:buNone/>
            </a:pPr>
            <a:r>
              <a:rPr lang="en-US" sz="1020" dirty="0">
                <a:solidFill>
                  <a:srgbClr val="5B6B8C"/>
                </a:solidFill>
                <a:latin typeface="Calibri" pitchFamily="34" charset="0"/>
                <a:ea typeface="Calibri" pitchFamily="34" charset="-122"/>
                <a:cs typeface="Calibri" pitchFamily="34" charset="-120"/>
              </a:rPr>
              <a:t>Compare HV's before/after change</a:t>
            </a:r>
            <a:endParaRPr lang="en-US" sz="1020" dirty="0"/>
          </a:p>
          <a:p>
            <a:pPr indent="0" marL="0">
              <a:lnSpc>
                <a:spcPct val="115000"/>
              </a:lnSpc>
              <a:buNone/>
            </a:pPr>
            <a:r>
              <a:rPr lang="en-US" sz="1020" dirty="0">
                <a:solidFill>
                  <a:srgbClr val="5B6B8C"/>
                </a:solidFill>
                <a:latin typeface="Calibri" pitchFamily="34" charset="0"/>
                <a:ea typeface="Calibri" pitchFamily="34" charset="-122"/>
                <a:cs typeface="Calibri" pitchFamily="34" charset="-120"/>
              </a:rPr>
              <a:t>to LV's before/after change</a:t>
            </a:r>
            <a:endParaRPr lang="en-US" sz="1020" dirty="0"/>
          </a:p>
        </p:txBody>
      </p:sp>
      <p:sp>
        <p:nvSpPr>
          <p:cNvPr id="17" name="Shape 15"/>
          <p:cNvSpPr/>
          <p:nvPr/>
        </p:nvSpPr>
        <p:spPr>
          <a:xfrm>
            <a:off x="548640" y="5477256"/>
            <a:ext cx="10881360" cy="1207008"/>
          </a:xfrm>
          <a:prstGeom prst="roundRect">
            <a:avLst>
              <a:gd name="adj" fmla="val 5303"/>
            </a:avLst>
          </a:prstGeom>
          <a:solidFill>
            <a:srgbClr val="EEF3FC"/>
          </a:solidFill>
          <a:ln/>
        </p:spPr>
      </p:sp>
      <p:sp>
        <p:nvSpPr>
          <p:cNvPr id="18" name="Text 16"/>
          <p:cNvSpPr/>
          <p:nvPr/>
        </p:nvSpPr>
        <p:spPr>
          <a:xfrm>
            <a:off x="822960" y="5586984"/>
            <a:ext cx="4114800" cy="987552"/>
          </a:xfrm>
          <a:prstGeom prst="rect">
            <a:avLst/>
          </a:prstGeom>
          <a:noFill/>
          <a:ln/>
        </p:spPr>
        <p:txBody>
          <a:bodyPr wrap="square" lIns="0" tIns="0" rIns="0" bIns="0" rtlCol="0" anchor="ctr"/>
          <a:lstStyle/>
          <a:p>
            <a:pPr indent="0" marL="0">
              <a:lnSpc>
                <a:spcPct val="112000"/>
              </a:lnSpc>
              <a:buNone/>
            </a:pPr>
            <a:r>
              <a:rPr lang="en-US" sz="1200" b="1" dirty="0">
                <a:solidFill>
                  <a:srgbClr val="1E2761"/>
                </a:solidFill>
                <a:latin typeface="Calibri" pitchFamily="34" charset="0"/>
                <a:ea typeface="Calibri" pitchFamily="34" charset="-122"/>
                <a:cs typeface="Calibri" pitchFamily="34" charset="-120"/>
              </a:rPr>
              <a:t>Dormancy signal</a:t>
            </a:r>
            <a:endParaRPr lang="en-US" sz="1200" dirty="0"/>
          </a:p>
          <a:p>
            <a:pPr indent="0" marL="0">
              <a:lnSpc>
                <a:spcPct val="112000"/>
              </a:lnSpc>
              <a:buNone/>
            </a:pPr>
            <a:r>
              <a:rPr lang="en-US" sz="1200" b="1" dirty="0">
                <a:solidFill>
                  <a:srgbClr val="1E2761"/>
                </a:solidFill>
                <a:latin typeface="Calibri" pitchFamily="34" charset="0"/>
                <a:ea typeface="Calibri" pitchFamily="34" charset="-122"/>
                <a:cs typeface="Calibri" pitchFamily="34" charset="-120"/>
              </a:rPr>
              <a:t>→ cashback offer (HV) / SMS reminder (LV)</a:t>
            </a:r>
            <a:endParaRPr lang="en-US" sz="1200" dirty="0"/>
          </a:p>
        </p:txBody>
      </p:sp>
      <p:sp>
        <p:nvSpPr>
          <p:cNvPr id="19" name="Text 17"/>
          <p:cNvSpPr/>
          <p:nvPr/>
        </p:nvSpPr>
        <p:spPr>
          <a:xfrm>
            <a:off x="4983480" y="5586984"/>
            <a:ext cx="2468880" cy="987552"/>
          </a:xfrm>
          <a:prstGeom prst="rect">
            <a:avLst/>
          </a:prstGeom>
          <a:noFill/>
          <a:ln/>
        </p:spPr>
        <p:txBody>
          <a:bodyPr wrap="square" lIns="0" tIns="0" rIns="0" bIns="0" rtlCol="0" anchor="ctr"/>
          <a:lstStyle/>
          <a:p>
            <a:pPr indent="0" marL="0">
              <a:lnSpc>
                <a:spcPct val="115000"/>
              </a:lnSpc>
              <a:buNone/>
            </a:pPr>
            <a:r>
              <a:rPr lang="en-US" sz="1020" i="1" dirty="0">
                <a:solidFill>
                  <a:srgbClr val="5B6B8C"/>
                </a:solidFill>
                <a:latin typeface="Calibri" pitchFamily="34" charset="0"/>
                <a:ea typeface="Calibri" pitchFamily="34" charset="-122"/>
                <a:cs typeface="Calibri" pitchFamily="34" charset="-120"/>
              </a:rPr>
              <a:t>No natural threshold or rollout date — so a small randomized holdout is built into the design itself</a:t>
            </a:r>
            <a:endParaRPr lang="en-US" sz="1020" dirty="0"/>
          </a:p>
        </p:txBody>
      </p:sp>
      <p:sp>
        <p:nvSpPr>
          <p:cNvPr id="20" name="Text 18"/>
          <p:cNvSpPr/>
          <p:nvPr/>
        </p:nvSpPr>
        <p:spPr>
          <a:xfrm>
            <a:off x="7543800" y="5614416"/>
            <a:ext cx="3703320" cy="457200"/>
          </a:xfrm>
          <a:prstGeom prst="rect">
            <a:avLst/>
          </a:prstGeom>
          <a:noFill/>
          <a:ln/>
        </p:spPr>
        <p:txBody>
          <a:bodyPr wrap="square" lIns="0" tIns="0" rIns="0" bIns="0" rtlCol="0" anchor="ctr"/>
          <a:lstStyle/>
          <a:p>
            <a:pPr indent="0" marL="0">
              <a:buNone/>
            </a:pPr>
            <a:r>
              <a:rPr lang="en-US" sz="1300" b="1" dirty="0">
                <a:solidFill>
                  <a:srgbClr val="C1613C"/>
                </a:solidFill>
                <a:latin typeface="Cambria" pitchFamily="34" charset="0"/>
                <a:ea typeface="Cambria" pitchFamily="34" charset="-122"/>
                <a:cs typeface="Cambria" pitchFamily="34" charset="-120"/>
              </a:rPr>
              <a:t>Tier-stratified randomized-holdout RCT</a:t>
            </a:r>
            <a:endParaRPr lang="en-US" sz="1300" dirty="0"/>
          </a:p>
        </p:txBody>
      </p:sp>
      <p:sp>
        <p:nvSpPr>
          <p:cNvPr id="21" name="Text 19"/>
          <p:cNvSpPr/>
          <p:nvPr/>
        </p:nvSpPr>
        <p:spPr>
          <a:xfrm>
            <a:off x="7543800" y="6007608"/>
            <a:ext cx="3703320" cy="594360"/>
          </a:xfrm>
          <a:prstGeom prst="rect">
            <a:avLst/>
          </a:prstGeom>
          <a:noFill/>
          <a:ln/>
        </p:spPr>
        <p:txBody>
          <a:bodyPr wrap="square" lIns="0" tIns="0" rIns="0" bIns="0" rtlCol="0" anchor="ctr"/>
          <a:lstStyle/>
          <a:p>
            <a:pPr indent="0" marL="0">
              <a:lnSpc>
                <a:spcPct val="115000"/>
              </a:lnSpc>
              <a:buNone/>
            </a:pPr>
            <a:r>
              <a:rPr lang="en-US" sz="1020" dirty="0">
                <a:solidFill>
                  <a:srgbClr val="5B6B8C"/>
                </a:solidFill>
                <a:latin typeface="Calibri" pitchFamily="34" charset="0"/>
                <a:ea typeface="Calibri" pitchFamily="34" charset="-122"/>
                <a:cs typeface="Calibri" pitchFamily="34" charset="-120"/>
              </a:rPr>
              <a:t>Compare each tier's treated</a:t>
            </a:r>
            <a:endParaRPr lang="en-US" sz="1020" dirty="0"/>
          </a:p>
          <a:p>
            <a:pPr indent="0" marL="0">
              <a:lnSpc>
                <a:spcPct val="115000"/>
              </a:lnSpc>
              <a:buNone/>
            </a:pPr>
            <a:r>
              <a:rPr lang="en-US" sz="1020" dirty="0">
                <a:solidFill>
                  <a:srgbClr val="5B6B8C"/>
                </a:solidFill>
                <a:latin typeface="Calibri" pitchFamily="34" charset="0"/>
                <a:ea typeface="Calibri" pitchFamily="34" charset="-122"/>
                <a:cs typeface="Calibri" pitchFamily="34" charset="-120"/>
              </a:rPr>
              <a:t>accounts to that tier's own holdout</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RDD — DESIGN &amp; VALIDATION</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The identifying assumption: the running variable isn't manipulated</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pic>
        <p:nvPicPr>
          <p:cNvPr id="5" name="Image 0" descr="/root/vanguard_dda_project/figures/rdd_density_check.png">    </p:cNvPr>
          <p:cNvPicPr>
            <a:picLocks noChangeAspect="1"/>
          </p:cNvPicPr>
          <p:nvPr/>
        </p:nvPicPr>
        <p:blipFill>
          <a:blip r:embed="rId1"/>
          <a:stretch>
            <a:fillRect/>
          </a:stretch>
        </p:blipFill>
        <p:spPr>
          <a:xfrm>
            <a:off x="548640" y="1965960"/>
            <a:ext cx="6400800" cy="4297680"/>
          </a:xfrm>
          <a:prstGeom prst="rect">
            <a:avLst/>
          </a:prstGeom>
        </p:spPr>
      </p:pic>
      <p:sp>
        <p:nvSpPr>
          <p:cNvPr id="6" name="Text 3"/>
          <p:cNvSpPr/>
          <p:nvPr/>
        </p:nvSpPr>
        <p:spPr>
          <a:xfrm>
            <a:off x="7223760" y="2103120"/>
            <a:ext cx="4389120" cy="502920"/>
          </a:xfrm>
          <a:prstGeom prst="rect">
            <a:avLst/>
          </a:prstGeom>
          <a:noFill/>
          <a:ln/>
        </p:spPr>
        <p:txBody>
          <a:bodyPr wrap="square" lIns="0" tIns="0" rIns="0" bIns="0" rtlCol="0" anchor="ctr"/>
          <a:lstStyle/>
          <a:p>
            <a:pPr indent="0" marL="0">
              <a:lnSpc>
                <a:spcPct val="110000"/>
              </a:lnSpc>
              <a:buNone/>
            </a:pPr>
            <a:r>
              <a:rPr lang="en-US" sz="1400" b="1" dirty="0">
                <a:solidFill>
                  <a:srgbClr val="1E2761"/>
                </a:solidFill>
                <a:latin typeface="Cambria" pitchFamily="34" charset="0"/>
                <a:ea typeface="Cambria" pitchFamily="34" charset="-122"/>
                <a:cs typeface="Cambria" pitchFamily="34" charset="-120"/>
              </a:rPr>
              <a:t>McCrary-style density test — HV population only</a:t>
            </a:r>
            <a:endParaRPr lang="en-US" sz="1400" dirty="0"/>
          </a:p>
        </p:txBody>
      </p:sp>
      <p:sp>
        <p:nvSpPr>
          <p:cNvPr id="7" name="Text 4"/>
          <p:cNvSpPr/>
          <p:nvPr/>
        </p:nvSpPr>
        <p:spPr>
          <a:xfrm>
            <a:off x="7223760" y="2606040"/>
            <a:ext cx="4389120" cy="1280160"/>
          </a:xfrm>
          <a:prstGeom prst="rect">
            <a:avLst/>
          </a:prstGeom>
          <a:noFill/>
          <a:ln/>
        </p:spPr>
        <p:txBody>
          <a:bodyPr wrap="square" lIns="0" tIns="0" rIns="0" bIns="0" rtlCol="0" anchor="ctr"/>
          <a:lstStyle/>
          <a:p>
            <a:pPr indent="0" marL="0">
              <a:lnSpc>
                <a:spcPct val="120000"/>
              </a:lnSpc>
              <a:buNone/>
            </a:pPr>
            <a:r>
              <a:rPr lang="en-US" sz="1150" dirty="0">
                <a:solidFill>
                  <a:srgbClr val="5B6B8C"/>
                </a:solidFill>
                <a:latin typeface="Calibri" pitchFamily="34" charset="0"/>
                <a:ea typeface="Calibri" pitchFamily="34" charset="-122"/>
                <a:cs typeface="Calibri" pitchFamily="34" charset="-120"/>
              </a:rPr>
              <a:t>Customers don't know this internal 30% threshold exists, so deliberate dodging isn't the realistic risk — the real risk is any OTHER unknown reason withdrawal size might bunch near 30% (round-number withdrawal habits, an unrelated internal rule). This test checks for that directly instead of just asserting it away.</a:t>
            </a:r>
            <a:endParaRPr lang="en-US" sz="1150" dirty="0"/>
          </a:p>
        </p:txBody>
      </p:sp>
      <p:sp>
        <p:nvSpPr>
          <p:cNvPr id="8" name="Shape 5"/>
          <p:cNvSpPr/>
          <p:nvPr/>
        </p:nvSpPr>
        <p:spPr>
          <a:xfrm>
            <a:off x="7223760" y="4069080"/>
            <a:ext cx="4389120" cy="914400"/>
          </a:xfrm>
          <a:prstGeom prst="roundRect">
            <a:avLst>
              <a:gd name="adj" fmla="val 8000"/>
            </a:avLst>
          </a:prstGeom>
          <a:solidFill>
            <a:srgbClr val="EEF3FC"/>
          </a:solidFill>
          <a:ln/>
          <a:effectLst>
            <a:outerShdw sx="100000" sy="100000" kx="0" ky="0" algn="bl" rotWithShape="0" blurRad="76200" dist="25400" dir="5400000">
              <a:srgbClr val="1E2761">
                <a:alpha val="12000"/>
              </a:srgbClr>
            </a:outerShdw>
          </a:effectLst>
        </p:spPr>
      </p:sp>
      <p:sp>
        <p:nvSpPr>
          <p:cNvPr id="9" name="Text 6"/>
          <p:cNvSpPr/>
          <p:nvPr/>
        </p:nvSpPr>
        <p:spPr>
          <a:xfrm>
            <a:off x="7333488" y="4178808"/>
            <a:ext cx="4169664" cy="502920"/>
          </a:xfrm>
          <a:prstGeom prst="rect">
            <a:avLst/>
          </a:prstGeom>
          <a:noFill/>
          <a:ln/>
        </p:spPr>
        <p:txBody>
          <a:bodyPr wrap="square" lIns="0" tIns="0" rIns="0" bIns="0" rtlCol="0" anchor="b"/>
          <a:lstStyle/>
          <a:p>
            <a:pPr algn="l" indent="0" marL="0">
              <a:buNone/>
            </a:pPr>
            <a:r>
              <a:rPr lang="en-US" sz="2400" b="1" dirty="0">
                <a:solidFill>
                  <a:srgbClr val="C1613C"/>
                </a:solidFill>
                <a:latin typeface="Cambria" pitchFamily="34" charset="0"/>
                <a:ea typeface="Cambria" pitchFamily="34" charset="-122"/>
                <a:cs typeface="Cambria" pitchFamily="34" charset="-120"/>
              </a:rPr>
              <a:t>p = 0.828</a:t>
            </a:r>
            <a:endParaRPr lang="en-US" sz="2400" dirty="0"/>
          </a:p>
        </p:txBody>
      </p:sp>
      <p:sp>
        <p:nvSpPr>
          <p:cNvPr id="10" name="Text 7"/>
          <p:cNvSpPr/>
          <p:nvPr/>
        </p:nvSpPr>
        <p:spPr>
          <a:xfrm>
            <a:off x="7333488" y="4617720"/>
            <a:ext cx="4169664" cy="347472"/>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Local log-density jump at cutoff (bootstrap test)</a:t>
            </a:r>
            <a:endParaRPr lang="en-US" sz="1100" dirty="0"/>
          </a:p>
        </p:txBody>
      </p:sp>
      <p:sp>
        <p:nvSpPr>
          <p:cNvPr id="11" name="Text 8"/>
          <p:cNvSpPr/>
          <p:nvPr/>
        </p:nvSpPr>
        <p:spPr>
          <a:xfrm>
            <a:off x="7223760" y="5120640"/>
            <a:ext cx="4389120" cy="914400"/>
          </a:xfrm>
          <a:prstGeom prst="rect">
            <a:avLst/>
          </a:prstGeom>
          <a:noFill/>
          <a:ln/>
        </p:spPr>
        <p:txBody>
          <a:bodyPr wrap="square" lIns="0" tIns="0" rIns="0" bIns="0" rtlCol="0" anchor="ctr"/>
          <a:lstStyle/>
          <a:p>
            <a:pPr indent="0" marL="0">
              <a:lnSpc>
                <a:spcPct val="122000"/>
              </a:lnSpc>
              <a:buNone/>
            </a:pPr>
            <a:r>
              <a:rPr lang="en-US" sz="1150" dirty="0">
                <a:solidFill>
                  <a:srgbClr val="5B6B8C"/>
                </a:solidFill>
                <a:latin typeface="Calibri" pitchFamily="34" charset="0"/>
                <a:ea typeface="Calibri" pitchFamily="34" charset="-122"/>
                <a:cs typeface="Calibri" pitchFamily="34" charset="-120"/>
              </a:rPr>
              <a:t>No jump in the density at 30% — consistent with a smooth, unmanipulated running variable. (Restricted to HV accounts, the only population RM outreach applies to under the value split.)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RDD — RESULT</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RM outreach cuts 60-day churn by ~8 points at the margin</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pic>
        <p:nvPicPr>
          <p:cNvPr id="5" name="Image 0" descr="/root/vanguard_dda_project/figures/rdd_effect_plot.png">    </p:cNvPr>
          <p:cNvPicPr>
            <a:picLocks noChangeAspect="1"/>
          </p:cNvPicPr>
          <p:nvPr/>
        </p:nvPicPr>
        <p:blipFill>
          <a:blip r:embed="rId1"/>
          <a:stretch>
            <a:fillRect/>
          </a:stretch>
        </p:blipFill>
        <p:spPr>
          <a:xfrm>
            <a:off x="548640" y="1965960"/>
            <a:ext cx="6858000" cy="4343400"/>
          </a:xfrm>
          <a:prstGeom prst="rect">
            <a:avLst/>
          </a:prstGeom>
        </p:spPr>
      </p:pic>
      <p:sp>
        <p:nvSpPr>
          <p:cNvPr id="6" name="Shape 3"/>
          <p:cNvSpPr/>
          <p:nvPr/>
        </p:nvSpPr>
        <p:spPr>
          <a:xfrm>
            <a:off x="7635240" y="1965960"/>
            <a:ext cx="3977640" cy="960120"/>
          </a:xfrm>
          <a:prstGeom prst="roundRect">
            <a:avLst>
              <a:gd name="adj" fmla="val 7619"/>
            </a:avLst>
          </a:prstGeom>
          <a:solidFill>
            <a:srgbClr val="EEF3FC"/>
          </a:solidFill>
          <a:ln/>
          <a:effectLst>
            <a:outerShdw sx="100000" sy="100000" kx="0" ky="0" algn="bl" rotWithShape="0" blurRad="76200" dist="25400" dir="5400000">
              <a:srgbClr val="1E2761">
                <a:alpha val="12000"/>
              </a:srgbClr>
            </a:outerShdw>
          </a:effectLst>
        </p:spPr>
      </p:sp>
      <p:sp>
        <p:nvSpPr>
          <p:cNvPr id="7" name="Text 4"/>
          <p:cNvSpPr/>
          <p:nvPr/>
        </p:nvSpPr>
        <p:spPr>
          <a:xfrm>
            <a:off x="7744968" y="2075688"/>
            <a:ext cx="3758184" cy="528066"/>
          </a:xfrm>
          <a:prstGeom prst="rect">
            <a:avLst/>
          </a:prstGeom>
          <a:noFill/>
          <a:ln/>
        </p:spPr>
        <p:txBody>
          <a:bodyPr wrap="square" lIns="0" tIns="0" rIns="0" bIns="0" rtlCol="0" anchor="b"/>
          <a:lstStyle/>
          <a:p>
            <a:pPr algn="l" indent="0" marL="0">
              <a:buNone/>
            </a:pPr>
            <a:r>
              <a:rPr lang="en-US" sz="2600" b="1" dirty="0">
                <a:solidFill>
                  <a:srgbClr val="5B6B8C"/>
                </a:solidFill>
                <a:latin typeface="Cambria" pitchFamily="34" charset="0"/>
                <a:ea typeface="Cambria" pitchFamily="34" charset="-122"/>
                <a:cs typeface="Cambria" pitchFamily="34" charset="-120"/>
              </a:rPr>
              <a:t>-0.2 pp</a:t>
            </a:r>
            <a:endParaRPr lang="en-US" sz="2600" dirty="0"/>
          </a:p>
        </p:txBody>
      </p:sp>
      <p:sp>
        <p:nvSpPr>
          <p:cNvPr id="8" name="Text 5"/>
          <p:cNvSpPr/>
          <p:nvPr/>
        </p:nvSpPr>
        <p:spPr>
          <a:xfrm>
            <a:off x="7744968" y="2542032"/>
            <a:ext cx="3758184" cy="364846"/>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Naive treated-vs-control (biased by confound)</a:t>
            </a:r>
            <a:endParaRPr lang="en-US" sz="1100" dirty="0"/>
          </a:p>
        </p:txBody>
      </p:sp>
      <p:sp>
        <p:nvSpPr>
          <p:cNvPr id="9" name="Shape 6"/>
          <p:cNvSpPr/>
          <p:nvPr/>
        </p:nvSpPr>
        <p:spPr>
          <a:xfrm>
            <a:off x="7635240" y="3063240"/>
            <a:ext cx="3977640" cy="960120"/>
          </a:xfrm>
          <a:prstGeom prst="roundRect">
            <a:avLst>
              <a:gd name="adj" fmla="val 7619"/>
            </a:avLst>
          </a:prstGeom>
          <a:solidFill>
            <a:srgbClr val="EEF3FC"/>
          </a:solidFill>
          <a:ln/>
          <a:effectLst>
            <a:outerShdw sx="100000" sy="100000" kx="0" ky="0" algn="bl" rotWithShape="0" blurRad="76200" dist="25400" dir="5400000">
              <a:srgbClr val="1E2761">
                <a:alpha val="12000"/>
              </a:srgbClr>
            </a:outerShdw>
          </a:effectLst>
        </p:spPr>
      </p:sp>
      <p:sp>
        <p:nvSpPr>
          <p:cNvPr id="10" name="Text 7"/>
          <p:cNvSpPr/>
          <p:nvPr/>
        </p:nvSpPr>
        <p:spPr>
          <a:xfrm>
            <a:off x="7744968" y="3172968"/>
            <a:ext cx="3758184" cy="528066"/>
          </a:xfrm>
          <a:prstGeom prst="rect">
            <a:avLst/>
          </a:prstGeom>
          <a:noFill/>
          <a:ln/>
        </p:spPr>
        <p:txBody>
          <a:bodyPr wrap="square" lIns="0" tIns="0" rIns="0" bIns="0" rtlCol="0" anchor="b"/>
          <a:lstStyle/>
          <a:p>
            <a:pPr algn="l" indent="0" marL="0">
              <a:buNone/>
            </a:pPr>
            <a:r>
              <a:rPr lang="en-US" sz="2600" b="1" dirty="0">
                <a:solidFill>
                  <a:srgbClr val="C1613C"/>
                </a:solidFill>
                <a:latin typeface="Cambria" pitchFamily="34" charset="0"/>
                <a:ea typeface="Cambria" pitchFamily="34" charset="-122"/>
                <a:cs typeface="Cambria" pitchFamily="34" charset="-120"/>
              </a:rPr>
              <a:t>-8.3 pp</a:t>
            </a:r>
            <a:endParaRPr lang="en-US" sz="2600" dirty="0"/>
          </a:p>
        </p:txBody>
      </p:sp>
      <p:sp>
        <p:nvSpPr>
          <p:cNvPr id="11" name="Text 8"/>
          <p:cNvSpPr/>
          <p:nvPr/>
        </p:nvSpPr>
        <p:spPr>
          <a:xfrm>
            <a:off x="7744968" y="3639312"/>
            <a:ext cx="3758184" cy="364846"/>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RDD robust estimate  ·  95% CI [-12.3, -4.3]  ·  p&lt;0.001</a:t>
            </a:r>
            <a:endParaRPr lang="en-US" sz="1100" dirty="0"/>
          </a:p>
        </p:txBody>
      </p:sp>
      <p:sp>
        <p:nvSpPr>
          <p:cNvPr id="12" name="Text 9"/>
          <p:cNvSpPr/>
          <p:nvPr/>
        </p:nvSpPr>
        <p:spPr>
          <a:xfrm>
            <a:off x="7635240" y="4206240"/>
            <a:ext cx="3977640" cy="1828800"/>
          </a:xfrm>
          <a:prstGeom prst="rect">
            <a:avLst/>
          </a:prstGeom>
          <a:noFill/>
          <a:ln/>
        </p:spPr>
        <p:txBody>
          <a:bodyPr wrap="square" lIns="0" tIns="0" rIns="0" bIns="0" rtlCol="0" anchor="ctr"/>
          <a:lstStyle/>
          <a:p>
            <a:pPr indent="0" marL="0">
              <a:lnSpc>
                <a:spcPct val="125000"/>
              </a:lnSpc>
              <a:buNone/>
            </a:pPr>
            <a:r>
              <a:rPr lang="en-US" sz="1200" dirty="0">
                <a:solidFill>
                  <a:srgbClr val="5B6B8C"/>
                </a:solidFill>
                <a:latin typeface="Calibri" pitchFamily="34" charset="0"/>
                <a:ea typeface="Calibri" pitchFamily="34" charset="-122"/>
                <a:cs typeface="Calibri" pitchFamily="34" charset="-120"/>
              </a:rPr>
              <a:t>Bandwidth sensitivity: stable in the high single digits across h = 4 to 20 months. Graded against the effect I built into the simulation: RDD lands within 1.3pp of the true local value near the cutoff — the naive comparison, near zero, doesn't come close.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DID — DESIGN &amp; VALIDATION</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One launch date, one treated group — parallel pre-trends is the assumption to check</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pic>
        <p:nvPicPr>
          <p:cNvPr id="5" name="Image 0" descr="/root/vanguard_dda_project/figures/did_pretrends_check.png">    </p:cNvPr>
          <p:cNvPicPr>
            <a:picLocks noChangeAspect="1"/>
          </p:cNvPicPr>
          <p:nvPr/>
        </p:nvPicPr>
        <p:blipFill>
          <a:blip r:embed="rId1"/>
          <a:stretch>
            <a:fillRect/>
          </a:stretch>
        </p:blipFill>
        <p:spPr>
          <a:xfrm>
            <a:off x="548640" y="1965960"/>
            <a:ext cx="6766560" cy="4206240"/>
          </a:xfrm>
          <a:prstGeom prst="rect">
            <a:avLst/>
          </a:prstGeom>
        </p:spPr>
      </p:pic>
      <p:sp>
        <p:nvSpPr>
          <p:cNvPr id="6" name="Text 3"/>
          <p:cNvSpPr/>
          <p:nvPr/>
        </p:nvSpPr>
        <p:spPr>
          <a:xfrm>
            <a:off x="7452360" y="2103120"/>
            <a:ext cx="416052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Parallel pre-trends check</a:t>
            </a:r>
            <a:endParaRPr lang="en-US" sz="1500" dirty="0"/>
          </a:p>
        </p:txBody>
      </p:sp>
      <p:sp>
        <p:nvSpPr>
          <p:cNvPr id="7" name="Text 4"/>
          <p:cNvSpPr/>
          <p:nvPr/>
        </p:nvSpPr>
        <p:spPr>
          <a:xfrm>
            <a:off x="7452360" y="2514600"/>
            <a:ext cx="4160520" cy="1371600"/>
          </a:xfrm>
          <a:prstGeom prst="rect">
            <a:avLst/>
          </a:prstGeom>
          <a:noFill/>
          <a:ln/>
        </p:spPr>
        <p:txBody>
          <a:bodyPr wrap="square" lIns="0" tIns="0" rIns="0" bIns="0" rtlCol="0" anchor="ctr"/>
          <a:lstStyle/>
          <a:p>
            <a:pPr indent="0" marL="0">
              <a:lnSpc>
                <a:spcPct val="122000"/>
              </a:lnSpc>
              <a:buNone/>
            </a:pPr>
            <a:r>
              <a:rPr lang="en-US" sz="1150" dirty="0">
                <a:solidFill>
                  <a:srgbClr val="5B6B8C"/>
                </a:solidFill>
                <a:latin typeface="Calibri" pitchFamily="34" charset="0"/>
                <a:ea typeface="Calibri" pitchFamily="34" charset="-122"/>
                <a:cs typeface="Calibri" pitchFamily="34" charset="-120"/>
              </a:rPr>
              <a:t>HV and LV accounts differ in baseline churn LEVEL (HV churns less overall regardless of any offer) — DiD doesn't need them equal, it needs them moving in the same DIRECTION before the offer launches. That's what this checks, restricted to the pre-launch months only.</a:t>
            </a:r>
            <a:endParaRPr lang="en-US" sz="1150" dirty="0"/>
          </a:p>
        </p:txBody>
      </p:sp>
      <p:sp>
        <p:nvSpPr>
          <p:cNvPr id="8" name="Shape 5"/>
          <p:cNvSpPr/>
          <p:nvPr/>
        </p:nvSpPr>
        <p:spPr>
          <a:xfrm>
            <a:off x="7452360" y="4023360"/>
            <a:ext cx="4160520" cy="914400"/>
          </a:xfrm>
          <a:prstGeom prst="roundRect">
            <a:avLst>
              <a:gd name="adj" fmla="val 8000"/>
            </a:avLst>
          </a:prstGeom>
          <a:solidFill>
            <a:srgbClr val="EEF3FC"/>
          </a:solidFill>
          <a:ln/>
          <a:effectLst>
            <a:outerShdw sx="100000" sy="100000" kx="0" ky="0" algn="bl" rotWithShape="0" blurRad="76200" dist="25400" dir="5400000">
              <a:srgbClr val="1E2761">
                <a:alpha val="12000"/>
              </a:srgbClr>
            </a:outerShdw>
          </a:effectLst>
        </p:spPr>
      </p:sp>
      <p:sp>
        <p:nvSpPr>
          <p:cNvPr id="9" name="Text 6"/>
          <p:cNvSpPr/>
          <p:nvPr/>
        </p:nvSpPr>
        <p:spPr>
          <a:xfrm>
            <a:off x="7562088" y="4133088"/>
            <a:ext cx="3941064" cy="502920"/>
          </a:xfrm>
          <a:prstGeom prst="rect">
            <a:avLst/>
          </a:prstGeom>
          <a:noFill/>
          <a:ln/>
        </p:spPr>
        <p:txBody>
          <a:bodyPr wrap="square" lIns="0" tIns="0" rIns="0" bIns="0" rtlCol="0" anchor="b"/>
          <a:lstStyle/>
          <a:p>
            <a:pPr algn="l" indent="0" marL="0">
              <a:buNone/>
            </a:pPr>
            <a:r>
              <a:rPr lang="en-US" sz="2400" b="1" dirty="0">
                <a:solidFill>
                  <a:srgbClr val="C1613C"/>
                </a:solidFill>
                <a:latin typeface="Cambria" pitchFamily="34" charset="0"/>
                <a:ea typeface="Cambria" pitchFamily="34" charset="-122"/>
                <a:cs typeface="Cambria" pitchFamily="34" charset="-120"/>
              </a:rPr>
              <a:t>p = 0.633</a:t>
            </a:r>
            <a:endParaRPr lang="en-US" sz="2400" dirty="0"/>
          </a:p>
        </p:txBody>
      </p:sp>
      <p:sp>
        <p:nvSpPr>
          <p:cNvPr id="10" name="Text 7"/>
          <p:cNvSpPr/>
          <p:nvPr/>
        </p:nvSpPr>
        <p:spPr>
          <a:xfrm>
            <a:off x="7562088" y="4572000"/>
            <a:ext cx="3941064" cy="347472"/>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F-test on value-group × month interaction, pre-launch only</a:t>
            </a:r>
            <a:endParaRPr lang="en-US" sz="1100" dirty="0"/>
          </a:p>
        </p:txBody>
      </p:sp>
      <p:sp>
        <p:nvSpPr>
          <p:cNvPr id="11" name="Text 8"/>
          <p:cNvSpPr/>
          <p:nvPr/>
        </p:nvSpPr>
        <p:spPr>
          <a:xfrm>
            <a:off x="7452360" y="5029200"/>
            <a:ext cx="4160520" cy="1188720"/>
          </a:xfrm>
          <a:prstGeom prst="rect">
            <a:avLst/>
          </a:prstGeom>
          <a:noFill/>
          <a:ln/>
        </p:spPr>
        <p:txBody>
          <a:bodyPr wrap="square" lIns="0" tIns="0" rIns="0" bIns="0" rtlCol="0" anchor="ctr"/>
          <a:lstStyle/>
          <a:p>
            <a:pPr indent="0" marL="0">
              <a:lnSpc>
                <a:spcPct val="120000"/>
              </a:lnSpc>
              <a:buNone/>
            </a:pPr>
            <a:r>
              <a:rPr lang="en-US" sz="1100" i="1" dirty="0">
                <a:solidFill>
                  <a:srgbClr val="5B6B8C"/>
                </a:solidFill>
                <a:latin typeface="Calibri" pitchFamily="34" charset="0"/>
                <a:ea typeface="Calibri" pitchFamily="34" charset="-122"/>
                <a:cs typeface="Calibri" pitchFamily="34" charset="-120"/>
              </a:rPr>
              <a:t>No evidence of differential pre-trends. Because there's exactly one treated group and one launch date, this design also sidesteps the staggered-adoption bias (Goodman-Bacon 2021) that a multi-wave rollout would introduce — there's no already-treated cohort to contaminate the comparison.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DID — RESULT</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The textbook 2x2 estimator — and the regression that reproduces it</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pic>
        <p:nvPicPr>
          <p:cNvPr id="5" name="Image 0" descr="/root/vanguard_dda_project/figures/did_event_study.png">    </p:cNvPr>
          <p:cNvPicPr>
            <a:picLocks noChangeAspect="1"/>
          </p:cNvPicPr>
          <p:nvPr/>
        </p:nvPicPr>
        <p:blipFill>
          <a:blip r:embed="rId1"/>
          <a:stretch>
            <a:fillRect/>
          </a:stretch>
        </p:blipFill>
        <p:spPr>
          <a:xfrm>
            <a:off x="548640" y="1965960"/>
            <a:ext cx="6766560" cy="4160520"/>
          </a:xfrm>
          <a:prstGeom prst="rect">
            <a:avLst/>
          </a:prstGeom>
        </p:spPr>
      </p:pic>
      <p:sp>
        <p:nvSpPr>
          <p:cNvPr id="6" name="Shape 3"/>
          <p:cNvSpPr/>
          <p:nvPr/>
        </p:nvSpPr>
        <p:spPr>
          <a:xfrm>
            <a:off x="7452360" y="1965960"/>
            <a:ext cx="4160520" cy="868680"/>
          </a:xfrm>
          <a:prstGeom prst="roundRect">
            <a:avLst>
              <a:gd name="adj" fmla="val 8421"/>
            </a:avLst>
          </a:prstGeom>
          <a:solidFill>
            <a:srgbClr val="EEF3FC"/>
          </a:solidFill>
          <a:ln/>
          <a:effectLst>
            <a:outerShdw sx="100000" sy="100000" kx="0" ky="0" algn="bl" rotWithShape="0" blurRad="76200" dist="25400" dir="5400000">
              <a:srgbClr val="1E2761">
                <a:alpha val="12000"/>
              </a:srgbClr>
            </a:outerShdw>
          </a:effectLst>
        </p:spPr>
      </p:sp>
      <p:sp>
        <p:nvSpPr>
          <p:cNvPr id="7" name="Text 4"/>
          <p:cNvSpPr/>
          <p:nvPr/>
        </p:nvSpPr>
        <p:spPr>
          <a:xfrm>
            <a:off x="7562088" y="2075688"/>
            <a:ext cx="3941064" cy="477774"/>
          </a:xfrm>
          <a:prstGeom prst="rect">
            <a:avLst/>
          </a:prstGeom>
          <a:noFill/>
          <a:ln/>
        </p:spPr>
        <p:txBody>
          <a:bodyPr wrap="square" lIns="0" tIns="0" rIns="0" bIns="0" rtlCol="0" anchor="b"/>
          <a:lstStyle/>
          <a:p>
            <a:pPr algn="l" indent="0" marL="0">
              <a:buNone/>
            </a:pPr>
            <a:r>
              <a:rPr lang="en-US" sz="2400" b="1" dirty="0">
                <a:solidFill>
                  <a:srgbClr val="C1613C"/>
                </a:solidFill>
                <a:latin typeface="Cambria" pitchFamily="34" charset="0"/>
                <a:ea typeface="Cambria" pitchFamily="34" charset="-122"/>
                <a:cs typeface="Cambria" pitchFamily="34" charset="-120"/>
              </a:rPr>
              <a:t>-5.8 pp</a:t>
            </a:r>
            <a:endParaRPr lang="en-US" sz="2400" dirty="0"/>
          </a:p>
        </p:txBody>
      </p:sp>
      <p:sp>
        <p:nvSpPr>
          <p:cNvPr id="8" name="Text 5"/>
          <p:cNvSpPr/>
          <p:nvPr/>
        </p:nvSpPr>
        <p:spPr>
          <a:xfrm>
            <a:off x="7562088" y="2487168"/>
            <a:ext cx="3941064" cy="330098"/>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2x2 DiD: (HV change) − (LV change)</a:t>
            </a:r>
            <a:endParaRPr lang="en-US" sz="1100" dirty="0"/>
          </a:p>
        </p:txBody>
      </p:sp>
      <p:sp>
        <p:nvSpPr>
          <p:cNvPr id="9" name="Shape 6"/>
          <p:cNvSpPr/>
          <p:nvPr/>
        </p:nvSpPr>
        <p:spPr>
          <a:xfrm>
            <a:off x="7452360" y="2971800"/>
            <a:ext cx="4160520" cy="868680"/>
          </a:xfrm>
          <a:prstGeom prst="roundRect">
            <a:avLst>
              <a:gd name="adj" fmla="val 8421"/>
            </a:avLst>
          </a:prstGeom>
          <a:solidFill>
            <a:srgbClr val="EEF3FC"/>
          </a:solidFill>
          <a:ln/>
          <a:effectLst>
            <a:outerShdw sx="100000" sy="100000" kx="0" ky="0" algn="bl" rotWithShape="0" blurRad="76200" dist="25400" dir="5400000">
              <a:srgbClr val="1E2761">
                <a:alpha val="12000"/>
              </a:srgbClr>
            </a:outerShdw>
          </a:effectLst>
        </p:spPr>
      </p:sp>
      <p:sp>
        <p:nvSpPr>
          <p:cNvPr id="10" name="Text 7"/>
          <p:cNvSpPr/>
          <p:nvPr/>
        </p:nvSpPr>
        <p:spPr>
          <a:xfrm>
            <a:off x="7562088" y="3081528"/>
            <a:ext cx="3941064" cy="477774"/>
          </a:xfrm>
          <a:prstGeom prst="rect">
            <a:avLst/>
          </a:prstGeom>
          <a:noFill/>
          <a:ln/>
        </p:spPr>
        <p:txBody>
          <a:bodyPr wrap="square" lIns="0" tIns="0" rIns="0" bIns="0" rtlCol="0" anchor="b"/>
          <a:lstStyle/>
          <a:p>
            <a:pPr algn="l" indent="0" marL="0">
              <a:buNone/>
            </a:pPr>
            <a:r>
              <a:rPr lang="en-US" sz="2400" b="1" dirty="0">
                <a:solidFill>
                  <a:srgbClr val="C1613C"/>
                </a:solidFill>
                <a:latin typeface="Cambria" pitchFamily="34" charset="0"/>
                <a:ea typeface="Cambria" pitchFamily="34" charset="-122"/>
                <a:cs typeface="Cambria" pitchFamily="34" charset="-120"/>
              </a:rPr>
              <a:t>-5.8 pp</a:t>
            </a:r>
            <a:endParaRPr lang="en-US" sz="2400" dirty="0"/>
          </a:p>
        </p:txBody>
      </p:sp>
      <p:sp>
        <p:nvSpPr>
          <p:cNvPr id="11" name="Text 8"/>
          <p:cNvSpPr/>
          <p:nvPr/>
        </p:nvSpPr>
        <p:spPr>
          <a:xfrm>
            <a:off x="7562088" y="3493008"/>
            <a:ext cx="3941064" cy="330098"/>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Regression DiD, HC1 robust SE  ·  p&lt;0.001</a:t>
            </a:r>
            <a:endParaRPr lang="en-US" sz="1100" dirty="0"/>
          </a:p>
        </p:txBody>
      </p:sp>
      <p:sp>
        <p:nvSpPr>
          <p:cNvPr id="12" name="Text 9"/>
          <p:cNvSpPr/>
          <p:nvPr/>
        </p:nvSpPr>
        <p:spPr>
          <a:xfrm>
            <a:off x="7452360" y="3977640"/>
            <a:ext cx="4160520" cy="2377440"/>
          </a:xfrm>
          <a:prstGeom prst="rect">
            <a:avLst/>
          </a:prstGeom>
          <a:noFill/>
          <a:ln/>
        </p:spPr>
        <p:txBody>
          <a:bodyPr wrap="square" lIns="0" tIns="0" rIns="0" bIns="0" rtlCol="0" anchor="ctr"/>
          <a:lstStyle/>
          <a:p>
            <a:pPr indent="0" marL="0">
              <a:lnSpc>
                <a:spcPct val="120000"/>
              </a:lnSpc>
              <a:buNone/>
            </a:pPr>
            <a:r>
              <a:rPr lang="en-US" sz="1120" dirty="0">
                <a:solidFill>
                  <a:srgbClr val="5B6B8C"/>
                </a:solidFill>
                <a:latin typeface="Calibri" pitchFamily="34" charset="0"/>
                <a:ea typeface="Calibri" pitchFamily="34" charset="-122"/>
                <a:cs typeface="Calibri" pitchFamily="34" charset="-120"/>
              </a:rPr>
              <a:t>HV: 11.9% → 5.8% churn (change -6.1pp). LV: 17.8% → 17.5% (change -0.3pp). The regression coefficient matches the four-group-means number almost exactly, as it should with one treated group and one adoption date — no cohort-averaging step for the two to disagree on. The effect ramps in over roughly 3 months as awareness and take-up build; graded against the true simulated effect (-5.1pp), both estimators land within a point.</a:t>
            </a:r>
            <a:endParaRPr lang="en-US" sz="11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LAYER 2 (CONT.) — DORMANT PLAYS: NO NATURAL DESIGN, SO BUILD ONE IN</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 small randomized holdout, inside each value tier</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965960"/>
            <a:ext cx="5257800" cy="4206240"/>
          </a:xfrm>
          <a:prstGeom prst="roundRect">
            <a:avLst>
              <a:gd name="adj" fmla="val 1739"/>
            </a:avLst>
          </a:prstGeom>
          <a:solidFill>
            <a:srgbClr val="EEF3FC"/>
          </a:solidFill>
          <a:ln/>
        </p:spPr>
      </p:sp>
      <p:sp>
        <p:nvSpPr>
          <p:cNvPr id="6" name="Text 4"/>
          <p:cNvSpPr/>
          <p:nvPr/>
        </p:nvSpPr>
        <p:spPr>
          <a:xfrm>
            <a:off x="822960" y="2148840"/>
            <a:ext cx="466344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THE DESIGN</a:t>
            </a:r>
            <a:endParaRPr lang="en-US" sz="1200" dirty="0"/>
          </a:p>
        </p:txBody>
      </p:sp>
      <p:sp>
        <p:nvSpPr>
          <p:cNvPr id="7" name="Text 5"/>
          <p:cNvSpPr/>
          <p:nvPr/>
        </p:nvSpPr>
        <p:spPr>
          <a:xfrm>
            <a:off x="822960" y="2514600"/>
            <a:ext cx="4709160" cy="3566160"/>
          </a:xfrm>
          <a:prstGeom prst="rect">
            <a:avLst/>
          </a:prstGeom>
          <a:noFill/>
          <a:ln/>
        </p:spPr>
        <p:txBody>
          <a:bodyPr wrap="square" lIns="0" tIns="0" rIns="0" bIns="0" rtlCol="0" anchor="ctr"/>
          <a:lstStyle/>
          <a:p>
            <a:pPr marL="342900" indent="-342900">
              <a:lnSpc>
                <a:spcPct val="118000"/>
              </a:lnSpc>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HV tier: 90% get a 90-day, 5%-cashback-on-grocery-spend offer; 10% randomly held out (no offer)</a:t>
            </a:r>
            <a:endParaRPr lang="en-US" sz="1200" dirty="0"/>
          </a:p>
          <a:p>
            <a:pPr marL="342900" indent="-342900">
              <a:lnSpc>
                <a:spcPct val="118000"/>
              </a:lnSpc>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LV tier: 90% get an SMS/email reminder; 10% randomly held out</a:t>
            </a:r>
            <a:endParaRPr lang="en-US" sz="1200" dirty="0"/>
          </a:p>
          <a:p>
            <a:pPr marL="342900" indent="-342900">
              <a:lnSpc>
                <a:spcPct val="118000"/>
              </a:lnSpc>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The two tiers are NEVER pooled — HV and LV differ on both risk level and which offer they get, so mixing them would confound "which offer works" with "which tier is lower-risk"</a:t>
            </a:r>
            <a:endParaRPr lang="en-US" sz="1200" dirty="0"/>
          </a:p>
          <a:p>
            <a:pPr marL="342900" indent="-342900">
              <a:lnSpc>
                <a:spcPct val="118000"/>
              </a:lnSpc>
              <a:spcAft>
                <a:spcPts val="700"/>
              </a:spcAft>
              <a:buSzPct val="100000"/>
              <a:buChar char="•"/>
            </a:pPr>
            <a:r>
              <a:rPr lang="en-US" sz="1200" dirty="0">
                <a:solidFill>
                  <a:srgbClr val="1E2761"/>
                </a:solidFill>
                <a:latin typeface="Calibri" pitchFamily="34" charset="0"/>
                <a:ea typeface="Calibri" pitchFamily="34" charset="-122"/>
                <a:cs typeface="Calibri" pitchFamily="34" charset="-120"/>
              </a:rPr>
              <a:t>Randomization within tier — not the ops team's judgment — decides who's held out, so treated vs. holdout is a clean comparison by construction</a:t>
            </a:r>
            <a:endParaRPr lang="en-US" sz="1200" dirty="0"/>
          </a:p>
        </p:txBody>
      </p:sp>
      <p:sp>
        <p:nvSpPr>
          <p:cNvPr id="8" name="Shape 6"/>
          <p:cNvSpPr/>
          <p:nvPr/>
        </p:nvSpPr>
        <p:spPr>
          <a:xfrm>
            <a:off x="6035040" y="1965960"/>
            <a:ext cx="5394960" cy="4206240"/>
          </a:xfrm>
          <a:prstGeom prst="roundRect">
            <a:avLst>
              <a:gd name="adj" fmla="val 1739"/>
            </a:avLst>
          </a:prstGeom>
          <a:solidFill>
            <a:srgbClr val="1E2761"/>
          </a:solidFill>
          <a:ln/>
        </p:spPr>
      </p:sp>
      <p:sp>
        <p:nvSpPr>
          <p:cNvPr id="9" name="Text 7"/>
          <p:cNvSpPr/>
          <p:nvPr/>
        </p:nvSpPr>
        <p:spPr>
          <a:xfrm>
            <a:off x="6355080" y="2148840"/>
            <a:ext cx="4754880" cy="320040"/>
          </a:xfrm>
          <a:prstGeom prst="rect">
            <a:avLst/>
          </a:prstGeom>
          <a:noFill/>
          <a:ln/>
        </p:spPr>
        <p:txBody>
          <a:bodyPr wrap="square" lIns="0" tIns="0" rIns="0" bIns="0" rtlCol="0" anchor="ctr"/>
          <a:lstStyle/>
          <a:p>
            <a:pPr indent="0" marL="0">
              <a:buNone/>
            </a:pPr>
            <a:r>
              <a:rPr lang="en-US" sz="1150" b="1" spc="100" kern="0" dirty="0">
                <a:solidFill>
                  <a:srgbClr val="C1613C"/>
                </a:solidFill>
                <a:latin typeface="Calibri" pitchFamily="34" charset="0"/>
                <a:ea typeface="Calibri" pitchFamily="34" charset="-122"/>
                <a:cs typeface="Calibri" pitchFamily="34" charset="-120"/>
              </a:rPr>
              <a:t>RANDOMIZATION-BALANCE CHECK ("TABLE 1")</a:t>
            </a:r>
            <a:endParaRPr lang="en-US" sz="1150" dirty="0"/>
          </a:p>
        </p:txBody>
      </p:sp>
      <p:sp>
        <p:nvSpPr>
          <p:cNvPr id="10" name="Text 8"/>
          <p:cNvSpPr/>
          <p:nvPr/>
        </p:nvSpPr>
        <p:spPr>
          <a:xfrm>
            <a:off x="6355080" y="2514600"/>
            <a:ext cx="4754880" cy="105156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Before trusting the comparison, check that randomization actually balanced the two arms on observed covariates — engagement score, dormancy streak, product count, tenure, balance — within each tier, BEFORE any offer went out.</a:t>
            </a:r>
            <a:endParaRPr lang="en-US" sz="1150" dirty="0"/>
          </a:p>
        </p:txBody>
      </p:sp>
      <p:sp>
        <p:nvSpPr>
          <p:cNvPr id="11" name="Shape 9"/>
          <p:cNvSpPr/>
          <p:nvPr/>
        </p:nvSpPr>
        <p:spPr>
          <a:xfrm>
            <a:off x="6355080" y="3657600"/>
            <a:ext cx="4754880" cy="960120"/>
          </a:xfrm>
          <a:prstGeom prst="roundRect">
            <a:avLst>
              <a:gd name="adj" fmla="val 7619"/>
            </a:avLst>
          </a:prstGeom>
          <a:solidFill>
            <a:srgbClr val="FFFFFF"/>
          </a:solidFill>
          <a:ln/>
          <a:effectLst>
            <a:outerShdw sx="100000" sy="100000" kx="0" ky="0" algn="bl" rotWithShape="0" blurRad="76200" dist="25400" dir="5400000">
              <a:srgbClr val="1E2761">
                <a:alpha val="12000"/>
              </a:srgbClr>
            </a:outerShdw>
          </a:effectLst>
        </p:spPr>
      </p:sp>
      <p:sp>
        <p:nvSpPr>
          <p:cNvPr id="12" name="Text 10"/>
          <p:cNvSpPr/>
          <p:nvPr/>
        </p:nvSpPr>
        <p:spPr>
          <a:xfrm>
            <a:off x="6464808" y="3767328"/>
            <a:ext cx="4535424" cy="528066"/>
          </a:xfrm>
          <a:prstGeom prst="rect">
            <a:avLst/>
          </a:prstGeom>
          <a:noFill/>
          <a:ln/>
        </p:spPr>
        <p:txBody>
          <a:bodyPr wrap="square" lIns="0" tIns="0" rIns="0" bIns="0" rtlCol="0" anchor="b"/>
          <a:lstStyle/>
          <a:p>
            <a:pPr algn="l" indent="0" marL="0">
              <a:buNone/>
            </a:pPr>
            <a:r>
              <a:rPr lang="en-US" sz="2600" b="1" dirty="0">
                <a:solidFill>
                  <a:srgbClr val="C1613C"/>
                </a:solidFill>
                <a:latin typeface="Cambria" pitchFamily="34" charset="0"/>
                <a:ea typeface="Cambria" pitchFamily="34" charset="-122"/>
                <a:cs typeface="Cambria" pitchFamily="34" charset="-120"/>
              </a:rPr>
              <a:t>0 / 10</a:t>
            </a:r>
            <a:endParaRPr lang="en-US" sz="2600" dirty="0"/>
          </a:p>
        </p:txBody>
      </p:sp>
      <p:sp>
        <p:nvSpPr>
          <p:cNvPr id="13" name="Text 11"/>
          <p:cNvSpPr/>
          <p:nvPr/>
        </p:nvSpPr>
        <p:spPr>
          <a:xfrm>
            <a:off x="6464808" y="4233672"/>
            <a:ext cx="4535424" cy="364846"/>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Covariate balance tests flagged at p≤0.05 (both tiers, 5 covariates each)</a:t>
            </a:r>
            <a:endParaRPr lang="en-US" sz="1100" dirty="0"/>
          </a:p>
        </p:txBody>
      </p:sp>
      <p:sp>
        <p:nvSpPr>
          <p:cNvPr id="14" name="Text 12"/>
          <p:cNvSpPr/>
          <p:nvPr/>
        </p:nvSpPr>
        <p:spPr>
          <a:xfrm>
            <a:off x="6355080" y="4754880"/>
            <a:ext cx="4754880" cy="1234440"/>
          </a:xfrm>
          <a:prstGeom prst="rect">
            <a:avLst/>
          </a:prstGeom>
          <a:noFill/>
          <a:ln/>
        </p:spPr>
        <p:txBody>
          <a:bodyPr wrap="square" lIns="0" tIns="0" rIns="0" bIns="0" rtlCol="0" anchor="ctr"/>
          <a:lstStyle/>
          <a:p>
            <a:pPr indent="0" marL="0">
              <a:lnSpc>
                <a:spcPct val="120000"/>
              </a:lnSpc>
              <a:buNone/>
            </a:pPr>
            <a:r>
              <a:rPr lang="en-US" sz="1120" i="1" dirty="0">
                <a:solidFill>
                  <a:srgbClr val="CADCFC"/>
                </a:solidFill>
                <a:latin typeface="Calibri" pitchFamily="34" charset="0"/>
                <a:ea typeface="Calibri" pitchFamily="34" charset="-122"/>
                <a:cs typeface="Calibri" pitchFamily="34" charset="-120"/>
              </a:rPr>
              <a:t>This is the standard "Table 1" any RCT write-up would run — the randomized-holdout design earns its high-confidence label because this is directly testable, unlike the observational method it replaces.</a:t>
            </a:r>
            <a:endParaRPr lang="en-US" sz="11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DORMANT RCT — RESULT</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Two tier-specific tests — both correctly signed, both statistically decisive</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pic>
        <p:nvPicPr>
          <p:cNvPr id="5" name="Image 0" descr="/root/vanguard_dda_project/figures/dormant_rct.png">    </p:cNvPr>
          <p:cNvPicPr>
            <a:picLocks noChangeAspect="1"/>
          </p:cNvPicPr>
          <p:nvPr/>
        </p:nvPicPr>
        <p:blipFill>
          <a:blip r:embed="rId1"/>
          <a:stretch>
            <a:fillRect/>
          </a:stretch>
        </p:blipFill>
        <p:spPr>
          <a:xfrm>
            <a:off x="548640" y="1965960"/>
            <a:ext cx="6126480" cy="4343400"/>
          </a:xfrm>
          <a:prstGeom prst="rect">
            <a:avLst/>
          </a:prstGeom>
        </p:spPr>
      </p:pic>
      <p:sp>
        <p:nvSpPr>
          <p:cNvPr id="6" name="Shape 3"/>
          <p:cNvSpPr/>
          <p:nvPr/>
        </p:nvSpPr>
        <p:spPr>
          <a:xfrm>
            <a:off x="6903720" y="1965960"/>
            <a:ext cx="4709160" cy="1234440"/>
          </a:xfrm>
          <a:prstGeom prst="roundRect">
            <a:avLst>
              <a:gd name="adj" fmla="val 5926"/>
            </a:avLst>
          </a:prstGeom>
          <a:solidFill>
            <a:srgbClr val="EEF3FC"/>
          </a:solidFill>
          <a:ln/>
          <a:effectLst>
            <a:outerShdw sx="100000" sy="100000" kx="0" ky="0" algn="bl" rotWithShape="0" blurRad="76200" dist="25400" dir="5400000">
              <a:srgbClr val="1E2761">
                <a:alpha val="12000"/>
              </a:srgbClr>
            </a:outerShdw>
          </a:effectLst>
        </p:spPr>
      </p:sp>
      <p:sp>
        <p:nvSpPr>
          <p:cNvPr id="7" name="Text 4"/>
          <p:cNvSpPr/>
          <p:nvPr/>
        </p:nvSpPr>
        <p:spPr>
          <a:xfrm>
            <a:off x="7013448" y="2075688"/>
            <a:ext cx="4489704" cy="678942"/>
          </a:xfrm>
          <a:prstGeom prst="rect">
            <a:avLst/>
          </a:prstGeom>
          <a:noFill/>
          <a:ln/>
        </p:spPr>
        <p:txBody>
          <a:bodyPr wrap="square" lIns="0" tIns="0" rIns="0" bIns="0" rtlCol="0" anchor="b"/>
          <a:lstStyle/>
          <a:p>
            <a:pPr algn="l" indent="0" marL="0">
              <a:buNone/>
            </a:pPr>
            <a:r>
              <a:rPr lang="en-US" sz="2400" b="1" dirty="0">
                <a:solidFill>
                  <a:srgbClr val="C1613C"/>
                </a:solidFill>
                <a:latin typeface="Cambria" pitchFamily="34" charset="0"/>
                <a:ea typeface="Cambria" pitchFamily="34" charset="-122"/>
                <a:cs typeface="Cambria" pitchFamily="34" charset="-120"/>
              </a:rPr>
              <a:t>-10.8 pp</a:t>
            </a:r>
            <a:endParaRPr lang="en-US" sz="2400" dirty="0"/>
          </a:p>
        </p:txBody>
      </p:sp>
      <p:sp>
        <p:nvSpPr>
          <p:cNvPr id="8" name="Text 5"/>
          <p:cNvSpPr/>
          <p:nvPr/>
        </p:nvSpPr>
        <p:spPr>
          <a:xfrm>
            <a:off x="7013448" y="2706624"/>
            <a:ext cx="4489704" cy="469087"/>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HV: cashback vs. holdout  ·  95% CI [-14.5, -7.1]  ·  p&lt;0.001  ·  true effect -10.4pp</a:t>
            </a:r>
            <a:endParaRPr lang="en-US" sz="1100" dirty="0"/>
          </a:p>
        </p:txBody>
      </p:sp>
      <p:sp>
        <p:nvSpPr>
          <p:cNvPr id="9" name="Shape 6"/>
          <p:cNvSpPr/>
          <p:nvPr/>
        </p:nvSpPr>
        <p:spPr>
          <a:xfrm>
            <a:off x="6903720" y="3337560"/>
            <a:ext cx="4709160" cy="1234440"/>
          </a:xfrm>
          <a:prstGeom prst="roundRect">
            <a:avLst>
              <a:gd name="adj" fmla="val 5926"/>
            </a:avLst>
          </a:prstGeom>
          <a:solidFill>
            <a:srgbClr val="EEF3FC"/>
          </a:solidFill>
          <a:ln/>
          <a:effectLst>
            <a:outerShdw sx="100000" sy="100000" kx="0" ky="0" algn="bl" rotWithShape="0" blurRad="76200" dist="25400" dir="5400000">
              <a:srgbClr val="1E2761">
                <a:alpha val="12000"/>
              </a:srgbClr>
            </a:outerShdw>
          </a:effectLst>
        </p:spPr>
      </p:sp>
      <p:sp>
        <p:nvSpPr>
          <p:cNvPr id="10" name="Text 7"/>
          <p:cNvSpPr/>
          <p:nvPr/>
        </p:nvSpPr>
        <p:spPr>
          <a:xfrm>
            <a:off x="7013448" y="3447288"/>
            <a:ext cx="4489704" cy="678942"/>
          </a:xfrm>
          <a:prstGeom prst="rect">
            <a:avLst/>
          </a:prstGeom>
          <a:noFill/>
          <a:ln/>
        </p:spPr>
        <p:txBody>
          <a:bodyPr wrap="square" lIns="0" tIns="0" rIns="0" bIns="0" rtlCol="0" anchor="b"/>
          <a:lstStyle/>
          <a:p>
            <a:pPr algn="l" indent="0" marL="0">
              <a:buNone/>
            </a:pPr>
            <a:r>
              <a:rPr lang="en-US" sz="2400" b="1" dirty="0">
                <a:solidFill>
                  <a:srgbClr val="C1613C"/>
                </a:solidFill>
                <a:latin typeface="Cambria" pitchFamily="34" charset="0"/>
                <a:ea typeface="Cambria" pitchFamily="34" charset="-122"/>
                <a:cs typeface="Cambria" pitchFamily="34" charset="-120"/>
              </a:rPr>
              <a:t>-5.8 pp</a:t>
            </a:r>
            <a:endParaRPr lang="en-US" sz="2400" dirty="0"/>
          </a:p>
        </p:txBody>
      </p:sp>
      <p:sp>
        <p:nvSpPr>
          <p:cNvPr id="11" name="Text 8"/>
          <p:cNvSpPr/>
          <p:nvPr/>
        </p:nvSpPr>
        <p:spPr>
          <a:xfrm>
            <a:off x="7013448" y="4078224"/>
            <a:ext cx="4489704" cy="469087"/>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LV: SMS vs. holdout  ·  95% CI [-9.8, -1.9]  ·  p=0.002  ·  true effect -6.0pp</a:t>
            </a:r>
            <a:endParaRPr lang="en-US" sz="1100" dirty="0"/>
          </a:p>
        </p:txBody>
      </p:sp>
      <p:sp>
        <p:nvSpPr>
          <p:cNvPr id="12" name="Text 9"/>
          <p:cNvSpPr/>
          <p:nvPr/>
        </p:nvSpPr>
        <p:spPr>
          <a:xfrm>
            <a:off x="6903720" y="4709160"/>
            <a:ext cx="4709160" cy="1554480"/>
          </a:xfrm>
          <a:prstGeom prst="rect">
            <a:avLst/>
          </a:prstGeom>
          <a:noFill/>
          <a:ln/>
        </p:spPr>
        <p:txBody>
          <a:bodyPr wrap="square" lIns="0" tIns="0" rIns="0" bIns="0" rtlCol="0" anchor="ctr"/>
          <a:lstStyle/>
          <a:p>
            <a:pPr indent="0" marL="0">
              <a:lnSpc>
                <a:spcPct val="122000"/>
              </a:lnSpc>
              <a:buNone/>
            </a:pPr>
            <a:r>
              <a:rPr lang="en-US" sz="1200" dirty="0">
                <a:solidFill>
                  <a:srgbClr val="5B6B8C"/>
                </a:solidFill>
                <a:latin typeface="Calibri" pitchFamily="34" charset="0"/>
                <a:ea typeface="Calibri" pitchFamily="34" charset="-122"/>
                <a:cs typeface="Calibri" pitchFamily="34" charset="-120"/>
              </a:rPr>
              <a:t>Both estimates land within half a point of the true simulated effect. The HV cashback play has both the larger effect AND the larger sample — it turns out to be the single largest driver of value in the optimizer's allocation (see Optimize).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LAYER 3 — OPTIMIZE</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From “top 50% by value” to a formal budget allocation</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48640" y="1874520"/>
            <a:ext cx="5394960" cy="4206240"/>
          </a:xfrm>
          <a:prstGeom prst="roundRect">
            <a:avLst>
              <a:gd name="adj" fmla="val 1739"/>
            </a:avLst>
          </a:prstGeom>
          <a:solidFill>
            <a:srgbClr val="EEF3FC"/>
          </a:solidFill>
          <a:ln/>
        </p:spPr>
      </p:sp>
      <p:sp>
        <p:nvSpPr>
          <p:cNvPr id="6" name="Text 4"/>
          <p:cNvSpPr/>
          <p:nvPr/>
        </p:nvSpPr>
        <p:spPr>
          <a:xfrm>
            <a:off x="868680" y="2057400"/>
            <a:ext cx="457200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OBJECTIVE</a:t>
            </a:r>
            <a:endParaRPr lang="en-US" sz="1200" dirty="0"/>
          </a:p>
        </p:txBody>
      </p:sp>
      <p:sp>
        <p:nvSpPr>
          <p:cNvPr id="7" name="Text 5"/>
          <p:cNvSpPr/>
          <p:nvPr/>
        </p:nvSpPr>
        <p:spPr>
          <a:xfrm>
            <a:off x="868680" y="2395728"/>
            <a:ext cx="4846320" cy="1143000"/>
          </a:xfrm>
          <a:prstGeom prst="rect">
            <a:avLst/>
          </a:prstGeom>
          <a:noFill/>
          <a:ln/>
        </p:spPr>
        <p:txBody>
          <a:bodyPr wrap="square" lIns="0" tIns="0" rIns="0" bIns="0" rtlCol="0" anchor="ctr"/>
          <a:lstStyle/>
          <a:p>
            <a:pPr indent="0" marL="0">
              <a:lnSpc>
                <a:spcPct val="122000"/>
              </a:lnSpc>
              <a:buNone/>
            </a:pPr>
            <a:r>
              <a:rPr lang="en-US" sz="1250" dirty="0">
                <a:solidFill>
                  <a:srgbClr val="1E2761"/>
                </a:solidFill>
                <a:latin typeface="Calibri" pitchFamily="34" charset="0"/>
                <a:ea typeface="Calibri" pitchFamily="34" charset="-122"/>
                <a:cs typeface="Calibri" pitchFamily="34" charset="-120"/>
              </a:rPr>
              <a:t>Maximize total net expected value protected:</a:t>
            </a:r>
            <a:endParaRPr lang="en-US" sz="1250" dirty="0"/>
          </a:p>
          <a:p>
            <a:pPr indent="0" marL="0">
              <a:lnSpc>
                <a:spcPct val="122000"/>
              </a:lnSpc>
              <a:buNone/>
            </a:pPr>
            <a:r>
              <a:rPr lang="en-US" sz="1250" dirty="0">
                <a:solidFill>
                  <a:srgbClr val="1E2761"/>
                </a:solidFill>
                <a:latin typeface="Calibri" pitchFamily="34" charset="0"/>
                <a:ea typeface="Calibri" pitchFamily="34" charset="-122"/>
                <a:cs typeface="Calibri" pitchFamily="34" charset="-120"/>
              </a:rPr>
              <a:t>P(churn mode) × causal effect (pp) × dollars at risk − intervention cost, summed across every account-intervention pair selected.</a:t>
            </a:r>
            <a:endParaRPr lang="en-US" sz="1250" dirty="0"/>
          </a:p>
        </p:txBody>
      </p:sp>
      <p:sp>
        <p:nvSpPr>
          <p:cNvPr id="8" name="Text 6"/>
          <p:cNvSpPr/>
          <p:nvPr/>
        </p:nvSpPr>
        <p:spPr>
          <a:xfrm>
            <a:off x="868680" y="3520440"/>
            <a:ext cx="457200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CONSTRAINTS (3)</a:t>
            </a:r>
            <a:endParaRPr lang="en-US" sz="1200" dirty="0"/>
          </a:p>
        </p:txBody>
      </p:sp>
      <p:sp>
        <p:nvSpPr>
          <p:cNvPr id="9" name="Text 7"/>
          <p:cNvSpPr/>
          <p:nvPr/>
        </p:nvSpPr>
        <p:spPr>
          <a:xfrm>
            <a:off x="868680" y="3858768"/>
            <a:ext cx="4892040" cy="2103120"/>
          </a:xfrm>
          <a:prstGeom prst="rect">
            <a:avLst/>
          </a:prstGeom>
          <a:noFill/>
          <a:ln/>
        </p:spPr>
        <p:txBody>
          <a:bodyPr wrap="square" lIns="0" tIns="0" rIns="0" bIns="0" rtlCol="0" anchor="ctr"/>
          <a:lstStyle/>
          <a:p>
            <a:pPr marL="342900" indent="-342900">
              <a:lnSpc>
                <a:spcPct val="118000"/>
              </a:lnSpc>
              <a:spcAft>
                <a:spcPts val="400"/>
              </a:spcAft>
              <a:buSzPct val="100000"/>
              <a:buChar char="•"/>
            </a:pPr>
            <a:r>
              <a:rPr lang="en-US" sz="1150" dirty="0">
                <a:solidFill>
                  <a:srgbClr val="1E2761"/>
                </a:solidFill>
                <a:latin typeface="Calibri" pitchFamily="34" charset="0"/>
                <a:ea typeface="Calibri" pitchFamily="34" charset="-122"/>
                <a:cs typeface="Calibri" pitchFamily="34" charset="-120"/>
              </a:rPr>
              <a:t>Total spend ≤ monthly retention budget</a:t>
            </a:r>
            <a:endParaRPr lang="en-US" sz="1150" dirty="0"/>
          </a:p>
          <a:p>
            <a:pPr marL="342900" indent="-342900">
              <a:lnSpc>
                <a:spcPct val="118000"/>
              </a:lnSpc>
              <a:spcAft>
                <a:spcPts val="400"/>
              </a:spcAft>
              <a:buSzPct val="100000"/>
              <a:buChar char="•"/>
            </a:pPr>
            <a:r>
              <a:rPr lang="en-US" sz="1150" dirty="0">
                <a:solidFill>
                  <a:srgbClr val="1E2761"/>
                </a:solidFill>
                <a:latin typeface="Calibri" pitchFamily="34" charset="0"/>
                <a:ea typeface="Calibri" pitchFamily="34" charset="-122"/>
                <a:cs typeface="Calibri" pitchFamily="34" charset="-120"/>
              </a:rPr>
              <a:t>RM contacts ≤ RM capacity (the real scarce resource for the withdrawal play)</a:t>
            </a:r>
            <a:endParaRPr lang="en-US" sz="1150" dirty="0"/>
          </a:p>
          <a:p>
            <a:pPr marL="342900" indent="-342900">
              <a:lnSpc>
                <a:spcPct val="118000"/>
              </a:lnSpc>
              <a:spcAft>
                <a:spcPts val="400"/>
              </a:spcAft>
              <a:buSzPct val="100000"/>
              <a:buChar char="•"/>
            </a:pPr>
            <a:r>
              <a:rPr lang="en-US" sz="1150" dirty="0">
                <a:solidFill>
                  <a:srgbClr val="1E2761"/>
                </a:solidFill>
                <a:latin typeface="Calibri" pitchFamily="34" charset="0"/>
                <a:ea typeface="Calibri" pitchFamily="34" charset="-122"/>
                <a:cs typeface="Calibri" pitchFamily="34" charset="-120"/>
              </a:rPr>
              <a:t>At most one intervention per account — plus each account is only a candidate for the interventions its tier is actually eligible for (cashback: HV only; SMS: LV only)</a:t>
            </a:r>
            <a:endParaRPr lang="en-US" sz="1150" dirty="0"/>
          </a:p>
        </p:txBody>
      </p:sp>
      <p:sp>
        <p:nvSpPr>
          <p:cNvPr id="10" name="Shape 8"/>
          <p:cNvSpPr/>
          <p:nvPr/>
        </p:nvSpPr>
        <p:spPr>
          <a:xfrm>
            <a:off x="6126480" y="1874520"/>
            <a:ext cx="5394960" cy="2331720"/>
          </a:xfrm>
          <a:prstGeom prst="roundRect">
            <a:avLst>
              <a:gd name="adj" fmla="val 3137"/>
            </a:avLst>
          </a:prstGeom>
          <a:solidFill>
            <a:srgbClr val="1E2761"/>
          </a:solidFill>
          <a:ln/>
        </p:spPr>
      </p:sp>
      <p:sp>
        <p:nvSpPr>
          <p:cNvPr id="11" name="Text 9"/>
          <p:cNvSpPr/>
          <p:nvPr/>
        </p:nvSpPr>
        <p:spPr>
          <a:xfrm>
            <a:off x="6446520" y="2029968"/>
            <a:ext cx="4754880" cy="502920"/>
          </a:xfrm>
          <a:prstGeom prst="rect">
            <a:avLst/>
          </a:prstGeom>
          <a:noFill/>
          <a:ln/>
        </p:spPr>
        <p:txBody>
          <a:bodyPr wrap="square" lIns="0" tIns="0" rIns="0" bIns="0" rtlCol="0" anchor="ctr"/>
          <a:lstStyle/>
          <a:p>
            <a:pPr indent="0" marL="0">
              <a:lnSpc>
                <a:spcPct val="110000"/>
              </a:lnSpc>
              <a:buNone/>
            </a:pPr>
            <a:r>
              <a:rPr lang="en-US" sz="1080" b="1" spc="50" kern="0" dirty="0">
                <a:solidFill>
                  <a:srgbClr val="C1613C"/>
                </a:solidFill>
                <a:latin typeface="Calibri" pitchFamily="34" charset="0"/>
                <a:ea typeface="Calibri" pitchFamily="34" charset="-122"/>
                <a:cs typeface="Calibri" pitchFamily="34" charset="-120"/>
              </a:rPr>
              <a:t>EFFECT SIZES FEEDING THE OPTIMIZER (ALL HIGH-CONFIDENCE)</a:t>
            </a:r>
            <a:endParaRPr lang="en-US" sz="1080" dirty="0"/>
          </a:p>
        </p:txBody>
      </p:sp>
      <p:sp>
        <p:nvSpPr>
          <p:cNvPr id="12" name="Text 10"/>
          <p:cNvSpPr/>
          <p:nvPr/>
        </p:nvSpPr>
        <p:spPr>
          <a:xfrm>
            <a:off x="6446520" y="2606040"/>
            <a:ext cx="356616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Large withdrawal → RM call (HV)</a:t>
            </a:r>
            <a:endParaRPr lang="en-US" sz="1150" dirty="0"/>
          </a:p>
        </p:txBody>
      </p:sp>
      <p:sp>
        <p:nvSpPr>
          <p:cNvPr id="13" name="Text 11"/>
          <p:cNvSpPr/>
          <p:nvPr/>
        </p:nvSpPr>
        <p:spPr>
          <a:xfrm>
            <a:off x="9692640" y="2606040"/>
            <a:ext cx="822960" cy="320040"/>
          </a:xfrm>
          <a:prstGeom prst="rect">
            <a:avLst/>
          </a:prstGeom>
          <a:noFill/>
          <a:ln/>
        </p:spPr>
        <p:txBody>
          <a:bodyPr wrap="square" lIns="0" tIns="0" rIns="0" bIns="0" rtlCol="0" anchor="ctr"/>
          <a:lstStyle/>
          <a:p>
            <a:pPr algn="r" indent="0" marL="0">
              <a:buNone/>
            </a:pPr>
            <a:r>
              <a:rPr lang="en-US" sz="1300" b="1" dirty="0">
                <a:solidFill>
                  <a:srgbClr val="C1613C"/>
                </a:solidFill>
                <a:latin typeface="Cambria" pitchFamily="34" charset="0"/>
                <a:ea typeface="Cambria" pitchFamily="34" charset="-122"/>
                <a:cs typeface="Cambria" pitchFamily="34" charset="-120"/>
              </a:rPr>
              <a:t>8.3 pp</a:t>
            </a:r>
            <a:endParaRPr lang="en-US" sz="1300" dirty="0"/>
          </a:p>
        </p:txBody>
      </p:sp>
      <p:sp>
        <p:nvSpPr>
          <p:cNvPr id="14" name="Text 12"/>
          <p:cNvSpPr/>
          <p:nvPr/>
        </p:nvSpPr>
        <p:spPr>
          <a:xfrm>
            <a:off x="6446520" y="2971800"/>
            <a:ext cx="356616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DD stop → $100 offer (HV)</a:t>
            </a:r>
            <a:endParaRPr lang="en-US" sz="1150" dirty="0"/>
          </a:p>
        </p:txBody>
      </p:sp>
      <p:sp>
        <p:nvSpPr>
          <p:cNvPr id="15" name="Text 13"/>
          <p:cNvSpPr/>
          <p:nvPr/>
        </p:nvSpPr>
        <p:spPr>
          <a:xfrm>
            <a:off x="9692640" y="2971800"/>
            <a:ext cx="822960" cy="320040"/>
          </a:xfrm>
          <a:prstGeom prst="rect">
            <a:avLst/>
          </a:prstGeom>
          <a:noFill/>
          <a:ln/>
        </p:spPr>
        <p:txBody>
          <a:bodyPr wrap="square" lIns="0" tIns="0" rIns="0" bIns="0" rtlCol="0" anchor="ctr"/>
          <a:lstStyle/>
          <a:p>
            <a:pPr algn="r" indent="0" marL="0">
              <a:buNone/>
            </a:pPr>
            <a:r>
              <a:rPr lang="en-US" sz="1300" b="1" dirty="0">
                <a:solidFill>
                  <a:srgbClr val="C1613C"/>
                </a:solidFill>
                <a:latin typeface="Cambria" pitchFamily="34" charset="0"/>
                <a:ea typeface="Cambria" pitchFamily="34" charset="-122"/>
                <a:cs typeface="Cambria" pitchFamily="34" charset="-120"/>
              </a:rPr>
              <a:t>5.8 pp</a:t>
            </a:r>
            <a:endParaRPr lang="en-US" sz="1300" dirty="0"/>
          </a:p>
        </p:txBody>
      </p:sp>
      <p:sp>
        <p:nvSpPr>
          <p:cNvPr id="16" name="Text 14"/>
          <p:cNvSpPr/>
          <p:nvPr/>
        </p:nvSpPr>
        <p:spPr>
          <a:xfrm>
            <a:off x="6446520" y="3337560"/>
            <a:ext cx="356616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Dormant → cashback (HV)</a:t>
            </a:r>
            <a:endParaRPr lang="en-US" sz="1150" dirty="0"/>
          </a:p>
        </p:txBody>
      </p:sp>
      <p:sp>
        <p:nvSpPr>
          <p:cNvPr id="17" name="Text 15"/>
          <p:cNvSpPr/>
          <p:nvPr/>
        </p:nvSpPr>
        <p:spPr>
          <a:xfrm>
            <a:off x="9692640" y="3337560"/>
            <a:ext cx="822960" cy="320040"/>
          </a:xfrm>
          <a:prstGeom prst="rect">
            <a:avLst/>
          </a:prstGeom>
          <a:noFill/>
          <a:ln/>
        </p:spPr>
        <p:txBody>
          <a:bodyPr wrap="square" lIns="0" tIns="0" rIns="0" bIns="0" rtlCol="0" anchor="ctr"/>
          <a:lstStyle/>
          <a:p>
            <a:pPr algn="r" indent="0" marL="0">
              <a:buNone/>
            </a:pPr>
            <a:r>
              <a:rPr lang="en-US" sz="1300" b="1" dirty="0">
                <a:solidFill>
                  <a:srgbClr val="C1613C"/>
                </a:solidFill>
                <a:latin typeface="Cambria" pitchFamily="34" charset="0"/>
                <a:ea typeface="Cambria" pitchFamily="34" charset="-122"/>
                <a:cs typeface="Cambria" pitchFamily="34" charset="-120"/>
              </a:rPr>
              <a:t>10.8 pp</a:t>
            </a:r>
            <a:endParaRPr lang="en-US" sz="1300" dirty="0"/>
          </a:p>
        </p:txBody>
      </p:sp>
      <p:sp>
        <p:nvSpPr>
          <p:cNvPr id="18" name="Text 16"/>
          <p:cNvSpPr/>
          <p:nvPr/>
        </p:nvSpPr>
        <p:spPr>
          <a:xfrm>
            <a:off x="6446520" y="3703320"/>
            <a:ext cx="356616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Dormant → SMS (LV)</a:t>
            </a:r>
            <a:endParaRPr lang="en-US" sz="1150" dirty="0"/>
          </a:p>
        </p:txBody>
      </p:sp>
      <p:sp>
        <p:nvSpPr>
          <p:cNvPr id="19" name="Text 17"/>
          <p:cNvSpPr/>
          <p:nvPr/>
        </p:nvSpPr>
        <p:spPr>
          <a:xfrm>
            <a:off x="9692640" y="3703320"/>
            <a:ext cx="822960" cy="320040"/>
          </a:xfrm>
          <a:prstGeom prst="rect">
            <a:avLst/>
          </a:prstGeom>
          <a:noFill/>
          <a:ln/>
        </p:spPr>
        <p:txBody>
          <a:bodyPr wrap="square" lIns="0" tIns="0" rIns="0" bIns="0" rtlCol="0" anchor="ctr"/>
          <a:lstStyle/>
          <a:p>
            <a:pPr algn="r" indent="0" marL="0">
              <a:buNone/>
            </a:pPr>
            <a:r>
              <a:rPr lang="en-US" sz="1300" b="1" dirty="0">
                <a:solidFill>
                  <a:srgbClr val="C1613C"/>
                </a:solidFill>
                <a:latin typeface="Cambria" pitchFamily="34" charset="0"/>
                <a:ea typeface="Cambria" pitchFamily="34" charset="-122"/>
                <a:cs typeface="Cambria" pitchFamily="34" charset="-120"/>
              </a:rPr>
              <a:t>5.8 pp</a:t>
            </a:r>
            <a:endParaRPr lang="en-US" sz="1300" dirty="0"/>
          </a:p>
        </p:txBody>
      </p:sp>
      <p:sp>
        <p:nvSpPr>
          <p:cNvPr id="20" name="Shape 18"/>
          <p:cNvSpPr/>
          <p:nvPr/>
        </p:nvSpPr>
        <p:spPr>
          <a:xfrm>
            <a:off x="6126480" y="4343400"/>
            <a:ext cx="5394960" cy="1737360"/>
          </a:xfrm>
          <a:prstGeom prst="roundRect">
            <a:avLst>
              <a:gd name="adj" fmla="val 4211"/>
            </a:avLst>
          </a:prstGeom>
          <a:solidFill>
            <a:srgbClr val="EEF3FC"/>
          </a:solidFill>
          <a:ln/>
        </p:spPr>
      </p:sp>
      <p:sp>
        <p:nvSpPr>
          <p:cNvPr id="21" name="Text 19"/>
          <p:cNvSpPr/>
          <p:nvPr/>
        </p:nvSpPr>
        <p:spPr>
          <a:xfrm>
            <a:off x="6400800" y="4480560"/>
            <a:ext cx="4846320" cy="320040"/>
          </a:xfrm>
          <a:prstGeom prst="rect">
            <a:avLst/>
          </a:prstGeom>
          <a:noFill/>
          <a:ln/>
        </p:spPr>
        <p:txBody>
          <a:bodyPr wrap="square" lIns="0" tIns="0" rIns="0" bIns="0" rtlCol="0" anchor="ctr"/>
          <a:lstStyle/>
          <a:p>
            <a:pPr indent="0" marL="0">
              <a:buNone/>
            </a:pPr>
            <a:r>
              <a:rPr lang="en-US" sz="1100" b="1" spc="50" kern="0" dirty="0">
                <a:solidFill>
                  <a:srgbClr val="C1613C"/>
                </a:solidFill>
                <a:latin typeface="Calibri" pitchFamily="34" charset="0"/>
                <a:ea typeface="Calibri" pitchFamily="34" charset="-122"/>
                <a:cs typeface="Calibri" pitchFamily="34" charset="-120"/>
              </a:rPr>
              <a:t>WHEN THIS APPROACH DOES / DOESN'T APPLY</a:t>
            </a:r>
            <a:endParaRPr lang="en-US" sz="1100" dirty="0"/>
          </a:p>
        </p:txBody>
      </p:sp>
      <p:sp>
        <p:nvSpPr>
          <p:cNvPr id="22" name="Text 20"/>
          <p:cNvSpPr/>
          <p:nvPr/>
        </p:nvSpPr>
        <p:spPr>
          <a:xfrm>
            <a:off x="6400800" y="4800600"/>
            <a:ext cx="4846320" cy="1188720"/>
          </a:xfrm>
          <a:prstGeom prst="rect">
            <a:avLst/>
          </a:prstGeom>
          <a:noFill/>
          <a:ln/>
        </p:spPr>
        <p:txBody>
          <a:bodyPr wrap="square" lIns="0" tIns="0" rIns="0" bIns="0" rtlCol="0" anchor="ctr"/>
          <a:lstStyle/>
          <a:p>
            <a:pPr indent="0" marL="0">
              <a:lnSpc>
                <a:spcPct val="118000"/>
              </a:lnSpc>
              <a:buNone/>
            </a:pPr>
            <a:r>
              <a:rPr lang="en-US" sz="1050" dirty="0">
                <a:solidFill>
                  <a:srgbClr val="1E2761"/>
                </a:solidFill>
                <a:latin typeface="Calibri" pitchFamily="34" charset="0"/>
                <a:ea typeface="Calibri" pitchFamily="34" charset="-122"/>
                <a:cs typeface="Calibri" pitchFamily="34" charset="-120"/>
              </a:rPr>
              <a:t>Fits: a handful of discrete, mutually-exclusive interventions with known effect sizes and hard resource caps — exactly this shape. Wouldn't fit: continuous decisions (how MUCH to offer, not just whether), interventions with interaction effects between accounts, or effect sizes too uncertain to plug into a point-estimate objective without first running a sensitivity/robustness check.</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OPTIMIZE — RESULT</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Same budget, same RM capacity: ~49% more value protected</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pic>
        <p:nvPicPr>
          <p:cNvPr id="5" name="Image 0" descr="/root/vanguard_dda_project/figures/optimization_comparison.png">    </p:cNvPr>
          <p:cNvPicPr>
            <a:picLocks noChangeAspect="1"/>
          </p:cNvPicPr>
          <p:nvPr/>
        </p:nvPicPr>
        <p:blipFill>
          <a:blip r:embed="rId1"/>
          <a:stretch>
            <a:fillRect/>
          </a:stretch>
        </p:blipFill>
        <p:spPr>
          <a:xfrm>
            <a:off x="548640" y="1965960"/>
            <a:ext cx="6126480" cy="4343400"/>
          </a:xfrm>
          <a:prstGeom prst="rect">
            <a:avLst/>
          </a:prstGeom>
        </p:spPr>
      </p:pic>
      <p:sp>
        <p:nvSpPr>
          <p:cNvPr id="6" name="Shape 3"/>
          <p:cNvSpPr/>
          <p:nvPr/>
        </p:nvSpPr>
        <p:spPr>
          <a:xfrm>
            <a:off x="6903720" y="1965960"/>
            <a:ext cx="4709160" cy="1051560"/>
          </a:xfrm>
          <a:prstGeom prst="roundRect">
            <a:avLst>
              <a:gd name="adj" fmla="val 6957"/>
            </a:avLst>
          </a:prstGeom>
          <a:solidFill>
            <a:srgbClr val="EEF3FC"/>
          </a:solidFill>
          <a:ln/>
          <a:effectLst>
            <a:outerShdw sx="100000" sy="100000" kx="0" ky="0" algn="bl" rotWithShape="0" blurRad="76200" dist="25400" dir="5400000">
              <a:srgbClr val="1E2761">
                <a:alpha val="12000"/>
              </a:srgbClr>
            </a:outerShdw>
          </a:effectLst>
        </p:spPr>
      </p:sp>
      <p:sp>
        <p:nvSpPr>
          <p:cNvPr id="7" name="Text 4"/>
          <p:cNvSpPr/>
          <p:nvPr/>
        </p:nvSpPr>
        <p:spPr>
          <a:xfrm>
            <a:off x="7013448" y="2075688"/>
            <a:ext cx="4489704" cy="578358"/>
          </a:xfrm>
          <a:prstGeom prst="rect">
            <a:avLst/>
          </a:prstGeom>
          <a:noFill/>
          <a:ln/>
        </p:spPr>
        <p:txBody>
          <a:bodyPr wrap="square" lIns="0" tIns="0" rIns="0" bIns="0" rtlCol="0" anchor="b"/>
          <a:lstStyle/>
          <a:p>
            <a:pPr algn="l" indent="0" marL="0">
              <a:buNone/>
            </a:pPr>
            <a:r>
              <a:rPr lang="en-US" sz="3000" b="1" dirty="0">
                <a:solidFill>
                  <a:srgbClr val="C1613C"/>
                </a:solidFill>
                <a:latin typeface="Cambria" pitchFamily="34" charset="0"/>
                <a:ea typeface="Cambria" pitchFamily="34" charset="-122"/>
                <a:cs typeface="Cambria" pitchFamily="34" charset="-120"/>
              </a:rPr>
              <a:t>+49.4%</a:t>
            </a:r>
            <a:endParaRPr lang="en-US" sz="3000" dirty="0"/>
          </a:p>
        </p:txBody>
      </p:sp>
      <p:sp>
        <p:nvSpPr>
          <p:cNvPr id="8" name="Text 5"/>
          <p:cNvSpPr/>
          <p:nvPr/>
        </p:nvSpPr>
        <p:spPr>
          <a:xfrm>
            <a:off x="7013448" y="2596896"/>
            <a:ext cx="4489704" cy="399593"/>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Net value protected vs. the heuristic, at equal budget &amp; RM capacity</a:t>
            </a:r>
            <a:endParaRPr lang="en-US" sz="1100" dirty="0"/>
          </a:p>
        </p:txBody>
      </p:sp>
      <p:sp>
        <p:nvSpPr>
          <p:cNvPr id="9" name="Shape 6"/>
          <p:cNvSpPr/>
          <p:nvPr/>
        </p:nvSpPr>
        <p:spPr>
          <a:xfrm>
            <a:off x="6903720" y="3154680"/>
            <a:ext cx="4709160" cy="1051560"/>
          </a:xfrm>
          <a:prstGeom prst="roundRect">
            <a:avLst>
              <a:gd name="adj" fmla="val 6957"/>
            </a:avLst>
          </a:prstGeom>
          <a:solidFill>
            <a:srgbClr val="EEF3FC"/>
          </a:solidFill>
          <a:ln/>
          <a:effectLst>
            <a:outerShdw sx="100000" sy="100000" kx="0" ky="0" algn="bl" rotWithShape="0" blurRad="76200" dist="25400" dir="5400000">
              <a:srgbClr val="1E2761">
                <a:alpha val="12000"/>
              </a:srgbClr>
            </a:outerShdw>
          </a:effectLst>
        </p:spPr>
      </p:sp>
      <p:sp>
        <p:nvSpPr>
          <p:cNvPr id="10" name="Text 7"/>
          <p:cNvSpPr/>
          <p:nvPr/>
        </p:nvSpPr>
        <p:spPr>
          <a:xfrm>
            <a:off x="7013448" y="3264408"/>
            <a:ext cx="4489704" cy="578358"/>
          </a:xfrm>
          <a:prstGeom prst="rect">
            <a:avLst/>
          </a:prstGeom>
          <a:noFill/>
          <a:ln/>
        </p:spPr>
        <p:txBody>
          <a:bodyPr wrap="square" lIns="0" tIns="0" rIns="0" bIns="0" rtlCol="0" anchor="b"/>
          <a:lstStyle/>
          <a:p>
            <a:pPr algn="l" indent="0" marL="0">
              <a:buNone/>
            </a:pPr>
            <a:r>
              <a:rPr lang="en-US" sz="3000" b="1" dirty="0">
                <a:solidFill>
                  <a:srgbClr val="C1613C"/>
                </a:solidFill>
                <a:latin typeface="Cambria" pitchFamily="34" charset="0"/>
                <a:ea typeface="Cambria" pitchFamily="34" charset="-122"/>
                <a:cs typeface="Cambria" pitchFamily="34" charset="-120"/>
              </a:rPr>
              <a:t>160 / 400</a:t>
            </a:r>
            <a:endParaRPr lang="en-US" sz="3000" dirty="0"/>
          </a:p>
        </p:txBody>
      </p:sp>
      <p:sp>
        <p:nvSpPr>
          <p:cNvPr id="11" name="Text 8"/>
          <p:cNvSpPr/>
          <p:nvPr/>
        </p:nvSpPr>
        <p:spPr>
          <a:xfrm>
            <a:off x="7013448" y="3785616"/>
            <a:ext cx="4489704" cy="399593"/>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RM contacts used — the optimizer stops once marginal expected value turns negative, not when capacity runs out</a:t>
            </a:r>
            <a:endParaRPr lang="en-US" sz="1100" dirty="0"/>
          </a:p>
        </p:txBody>
      </p:sp>
      <p:sp>
        <p:nvSpPr>
          <p:cNvPr id="12" name="Text 9"/>
          <p:cNvSpPr/>
          <p:nvPr/>
        </p:nvSpPr>
        <p:spPr>
          <a:xfrm>
            <a:off x="6903720" y="4434840"/>
            <a:ext cx="4709160" cy="1828800"/>
          </a:xfrm>
          <a:prstGeom prst="rect">
            <a:avLst/>
          </a:prstGeom>
          <a:noFill/>
          <a:ln/>
        </p:spPr>
        <p:txBody>
          <a:bodyPr wrap="square" lIns="0" tIns="0" rIns="0" bIns="0" rtlCol="0" anchor="ctr"/>
          <a:lstStyle/>
          <a:p>
            <a:pPr indent="0" marL="0">
              <a:lnSpc>
                <a:spcPct val="122000"/>
              </a:lnSpc>
              <a:buNone/>
            </a:pPr>
            <a:r>
              <a:rPr lang="en-US" sz="1200" dirty="0">
                <a:solidFill>
                  <a:srgbClr val="5B6B8C"/>
                </a:solidFill>
                <a:latin typeface="Calibri" pitchFamily="34" charset="0"/>
                <a:ea typeface="Calibri" pitchFamily="34" charset="-122"/>
                <a:cs typeface="Calibri" pitchFamily="34" charset="-120"/>
              </a:rPr>
              <a:t>The heuristic doesn't discriminate by risk LEVEL within the top-50%-value pool, and it has no notion of an RM-capacity limit at all (uncapped, it actually overspends both budget and RM capacity on its own). The optimizer ranks by expected payoff per dollar and per RM-minute directly, and is disciplined enough to leave budget and capacity on the table rather than fund a marginal account that isn't worth 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SO WHAT — BUSINESS IMPACT</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Translating the model into a dollar figure a stakeholder can act on</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15</a:t>
            </a:r>
            <a:endParaRPr lang="en-US" sz="1000" dirty="0"/>
          </a:p>
        </p:txBody>
      </p:sp>
      <p:pic>
        <p:nvPicPr>
          <p:cNvPr id="5" name="Image 0" descr="/root/vanguard_dda_project/figures/business_impact_headline.png">    </p:cNvPr>
          <p:cNvPicPr>
            <a:picLocks noChangeAspect="1"/>
          </p:cNvPicPr>
          <p:nvPr/>
        </p:nvPicPr>
        <p:blipFill>
          <a:blip r:embed="rId1"/>
          <a:stretch>
            <a:fillRect/>
          </a:stretch>
        </p:blipFill>
        <p:spPr>
          <a:xfrm>
            <a:off x="548640" y="1965960"/>
            <a:ext cx="5577840" cy="4343400"/>
          </a:xfrm>
          <a:prstGeom prst="rect">
            <a:avLst/>
          </a:prstGeom>
        </p:spPr>
      </p:pic>
      <p:sp>
        <p:nvSpPr>
          <p:cNvPr id="6" name="Shape 3"/>
          <p:cNvSpPr/>
          <p:nvPr/>
        </p:nvSpPr>
        <p:spPr>
          <a:xfrm>
            <a:off x="6446520" y="1965960"/>
            <a:ext cx="5166360" cy="1143000"/>
          </a:xfrm>
          <a:prstGeom prst="roundRect">
            <a:avLst>
              <a:gd name="adj" fmla="val 6400"/>
            </a:avLst>
          </a:prstGeom>
          <a:solidFill>
            <a:srgbClr val="EEF3FC"/>
          </a:solidFill>
          <a:ln/>
          <a:effectLst>
            <a:outerShdw sx="100000" sy="100000" kx="0" ky="0" algn="bl" rotWithShape="0" blurRad="76200" dist="25400" dir="5400000">
              <a:srgbClr val="1E2761">
                <a:alpha val="12000"/>
              </a:srgbClr>
            </a:outerShdw>
          </a:effectLst>
        </p:spPr>
      </p:sp>
      <p:sp>
        <p:nvSpPr>
          <p:cNvPr id="7" name="Text 4"/>
          <p:cNvSpPr/>
          <p:nvPr/>
        </p:nvSpPr>
        <p:spPr>
          <a:xfrm>
            <a:off x="6556248" y="2075688"/>
            <a:ext cx="4946904" cy="628650"/>
          </a:xfrm>
          <a:prstGeom prst="rect">
            <a:avLst/>
          </a:prstGeom>
          <a:noFill/>
          <a:ln/>
        </p:spPr>
        <p:txBody>
          <a:bodyPr wrap="square" lIns="0" tIns="0" rIns="0" bIns="0" rtlCol="0" anchor="b"/>
          <a:lstStyle/>
          <a:p>
            <a:pPr algn="l" indent="0" marL="0">
              <a:buNone/>
            </a:pPr>
            <a:r>
              <a:rPr lang="en-US" sz="3000" b="1" dirty="0">
                <a:solidFill>
                  <a:srgbClr val="C1613C"/>
                </a:solidFill>
                <a:latin typeface="Cambria" pitchFamily="34" charset="0"/>
                <a:ea typeface="Cambria" pitchFamily="34" charset="-122"/>
                <a:cs typeface="Cambria" pitchFamily="34" charset="-120"/>
              </a:rPr>
              <a:t>+$133,873</a:t>
            </a:r>
            <a:endParaRPr lang="en-US" sz="3000" dirty="0"/>
          </a:p>
        </p:txBody>
      </p:sp>
      <p:sp>
        <p:nvSpPr>
          <p:cNvPr id="8" name="Text 5"/>
          <p:cNvSpPr/>
          <p:nvPr/>
        </p:nvSpPr>
        <p:spPr>
          <a:xfrm>
            <a:off x="6556248" y="2651760"/>
            <a:ext cx="4946904" cy="434340"/>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Incremental net value protected, per 10,000 scored accounts (+49.4%)</a:t>
            </a:r>
            <a:endParaRPr lang="en-US" sz="1100" dirty="0"/>
          </a:p>
        </p:txBody>
      </p:sp>
      <p:sp>
        <p:nvSpPr>
          <p:cNvPr id="9" name="Text 6"/>
          <p:cNvSpPr/>
          <p:nvPr/>
        </p:nvSpPr>
        <p:spPr>
          <a:xfrm>
            <a:off x="6446520" y="3246120"/>
            <a:ext cx="5166360" cy="1554480"/>
          </a:xfrm>
          <a:prstGeom prst="rect">
            <a:avLst/>
          </a:prstGeom>
          <a:noFill/>
          <a:ln/>
        </p:spPr>
        <p:txBody>
          <a:bodyPr wrap="square" lIns="0" tIns="0" rIns="0" bIns="0" rtlCol="0" anchor="ctr"/>
          <a:lstStyle/>
          <a:p>
            <a:pPr indent="0" marL="0">
              <a:lnSpc>
                <a:spcPct val="122000"/>
              </a:lnSpc>
              <a:buNone/>
            </a:pPr>
            <a:r>
              <a:rPr lang="en-US" sz="1150" dirty="0">
                <a:solidFill>
                  <a:srgbClr val="5B6B8C"/>
                </a:solidFill>
                <a:latin typeface="Calibri" pitchFamily="34" charset="0"/>
                <a:ea typeface="Calibri" pitchFamily="34" charset="-122"/>
                <a:cs typeface="Calibri" pitchFamily="34" charset="-120"/>
              </a:rPr>
              <a:t>Deliberately NOT scaled to a fabricated "total accounts at the bank" number — this project's data is a sized demo, not the real book. Reported per 10,000 scored accounts with an explicit scaling instruction instead: multiply by (your real scored-account count / 10,000). The mechanism — same spend, better targeting — scales linearly with book size, unlike a one-time fixed-cost project.</a:t>
            </a:r>
            <a:endParaRPr lang="en-US" sz="1150" dirty="0"/>
          </a:p>
        </p:txBody>
      </p:sp>
      <p:sp>
        <p:nvSpPr>
          <p:cNvPr id="10" name="Shape 7"/>
          <p:cNvSpPr/>
          <p:nvPr/>
        </p:nvSpPr>
        <p:spPr>
          <a:xfrm>
            <a:off x="6446520" y="4937760"/>
            <a:ext cx="5166360" cy="1051560"/>
          </a:xfrm>
          <a:prstGeom prst="roundRect">
            <a:avLst>
              <a:gd name="adj" fmla="val 6957"/>
            </a:avLst>
          </a:prstGeom>
          <a:solidFill>
            <a:srgbClr val="EEF3FC"/>
          </a:solidFill>
          <a:ln/>
          <a:effectLst>
            <a:outerShdw sx="100000" sy="100000" kx="0" ky="0" algn="bl" rotWithShape="0" blurRad="76200" dist="25400" dir="5400000">
              <a:srgbClr val="1E2761">
                <a:alpha val="12000"/>
              </a:srgbClr>
            </a:outerShdw>
          </a:effectLst>
        </p:spPr>
      </p:sp>
      <p:sp>
        <p:nvSpPr>
          <p:cNvPr id="11" name="Text 8"/>
          <p:cNvSpPr/>
          <p:nvPr/>
        </p:nvSpPr>
        <p:spPr>
          <a:xfrm>
            <a:off x="6556248" y="5047488"/>
            <a:ext cx="4946904" cy="578358"/>
          </a:xfrm>
          <a:prstGeom prst="rect">
            <a:avLst/>
          </a:prstGeom>
          <a:noFill/>
          <a:ln/>
        </p:spPr>
        <p:txBody>
          <a:bodyPr wrap="square" lIns="0" tIns="0" rIns="0" bIns="0" rtlCol="0" anchor="b"/>
          <a:lstStyle/>
          <a:p>
            <a:pPr algn="l" indent="0" marL="0">
              <a:buNone/>
            </a:pPr>
            <a:r>
              <a:rPr lang="en-US" sz="2200" b="1" dirty="0">
                <a:solidFill>
                  <a:srgbClr val="C1613C"/>
                </a:solidFill>
                <a:latin typeface="Cambria" pitchFamily="34" charset="0"/>
                <a:ea typeface="Cambria" pitchFamily="34" charset="-122"/>
                <a:cs typeface="Cambria" pitchFamily="34" charset="-120"/>
              </a:rPr>
              <a:t>98.2% / 98.3%</a:t>
            </a:r>
            <a:endParaRPr lang="en-US" sz="2200" dirty="0"/>
          </a:p>
        </p:txBody>
      </p:sp>
      <p:sp>
        <p:nvSpPr>
          <p:cNvPr id="12" name="Text 9"/>
          <p:cNvSpPr/>
          <p:nvPr/>
        </p:nvSpPr>
        <p:spPr>
          <a:xfrm>
            <a:off x="6556248" y="5568696"/>
            <a:ext cx="4946904" cy="399593"/>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Top-value-quartile membership overlap if the 15% product-value-uplift assumption were 10% / 20% instead — the specific number isn't load-bearing for who gets prioritized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SO WHAT — RECOMMENDATIONS</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Four actions — all built on high-confidence, design-based evidence</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548640" y="1965960"/>
            <a:ext cx="10881360" cy="960120"/>
          </a:xfrm>
          <a:prstGeom prst="roundRect">
            <a:avLst>
              <a:gd name="adj" fmla="val 5714"/>
            </a:avLst>
          </a:prstGeom>
          <a:solidFill>
            <a:srgbClr val="EEF3FC"/>
          </a:solidFill>
          <a:ln/>
        </p:spPr>
      </p:sp>
      <p:sp>
        <p:nvSpPr>
          <p:cNvPr id="6" name="Shape 4"/>
          <p:cNvSpPr/>
          <p:nvPr/>
        </p:nvSpPr>
        <p:spPr>
          <a:xfrm>
            <a:off x="731520" y="2167128"/>
            <a:ext cx="502920" cy="502920"/>
          </a:xfrm>
          <a:prstGeom prst="ellipse">
            <a:avLst/>
          </a:prstGeom>
          <a:solidFill>
            <a:srgbClr val="2C4870"/>
          </a:solidFill>
          <a:ln/>
        </p:spPr>
      </p:sp>
      <p:sp>
        <p:nvSpPr>
          <p:cNvPr id="7" name="Text 5"/>
          <p:cNvSpPr/>
          <p:nvPr/>
        </p:nvSpPr>
        <p:spPr>
          <a:xfrm>
            <a:off x="731520" y="2167128"/>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1</a:t>
            </a:r>
            <a:endParaRPr lang="en-US" sz="1540" dirty="0"/>
          </a:p>
        </p:txBody>
      </p:sp>
      <p:sp>
        <p:nvSpPr>
          <p:cNvPr id="8" name="Text 6"/>
          <p:cNvSpPr/>
          <p:nvPr/>
        </p:nvSpPr>
        <p:spPr>
          <a:xfrm>
            <a:off x="1417320" y="2039112"/>
            <a:ext cx="6949440" cy="822960"/>
          </a:xfrm>
          <a:prstGeom prst="rect">
            <a:avLst/>
          </a:prstGeom>
          <a:noFill/>
          <a:ln/>
        </p:spPr>
        <p:txBody>
          <a:bodyPr wrap="square" lIns="0" tIns="0" rIns="0" bIns="0" rtlCol="0" anchor="ctr"/>
          <a:lstStyle/>
          <a:p>
            <a:pPr indent="0" marL="0">
              <a:lnSpc>
                <a:spcPct val="115000"/>
              </a:lnSpc>
              <a:buNone/>
            </a:pPr>
            <a:r>
              <a:rPr lang="en-US" sz="1200" b="1" dirty="0">
                <a:solidFill>
                  <a:srgbClr val="1E2761"/>
                </a:solidFill>
                <a:latin typeface="Calibri" pitchFamily="34" charset="0"/>
                <a:ea typeface="Calibri" pitchFamily="34" charset="-122"/>
                <a:cs typeface="Calibri" pitchFamily="34" charset="-120"/>
              </a:rPr>
              <a:t>Adopt the ILP optimizer </a:t>
            </a:r>
            <a:pPr indent="0" marL="0">
              <a:lnSpc>
                <a:spcPct val="115000"/>
              </a:lnSpc>
              <a:buNone/>
            </a:pPr>
            <a:r>
              <a:rPr lang="en-US" sz="1200" dirty="0">
                <a:solidFill>
                  <a:srgbClr val="5B6B8C"/>
                </a:solidFill>
                <a:latin typeface="Calibri" pitchFamily="34" charset="0"/>
                <a:ea typeface="Calibri" pitchFamily="34" charset="-122"/>
                <a:cs typeface="Calibri" pitchFamily="34" charset="-120"/>
              </a:rPr>
              <a:t>in place of the informal "top 50% by value" rule.</a:t>
            </a:r>
            <a:endParaRPr lang="en-US" sz="1200" dirty="0"/>
          </a:p>
        </p:txBody>
      </p:sp>
      <p:sp>
        <p:nvSpPr>
          <p:cNvPr id="9" name="Text 7"/>
          <p:cNvSpPr/>
          <p:nvPr/>
        </p:nvSpPr>
        <p:spPr>
          <a:xfrm>
            <a:off x="8503920" y="2075688"/>
            <a:ext cx="2788920" cy="274320"/>
          </a:xfrm>
          <a:prstGeom prst="rect">
            <a:avLst/>
          </a:prstGeom>
          <a:noFill/>
          <a:ln/>
        </p:spPr>
        <p:txBody>
          <a:bodyPr wrap="square" lIns="0" tIns="0" rIns="0" bIns="0" rtlCol="0" anchor="ctr"/>
          <a:lstStyle/>
          <a:p>
            <a:pPr indent="0" marL="0">
              <a:buNone/>
            </a:pPr>
            <a:r>
              <a:rPr lang="en-US" sz="950" b="1" spc="100" kern="0" dirty="0">
                <a:solidFill>
                  <a:srgbClr val="C1613C"/>
                </a:solidFill>
                <a:latin typeface="Calibri" pitchFamily="34" charset="0"/>
                <a:ea typeface="Calibri" pitchFamily="34" charset="-122"/>
                <a:cs typeface="Calibri" pitchFamily="34" charset="-120"/>
              </a:rPr>
              <a:t>CONFIDENCE</a:t>
            </a:r>
            <a:endParaRPr lang="en-US" sz="950" dirty="0"/>
          </a:p>
        </p:txBody>
      </p:sp>
      <p:sp>
        <p:nvSpPr>
          <p:cNvPr id="10" name="Text 8"/>
          <p:cNvSpPr/>
          <p:nvPr/>
        </p:nvSpPr>
        <p:spPr>
          <a:xfrm>
            <a:off x="8503920" y="2331720"/>
            <a:ext cx="2788920" cy="548640"/>
          </a:xfrm>
          <a:prstGeom prst="rect">
            <a:avLst/>
          </a:prstGeom>
          <a:noFill/>
          <a:ln/>
        </p:spPr>
        <p:txBody>
          <a:bodyPr wrap="square" lIns="0" tIns="0" rIns="0" bIns="0" rtlCol="0" anchor="ctr"/>
          <a:lstStyle/>
          <a:p>
            <a:pPr indent="0" marL="0">
              <a:lnSpc>
                <a:spcPct val="110000"/>
              </a:lnSpc>
              <a:buNone/>
            </a:pPr>
            <a:r>
              <a:rPr lang="en-US" sz="1000" dirty="0">
                <a:solidFill>
                  <a:srgbClr val="1E2761"/>
                </a:solidFill>
                <a:latin typeface="Calibri" pitchFamily="34" charset="0"/>
                <a:ea typeface="Calibri" pitchFamily="34" charset="-122"/>
                <a:cs typeface="Calibri" pitchFamily="34" charset="-120"/>
              </a:rPr>
              <a:t>High — mechanical improvement on already-validated inputs, not a new causal claim.</a:t>
            </a:r>
            <a:endParaRPr lang="en-US" sz="1000" dirty="0"/>
          </a:p>
        </p:txBody>
      </p:sp>
      <p:sp>
        <p:nvSpPr>
          <p:cNvPr id="11" name="Shape 9"/>
          <p:cNvSpPr/>
          <p:nvPr/>
        </p:nvSpPr>
        <p:spPr>
          <a:xfrm>
            <a:off x="548640" y="3081528"/>
            <a:ext cx="10881360" cy="960120"/>
          </a:xfrm>
          <a:prstGeom prst="roundRect">
            <a:avLst>
              <a:gd name="adj" fmla="val 5714"/>
            </a:avLst>
          </a:prstGeom>
          <a:solidFill>
            <a:srgbClr val="EEF3FC"/>
          </a:solidFill>
          <a:ln/>
        </p:spPr>
      </p:sp>
      <p:sp>
        <p:nvSpPr>
          <p:cNvPr id="12" name="Shape 10"/>
          <p:cNvSpPr/>
          <p:nvPr/>
        </p:nvSpPr>
        <p:spPr>
          <a:xfrm>
            <a:off x="731520" y="3282696"/>
            <a:ext cx="502920" cy="502920"/>
          </a:xfrm>
          <a:prstGeom prst="ellipse">
            <a:avLst/>
          </a:prstGeom>
          <a:solidFill>
            <a:srgbClr val="2C4870"/>
          </a:solidFill>
          <a:ln/>
        </p:spPr>
      </p:sp>
      <p:sp>
        <p:nvSpPr>
          <p:cNvPr id="13" name="Text 11"/>
          <p:cNvSpPr/>
          <p:nvPr/>
        </p:nvSpPr>
        <p:spPr>
          <a:xfrm>
            <a:off x="731520" y="3282696"/>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2</a:t>
            </a:r>
            <a:endParaRPr lang="en-US" sz="1540" dirty="0"/>
          </a:p>
        </p:txBody>
      </p:sp>
      <p:sp>
        <p:nvSpPr>
          <p:cNvPr id="14" name="Text 12"/>
          <p:cNvSpPr/>
          <p:nvPr/>
        </p:nvSpPr>
        <p:spPr>
          <a:xfrm>
            <a:off x="1417320" y="3154680"/>
            <a:ext cx="6949440" cy="822960"/>
          </a:xfrm>
          <a:prstGeom prst="rect">
            <a:avLst/>
          </a:prstGeom>
          <a:noFill/>
          <a:ln/>
        </p:spPr>
        <p:txBody>
          <a:bodyPr wrap="square" lIns="0" tIns="0" rIns="0" bIns="0" rtlCol="0" anchor="ctr"/>
          <a:lstStyle/>
          <a:p>
            <a:pPr indent="0" marL="0">
              <a:lnSpc>
                <a:spcPct val="115000"/>
              </a:lnSpc>
              <a:buNone/>
            </a:pPr>
            <a:r>
              <a:rPr lang="en-US" sz="1200" b="1" dirty="0">
                <a:solidFill>
                  <a:srgbClr val="1E2761"/>
                </a:solidFill>
                <a:latin typeface="Calibri" pitchFamily="34" charset="0"/>
                <a:ea typeface="Calibri" pitchFamily="34" charset="-122"/>
                <a:cs typeface="Calibri" pitchFamily="34" charset="-120"/>
              </a:rPr>
              <a:t>Formalize the 30%-withdrawal → RM-outreach trigger </a:t>
            </a:r>
            <a:pPr indent="0" marL="0">
              <a:lnSpc>
                <a:spcPct val="115000"/>
              </a:lnSpc>
              <a:buNone/>
            </a:pPr>
            <a:r>
              <a:rPr lang="en-US" sz="1200" dirty="0">
                <a:solidFill>
                  <a:srgbClr val="5B6B8C"/>
                </a:solidFill>
                <a:latin typeface="Calibri" pitchFamily="34" charset="0"/>
                <a:ea typeface="Calibri" pitchFamily="34" charset="-122"/>
                <a:cs typeface="Calibri" pitchFamily="34" charset="-120"/>
              </a:rPr>
              <a:t>as an explicit, monitored policy.</a:t>
            </a:r>
            <a:endParaRPr lang="en-US" sz="1200" dirty="0"/>
          </a:p>
        </p:txBody>
      </p:sp>
      <p:sp>
        <p:nvSpPr>
          <p:cNvPr id="15" name="Text 13"/>
          <p:cNvSpPr/>
          <p:nvPr/>
        </p:nvSpPr>
        <p:spPr>
          <a:xfrm>
            <a:off x="8503920" y="3191256"/>
            <a:ext cx="2788920" cy="274320"/>
          </a:xfrm>
          <a:prstGeom prst="rect">
            <a:avLst/>
          </a:prstGeom>
          <a:noFill/>
          <a:ln/>
        </p:spPr>
        <p:txBody>
          <a:bodyPr wrap="square" lIns="0" tIns="0" rIns="0" bIns="0" rtlCol="0" anchor="ctr"/>
          <a:lstStyle/>
          <a:p>
            <a:pPr indent="0" marL="0">
              <a:buNone/>
            </a:pPr>
            <a:r>
              <a:rPr lang="en-US" sz="950" b="1" spc="100" kern="0" dirty="0">
                <a:solidFill>
                  <a:srgbClr val="C1613C"/>
                </a:solidFill>
                <a:latin typeface="Calibri" pitchFamily="34" charset="0"/>
                <a:ea typeface="Calibri" pitchFamily="34" charset="-122"/>
                <a:cs typeface="Calibri" pitchFamily="34" charset="-120"/>
              </a:rPr>
              <a:t>CONFIDENCE</a:t>
            </a:r>
            <a:endParaRPr lang="en-US" sz="950" dirty="0"/>
          </a:p>
        </p:txBody>
      </p:sp>
      <p:sp>
        <p:nvSpPr>
          <p:cNvPr id="16" name="Text 14"/>
          <p:cNvSpPr/>
          <p:nvPr/>
        </p:nvSpPr>
        <p:spPr>
          <a:xfrm>
            <a:off x="8503920" y="3447288"/>
            <a:ext cx="2788920" cy="548640"/>
          </a:xfrm>
          <a:prstGeom prst="rect">
            <a:avLst/>
          </a:prstGeom>
          <a:noFill/>
          <a:ln/>
        </p:spPr>
        <p:txBody>
          <a:bodyPr wrap="square" lIns="0" tIns="0" rIns="0" bIns="0" rtlCol="0" anchor="ctr"/>
          <a:lstStyle/>
          <a:p>
            <a:pPr indent="0" marL="0">
              <a:lnSpc>
                <a:spcPct val="110000"/>
              </a:lnSpc>
              <a:buNone/>
            </a:pPr>
            <a:r>
              <a:rPr lang="en-US" sz="1000" dirty="0">
                <a:solidFill>
                  <a:srgbClr val="1E2761"/>
                </a:solidFill>
                <a:latin typeface="Calibri" pitchFamily="34" charset="0"/>
                <a:ea typeface="Calibri" pitchFamily="34" charset="-122"/>
                <a:cs typeface="Calibri" pitchFamily="34" charset="-120"/>
              </a:rPr>
              <a:t>High — RDD, no-manipulation assumption directly tested.</a:t>
            </a:r>
            <a:endParaRPr lang="en-US" sz="1000" dirty="0"/>
          </a:p>
        </p:txBody>
      </p:sp>
      <p:sp>
        <p:nvSpPr>
          <p:cNvPr id="17" name="Shape 15"/>
          <p:cNvSpPr/>
          <p:nvPr/>
        </p:nvSpPr>
        <p:spPr>
          <a:xfrm>
            <a:off x="548640" y="4197096"/>
            <a:ext cx="10881360" cy="960120"/>
          </a:xfrm>
          <a:prstGeom prst="roundRect">
            <a:avLst>
              <a:gd name="adj" fmla="val 5714"/>
            </a:avLst>
          </a:prstGeom>
          <a:solidFill>
            <a:srgbClr val="EEF3FC"/>
          </a:solidFill>
          <a:ln/>
        </p:spPr>
      </p:sp>
      <p:sp>
        <p:nvSpPr>
          <p:cNvPr id="18" name="Shape 16"/>
          <p:cNvSpPr/>
          <p:nvPr/>
        </p:nvSpPr>
        <p:spPr>
          <a:xfrm>
            <a:off x="731520" y="4398264"/>
            <a:ext cx="502920" cy="502920"/>
          </a:xfrm>
          <a:prstGeom prst="ellipse">
            <a:avLst/>
          </a:prstGeom>
          <a:solidFill>
            <a:srgbClr val="C1613C"/>
          </a:solidFill>
          <a:ln/>
        </p:spPr>
      </p:sp>
      <p:sp>
        <p:nvSpPr>
          <p:cNvPr id="19" name="Text 17"/>
          <p:cNvSpPr/>
          <p:nvPr/>
        </p:nvSpPr>
        <p:spPr>
          <a:xfrm>
            <a:off x="731520" y="4398264"/>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3</a:t>
            </a:r>
            <a:endParaRPr lang="en-US" sz="1540" dirty="0"/>
          </a:p>
        </p:txBody>
      </p:sp>
      <p:sp>
        <p:nvSpPr>
          <p:cNvPr id="20" name="Text 18"/>
          <p:cNvSpPr/>
          <p:nvPr/>
        </p:nvSpPr>
        <p:spPr>
          <a:xfrm>
            <a:off x="1417320" y="4270248"/>
            <a:ext cx="6949440" cy="822960"/>
          </a:xfrm>
          <a:prstGeom prst="rect">
            <a:avLst/>
          </a:prstGeom>
          <a:noFill/>
          <a:ln/>
        </p:spPr>
        <p:txBody>
          <a:bodyPr wrap="square" lIns="0" tIns="0" rIns="0" bIns="0" rtlCol="0" anchor="ctr"/>
          <a:lstStyle/>
          <a:p>
            <a:pPr indent="0" marL="0">
              <a:lnSpc>
                <a:spcPct val="115000"/>
              </a:lnSpc>
              <a:buNone/>
            </a:pPr>
            <a:r>
              <a:rPr lang="en-US" sz="1200" b="1" dirty="0">
                <a:solidFill>
                  <a:srgbClr val="1E2761"/>
                </a:solidFill>
                <a:latin typeface="Calibri" pitchFamily="34" charset="0"/>
                <a:ea typeface="Calibri" pitchFamily="34" charset="-122"/>
                <a:cs typeface="Calibri" pitchFamily="34" charset="-120"/>
              </a:rPr>
              <a:t>Scale both dormant plays (HV cashback, LV SMS) </a:t>
            </a:r>
            <a:pPr indent="0" marL="0">
              <a:lnSpc>
                <a:spcPct val="115000"/>
              </a:lnSpc>
              <a:buNone/>
            </a:pPr>
            <a:r>
              <a:rPr lang="en-US" sz="1200" dirty="0">
                <a:solidFill>
                  <a:srgbClr val="5B6B8C"/>
                </a:solidFill>
                <a:latin typeface="Calibri" pitchFamily="34" charset="0"/>
                <a:ea typeface="Calibri" pitchFamily="34" charset="-122"/>
                <a:cs typeface="Calibri" pitchFamily="34" charset="-120"/>
              </a:rPr>
              <a:t>to the full flagged population — no longer a pilot-first recommendation.</a:t>
            </a:r>
            <a:endParaRPr lang="en-US" sz="1200" dirty="0"/>
          </a:p>
        </p:txBody>
      </p:sp>
      <p:sp>
        <p:nvSpPr>
          <p:cNvPr id="21" name="Text 19"/>
          <p:cNvSpPr/>
          <p:nvPr/>
        </p:nvSpPr>
        <p:spPr>
          <a:xfrm>
            <a:off x="8503920" y="4306824"/>
            <a:ext cx="2788920" cy="274320"/>
          </a:xfrm>
          <a:prstGeom prst="rect">
            <a:avLst/>
          </a:prstGeom>
          <a:noFill/>
          <a:ln/>
        </p:spPr>
        <p:txBody>
          <a:bodyPr wrap="square" lIns="0" tIns="0" rIns="0" bIns="0" rtlCol="0" anchor="ctr"/>
          <a:lstStyle/>
          <a:p>
            <a:pPr indent="0" marL="0">
              <a:buNone/>
            </a:pPr>
            <a:r>
              <a:rPr lang="en-US" sz="950" b="1" spc="100" kern="0" dirty="0">
                <a:solidFill>
                  <a:srgbClr val="C1613C"/>
                </a:solidFill>
                <a:latin typeface="Calibri" pitchFamily="34" charset="0"/>
                <a:ea typeface="Calibri" pitchFamily="34" charset="-122"/>
                <a:cs typeface="Calibri" pitchFamily="34" charset="-120"/>
              </a:rPr>
              <a:t>CONFIDENCE</a:t>
            </a:r>
            <a:endParaRPr lang="en-US" sz="950" dirty="0"/>
          </a:p>
        </p:txBody>
      </p:sp>
      <p:sp>
        <p:nvSpPr>
          <p:cNvPr id="22" name="Text 20"/>
          <p:cNvSpPr/>
          <p:nvPr/>
        </p:nvSpPr>
        <p:spPr>
          <a:xfrm>
            <a:off x="8503920" y="4562856"/>
            <a:ext cx="2788920" cy="548640"/>
          </a:xfrm>
          <a:prstGeom prst="rect">
            <a:avLst/>
          </a:prstGeom>
          <a:noFill/>
          <a:ln/>
        </p:spPr>
        <p:txBody>
          <a:bodyPr wrap="square" lIns="0" tIns="0" rIns="0" bIns="0" rtlCol="0" anchor="ctr"/>
          <a:lstStyle/>
          <a:p>
            <a:pPr indent="0" marL="0">
              <a:lnSpc>
                <a:spcPct val="110000"/>
              </a:lnSpc>
              <a:buNone/>
            </a:pPr>
            <a:r>
              <a:rPr lang="en-US" sz="1000" dirty="0">
                <a:solidFill>
                  <a:srgbClr val="1E2761"/>
                </a:solidFill>
                <a:latin typeface="Calibri" pitchFamily="34" charset="0"/>
                <a:ea typeface="Calibri" pitchFamily="34" charset="-122"/>
                <a:cs typeface="Calibri" pitchFamily="34" charset="-120"/>
              </a:rPr>
              <a:t>High — randomized within-tier holdout, balance checked.</a:t>
            </a:r>
            <a:endParaRPr lang="en-US" sz="1000" dirty="0"/>
          </a:p>
        </p:txBody>
      </p:sp>
      <p:sp>
        <p:nvSpPr>
          <p:cNvPr id="23" name="Shape 21"/>
          <p:cNvSpPr/>
          <p:nvPr/>
        </p:nvSpPr>
        <p:spPr>
          <a:xfrm>
            <a:off x="548640" y="5312664"/>
            <a:ext cx="10881360" cy="960120"/>
          </a:xfrm>
          <a:prstGeom prst="roundRect">
            <a:avLst>
              <a:gd name="adj" fmla="val 5714"/>
            </a:avLst>
          </a:prstGeom>
          <a:solidFill>
            <a:srgbClr val="EEF3FC"/>
          </a:solidFill>
          <a:ln/>
        </p:spPr>
      </p:sp>
      <p:sp>
        <p:nvSpPr>
          <p:cNvPr id="24" name="Shape 22"/>
          <p:cNvSpPr/>
          <p:nvPr/>
        </p:nvSpPr>
        <p:spPr>
          <a:xfrm>
            <a:off x="731520" y="5513832"/>
            <a:ext cx="502920" cy="502920"/>
          </a:xfrm>
          <a:prstGeom prst="ellipse">
            <a:avLst/>
          </a:prstGeom>
          <a:solidFill>
            <a:srgbClr val="2C4870"/>
          </a:solidFill>
          <a:ln/>
        </p:spPr>
      </p:sp>
      <p:sp>
        <p:nvSpPr>
          <p:cNvPr id="25" name="Text 23"/>
          <p:cNvSpPr/>
          <p:nvPr/>
        </p:nvSpPr>
        <p:spPr>
          <a:xfrm>
            <a:off x="731520" y="5513832"/>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4</a:t>
            </a:r>
            <a:endParaRPr lang="en-US" sz="1540" dirty="0"/>
          </a:p>
        </p:txBody>
      </p:sp>
      <p:sp>
        <p:nvSpPr>
          <p:cNvPr id="26" name="Text 24"/>
          <p:cNvSpPr/>
          <p:nvPr/>
        </p:nvSpPr>
        <p:spPr>
          <a:xfrm>
            <a:off x="1417320" y="5385816"/>
            <a:ext cx="6949440" cy="822960"/>
          </a:xfrm>
          <a:prstGeom prst="rect">
            <a:avLst/>
          </a:prstGeom>
          <a:noFill/>
          <a:ln/>
        </p:spPr>
        <p:txBody>
          <a:bodyPr wrap="square" lIns="0" tIns="0" rIns="0" bIns="0" rtlCol="0" anchor="ctr"/>
          <a:lstStyle/>
          <a:p>
            <a:pPr indent="0" marL="0">
              <a:lnSpc>
                <a:spcPct val="115000"/>
              </a:lnSpc>
              <a:buNone/>
            </a:pPr>
            <a:r>
              <a:rPr lang="en-US" sz="1200" b="1" dirty="0">
                <a:solidFill>
                  <a:srgbClr val="1E2761"/>
                </a:solidFill>
                <a:latin typeface="Calibri" pitchFamily="34" charset="0"/>
                <a:ea typeface="Calibri" pitchFamily="34" charset="-122"/>
                <a:cs typeface="Calibri" pitchFamily="34" charset="-120"/>
              </a:rPr>
              <a:t>Don't evaluate the DD-stop offer's rollout before month 3 </a:t>
            </a:r>
            <a:pPr indent="0" marL="0">
              <a:lnSpc>
                <a:spcPct val="115000"/>
              </a:lnSpc>
              <a:buNone/>
            </a:pPr>
            <a:r>
              <a:rPr lang="en-US" sz="1200" dirty="0">
                <a:solidFill>
                  <a:srgbClr val="5B6B8C"/>
                </a:solidFill>
                <a:latin typeface="Calibri" pitchFamily="34" charset="0"/>
                <a:ea typeface="Calibri" pitchFamily="34" charset="-122"/>
                <a:cs typeface="Calibri" pitchFamily="34" charset="-120"/>
              </a:rPr>
              <a:t>the effect ramps in as awareness/take-up build.</a:t>
            </a:r>
            <a:endParaRPr lang="en-US" sz="1200" dirty="0"/>
          </a:p>
        </p:txBody>
      </p:sp>
      <p:sp>
        <p:nvSpPr>
          <p:cNvPr id="27" name="Text 25"/>
          <p:cNvSpPr/>
          <p:nvPr/>
        </p:nvSpPr>
        <p:spPr>
          <a:xfrm>
            <a:off x="8503920" y="5422392"/>
            <a:ext cx="2788920" cy="274320"/>
          </a:xfrm>
          <a:prstGeom prst="rect">
            <a:avLst/>
          </a:prstGeom>
          <a:noFill/>
          <a:ln/>
        </p:spPr>
        <p:txBody>
          <a:bodyPr wrap="square" lIns="0" tIns="0" rIns="0" bIns="0" rtlCol="0" anchor="ctr"/>
          <a:lstStyle/>
          <a:p>
            <a:pPr indent="0" marL="0">
              <a:buNone/>
            </a:pPr>
            <a:r>
              <a:rPr lang="en-US" sz="950" b="1" spc="100" kern="0" dirty="0">
                <a:solidFill>
                  <a:srgbClr val="C1613C"/>
                </a:solidFill>
                <a:latin typeface="Calibri" pitchFamily="34" charset="0"/>
                <a:ea typeface="Calibri" pitchFamily="34" charset="-122"/>
                <a:cs typeface="Calibri" pitchFamily="34" charset="-120"/>
              </a:rPr>
              <a:t>CONFIDENCE</a:t>
            </a:r>
            <a:endParaRPr lang="en-US" sz="950" dirty="0"/>
          </a:p>
        </p:txBody>
      </p:sp>
      <p:sp>
        <p:nvSpPr>
          <p:cNvPr id="28" name="Text 26"/>
          <p:cNvSpPr/>
          <p:nvPr/>
        </p:nvSpPr>
        <p:spPr>
          <a:xfrm>
            <a:off x="8503920" y="5678424"/>
            <a:ext cx="2788920" cy="548640"/>
          </a:xfrm>
          <a:prstGeom prst="rect">
            <a:avLst/>
          </a:prstGeom>
          <a:noFill/>
          <a:ln/>
        </p:spPr>
        <p:txBody>
          <a:bodyPr wrap="square" lIns="0" tIns="0" rIns="0" bIns="0" rtlCol="0" anchor="ctr"/>
          <a:lstStyle/>
          <a:p>
            <a:pPr indent="0" marL="0">
              <a:lnSpc>
                <a:spcPct val="110000"/>
              </a:lnSpc>
              <a:buNone/>
            </a:pPr>
            <a:r>
              <a:rPr lang="en-US" sz="1000" dirty="0">
                <a:solidFill>
                  <a:srgbClr val="1E2761"/>
                </a:solidFill>
                <a:latin typeface="Calibri" pitchFamily="34" charset="0"/>
                <a:ea typeface="Calibri" pitchFamily="34" charset="-122"/>
                <a:cs typeface="Calibri" pitchFamily="34" charset="-120"/>
              </a:rPr>
              <a:t>High — DiD, parallel pre-trends directly tested.</a:t>
            </a:r>
            <a:endParaRPr lang="en-US" sz="1000" dirty="0"/>
          </a:p>
        </p:txBody>
      </p:sp>
      <p:sp>
        <p:nvSpPr>
          <p:cNvPr id="29" name="Text 27"/>
          <p:cNvSpPr/>
          <p:nvPr/>
        </p:nvSpPr>
        <p:spPr>
          <a:xfrm>
            <a:off x="548640" y="6263640"/>
            <a:ext cx="10881360" cy="502920"/>
          </a:xfrm>
          <a:prstGeom prst="rect">
            <a:avLst/>
          </a:prstGeom>
          <a:noFill/>
          <a:ln/>
        </p:spPr>
        <p:txBody>
          <a:bodyPr wrap="square" lIns="0" tIns="0" rIns="0" bIns="0" rtlCol="0" anchor="ctr"/>
          <a:lstStyle/>
          <a:p>
            <a:pPr indent="0" marL="0">
              <a:buNone/>
            </a:pPr>
            <a:r>
              <a:rPr lang="en-US" sz="1100" i="1" dirty="0">
                <a:solidFill>
                  <a:srgbClr val="5B6B8C"/>
                </a:solidFill>
                <a:latin typeface="Calibri" pitchFamily="34" charset="0"/>
                <a:ea typeface="Calibri" pitchFamily="34" charset="-122"/>
                <a:cs typeface="Calibri" pitchFamily="34" charset="-120"/>
              </a:rPr>
              <a:t>Every effect size behind these four is now design-based and high-confidence — the redesign's point wasn't to make one number bigger, it was to close the identification gap the old observational dormant estimate carried. Priority here follows practical sequencing (adopt the mechanical win first, then the largest-impact scaled plays), not a confidence hierarchy — that gap no longer exists.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RESULT — TYING IT BACK</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The real project already worked. This is the engine underneath it, made rigorous.</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548640" y="2057400"/>
            <a:ext cx="5303520" cy="3931920"/>
          </a:xfrm>
          <a:prstGeom prst="roundRect">
            <a:avLst>
              <a:gd name="adj" fmla="val 1860"/>
            </a:avLst>
          </a:prstGeom>
          <a:solidFill>
            <a:srgbClr val="EEF3FC"/>
          </a:solidFill>
          <a:ln/>
        </p:spPr>
      </p:sp>
      <p:sp>
        <p:nvSpPr>
          <p:cNvPr id="6" name="Text 4"/>
          <p:cNvSpPr/>
          <p:nvPr/>
        </p:nvSpPr>
        <p:spPr>
          <a:xfrm>
            <a:off x="868680" y="2286000"/>
            <a:ext cx="466344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WHAT ACTUALLY HAPPENED</a:t>
            </a:r>
            <a:endParaRPr lang="en-US" sz="1200" dirty="0"/>
          </a:p>
        </p:txBody>
      </p:sp>
      <p:sp>
        <p:nvSpPr>
          <p:cNvPr id="7" name="Shape 5"/>
          <p:cNvSpPr/>
          <p:nvPr/>
        </p:nvSpPr>
        <p:spPr>
          <a:xfrm>
            <a:off x="868680" y="2697480"/>
            <a:ext cx="4663440" cy="1051560"/>
          </a:xfrm>
          <a:prstGeom prst="roundRect">
            <a:avLst>
              <a:gd name="adj" fmla="val 6957"/>
            </a:avLst>
          </a:prstGeom>
          <a:solidFill>
            <a:srgbClr val="FFFFFF"/>
          </a:solidFill>
          <a:ln/>
          <a:effectLst>
            <a:outerShdw sx="100000" sy="100000" kx="0" ky="0" algn="bl" rotWithShape="0" blurRad="76200" dist="25400" dir="5400000">
              <a:srgbClr val="1E2761">
                <a:alpha val="12000"/>
              </a:srgbClr>
            </a:outerShdw>
          </a:effectLst>
        </p:spPr>
      </p:sp>
      <p:sp>
        <p:nvSpPr>
          <p:cNvPr id="8" name="Text 6"/>
          <p:cNvSpPr/>
          <p:nvPr/>
        </p:nvSpPr>
        <p:spPr>
          <a:xfrm>
            <a:off x="978408" y="2807208"/>
            <a:ext cx="4443984" cy="578358"/>
          </a:xfrm>
          <a:prstGeom prst="rect">
            <a:avLst/>
          </a:prstGeom>
          <a:noFill/>
          <a:ln/>
        </p:spPr>
        <p:txBody>
          <a:bodyPr wrap="square" lIns="0" tIns="0" rIns="0" bIns="0" rtlCol="0" anchor="b"/>
          <a:lstStyle/>
          <a:p>
            <a:pPr algn="l" indent="0" marL="0">
              <a:buNone/>
            </a:pPr>
            <a:r>
              <a:rPr lang="en-US" sz="3000" b="1" dirty="0">
                <a:solidFill>
                  <a:srgbClr val="C1613C"/>
                </a:solidFill>
                <a:latin typeface="Cambria" pitchFamily="34" charset="0"/>
                <a:ea typeface="Cambria" pitchFamily="34" charset="-122"/>
                <a:cs typeface="Cambria" pitchFamily="34" charset="-120"/>
              </a:rPr>
              <a:t>-30%</a:t>
            </a:r>
            <a:endParaRPr lang="en-US" sz="3000" dirty="0"/>
          </a:p>
        </p:txBody>
      </p:sp>
      <p:sp>
        <p:nvSpPr>
          <p:cNvPr id="9" name="Text 7"/>
          <p:cNvSpPr/>
          <p:nvPr/>
        </p:nvSpPr>
        <p:spPr>
          <a:xfrm>
            <a:off x="978408" y="3328416"/>
            <a:ext cx="4443984" cy="399593"/>
          </a:xfrm>
          <a:prstGeom prst="rect">
            <a:avLst/>
          </a:prstGeom>
          <a:noFill/>
          <a:ln/>
        </p:spPr>
        <p:txBody>
          <a:bodyPr wrap="square" lIns="0" tIns="0" rIns="0" bIns="0" rtlCol="0" anchor="t"/>
          <a:lstStyle/>
          <a:p>
            <a:pPr algn="l" indent="0" marL="0">
              <a:buNone/>
            </a:pPr>
            <a:r>
              <a:rPr lang="en-US" sz="1100" dirty="0">
                <a:solidFill>
                  <a:srgbClr val="5B6B8C"/>
                </a:solidFill>
                <a:latin typeface="Calibri" pitchFamily="34" charset="0"/>
                <a:ea typeface="Calibri" pitchFamily="34" charset="-122"/>
                <a:cs typeface="Calibri" pitchFamily="34" charset="-120"/>
              </a:rPr>
              <a:t>Relative churn reduction, randomized A/B test vs. blanket outreach</a:t>
            </a:r>
            <a:endParaRPr lang="en-US" sz="1100" dirty="0"/>
          </a:p>
        </p:txBody>
      </p:sp>
      <p:sp>
        <p:nvSpPr>
          <p:cNvPr id="10" name="Text 8"/>
          <p:cNvSpPr/>
          <p:nvPr/>
        </p:nvSpPr>
        <p:spPr>
          <a:xfrm>
            <a:off x="868680" y="3931920"/>
            <a:ext cx="4663440" cy="1828800"/>
          </a:xfrm>
          <a:prstGeom prst="rect">
            <a:avLst/>
          </a:prstGeom>
          <a:noFill/>
          <a:ln/>
        </p:spPr>
        <p:txBody>
          <a:bodyPr wrap="square" lIns="0" tIns="0" rIns="0" bIns="0" rtlCol="0" anchor="ctr"/>
          <a:lstStyle/>
          <a:p>
            <a:pPr indent="0" marL="0">
              <a:lnSpc>
                <a:spcPct val="125000"/>
              </a:lnSpc>
              <a:buNone/>
            </a:pPr>
            <a:r>
              <a:rPr lang="en-US" sz="1250" dirty="0">
                <a:solidFill>
                  <a:srgbClr val="5B6B8C"/>
                </a:solidFill>
                <a:latin typeface="Calibri" pitchFamily="34" charset="0"/>
                <a:ea typeface="Calibri" pitchFamily="34" charset="-122"/>
                <a:cs typeface="Calibri" pitchFamily="34" charset="-120"/>
              </a:rPr>
              <a:t>Validated the only way we had time and buy-in to validate: an outcomes-based A/B test on the overall trigger-and-outreach program. That's a real, defensible result — and it's also the limit of what we did at the time.</a:t>
            </a:r>
            <a:endParaRPr lang="en-US" sz="1250" dirty="0"/>
          </a:p>
        </p:txBody>
      </p:sp>
      <p:sp>
        <p:nvSpPr>
          <p:cNvPr id="11" name="Shape 9"/>
          <p:cNvSpPr/>
          <p:nvPr/>
        </p:nvSpPr>
        <p:spPr>
          <a:xfrm>
            <a:off x="6126480" y="2057400"/>
            <a:ext cx="5303520" cy="3931920"/>
          </a:xfrm>
          <a:prstGeom prst="roundRect">
            <a:avLst>
              <a:gd name="adj" fmla="val 1860"/>
            </a:avLst>
          </a:prstGeom>
          <a:solidFill>
            <a:srgbClr val="1E2761"/>
          </a:solidFill>
          <a:ln/>
        </p:spPr>
      </p:sp>
      <p:sp>
        <p:nvSpPr>
          <p:cNvPr id="12" name="Text 10"/>
          <p:cNvSpPr/>
          <p:nvPr/>
        </p:nvSpPr>
        <p:spPr>
          <a:xfrm>
            <a:off x="6446520" y="2286000"/>
            <a:ext cx="466344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WHAT THIS ENGINE ADDS</a:t>
            </a:r>
            <a:endParaRPr lang="en-US" sz="1200" dirty="0"/>
          </a:p>
        </p:txBody>
      </p:sp>
      <p:sp>
        <p:nvSpPr>
          <p:cNvPr id="13" name="Text 11"/>
          <p:cNvSpPr/>
          <p:nvPr/>
        </p:nvSpPr>
        <p:spPr>
          <a:xfrm>
            <a:off x="6446520" y="2697480"/>
            <a:ext cx="4709160" cy="31089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Per-trigger causal identification, including for the one trigger a blanket A/B test never isolates on its own</a:t>
            </a:r>
            <a:endParaRPr lang="en-US" sz="1250" dirty="0"/>
          </a:p>
          <a:p>
            <a:pPr marL="342900" indent="-342900">
              <a:lnSpc>
                <a:spcPct val="12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 formal, re-runnable optimization instead of a fixed value-score cutoff — it flexes with budget</a:t>
            </a:r>
            <a:endParaRPr lang="en-US" sz="1250" dirty="0"/>
          </a:p>
          <a:p>
            <a:pPr marL="342900" indent="-342900">
              <a:lnSpc>
                <a:spcPct val="12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 quantified, confidence-labeled business case instead of a technical result that stops at the model</a:t>
            </a:r>
            <a:endParaRPr lang="en-US" sz="1250" dirty="0"/>
          </a:p>
          <a:p>
            <a:pPr marL="342900" indent="-342900">
              <a:lnSpc>
                <a:spcPct val="12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Every method graded against a known ground truth before I'd trust it on a real decision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LIMITATIONS — AND WHY THIS ROLE</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What I'd still want before this touches production</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548640" y="2057400"/>
            <a:ext cx="10881360" cy="1051560"/>
          </a:xfrm>
          <a:prstGeom prst="roundRect">
            <a:avLst>
              <a:gd name="adj" fmla="val 5217"/>
            </a:avLst>
          </a:prstGeom>
          <a:solidFill>
            <a:srgbClr val="EEF3FC"/>
          </a:solidFill>
          <a:ln/>
        </p:spPr>
      </p:sp>
      <p:sp>
        <p:nvSpPr>
          <p:cNvPr id="6" name="Text 4"/>
          <p:cNvSpPr/>
          <p:nvPr/>
        </p:nvSpPr>
        <p:spPr>
          <a:xfrm>
            <a:off x="822960" y="2148840"/>
            <a:ext cx="3840480" cy="868680"/>
          </a:xfrm>
          <a:prstGeom prst="rect">
            <a:avLst/>
          </a:prstGeom>
          <a:noFill/>
          <a:ln/>
        </p:spPr>
        <p:txBody>
          <a:bodyPr wrap="square" lIns="0" tIns="0" rIns="0" bIns="0" rtlCol="0" anchor="ctr"/>
          <a:lstStyle/>
          <a:p>
            <a:pPr indent="0" marL="0">
              <a:lnSpc>
                <a:spcPct val="110000"/>
              </a:lnSpc>
              <a:buNone/>
            </a:pPr>
            <a:r>
              <a:rPr lang="en-US" sz="1250" b="1" dirty="0">
                <a:solidFill>
                  <a:srgbClr val="1E2761"/>
                </a:solidFill>
                <a:latin typeface="Calibri" pitchFamily="34" charset="0"/>
                <a:ea typeface="Calibri" pitchFamily="34" charset="-122"/>
                <a:cs typeface="Calibri" pitchFamily="34" charset="-120"/>
              </a:rPr>
              <a:t>Every estimate is scoped to the population it was tested on</a:t>
            </a:r>
            <a:endParaRPr lang="en-US" sz="1250" dirty="0"/>
          </a:p>
        </p:txBody>
      </p:sp>
      <p:sp>
        <p:nvSpPr>
          <p:cNvPr id="7" name="Text 5"/>
          <p:cNvSpPr/>
          <p:nvPr/>
        </p:nvSpPr>
        <p:spPr>
          <a:xfrm>
            <a:off x="4800600" y="2148840"/>
            <a:ext cx="6446520" cy="868680"/>
          </a:xfrm>
          <a:prstGeom prst="rect">
            <a:avLst/>
          </a:prstGeom>
          <a:noFill/>
          <a:ln/>
        </p:spPr>
        <p:txBody>
          <a:bodyPr wrap="square" lIns="0" tIns="0" rIns="0" bIns="0" rtlCol="0" anchor="ctr"/>
          <a:lstStyle/>
          <a:p>
            <a:pPr indent="0" marL="0">
              <a:lnSpc>
                <a:spcPct val="115000"/>
              </a:lnSpc>
              <a:buNone/>
            </a:pPr>
            <a:r>
              <a:rPr lang="en-US" sz="1130" dirty="0">
                <a:solidFill>
                  <a:srgbClr val="5B6B8C"/>
                </a:solidFill>
                <a:latin typeface="Calibri" pitchFamily="34" charset="0"/>
                <a:ea typeface="Calibri" pitchFamily="34" charset="-122"/>
                <a:cs typeface="Calibri" pitchFamily="34" charset="-120"/>
              </a:rPr>
              <a:t>RDD and the DiD offer are HV-only; the cashback play is HV-only and SMS is LV-only. None of these effect sizes should be assumed to generalize across tiers without testing there directly — extrapolating the cashback effect to LV accounts, for instance, would not be valid.</a:t>
            </a:r>
            <a:endParaRPr lang="en-US" sz="1130" dirty="0"/>
          </a:p>
        </p:txBody>
      </p:sp>
      <p:sp>
        <p:nvSpPr>
          <p:cNvPr id="8" name="Shape 6"/>
          <p:cNvSpPr/>
          <p:nvPr/>
        </p:nvSpPr>
        <p:spPr>
          <a:xfrm>
            <a:off x="548640" y="3291840"/>
            <a:ext cx="10881360" cy="1051560"/>
          </a:xfrm>
          <a:prstGeom prst="roundRect">
            <a:avLst>
              <a:gd name="adj" fmla="val 5217"/>
            </a:avLst>
          </a:prstGeom>
          <a:solidFill>
            <a:srgbClr val="EEF3FC"/>
          </a:solidFill>
          <a:ln/>
        </p:spPr>
      </p:sp>
      <p:sp>
        <p:nvSpPr>
          <p:cNvPr id="9" name="Text 7"/>
          <p:cNvSpPr/>
          <p:nvPr/>
        </p:nvSpPr>
        <p:spPr>
          <a:xfrm>
            <a:off x="822960" y="3383280"/>
            <a:ext cx="3840480" cy="868680"/>
          </a:xfrm>
          <a:prstGeom prst="rect">
            <a:avLst/>
          </a:prstGeom>
          <a:noFill/>
          <a:ln/>
        </p:spPr>
        <p:txBody>
          <a:bodyPr wrap="square" lIns="0" tIns="0" rIns="0" bIns="0" rtlCol="0" anchor="ctr"/>
          <a:lstStyle/>
          <a:p>
            <a:pPr indent="0" marL="0">
              <a:lnSpc>
                <a:spcPct val="110000"/>
              </a:lnSpc>
              <a:buNone/>
            </a:pPr>
            <a:r>
              <a:rPr lang="en-US" sz="1250" b="1" dirty="0">
                <a:solidFill>
                  <a:srgbClr val="1E2761"/>
                </a:solidFill>
                <a:latin typeface="Calibri" pitchFamily="34" charset="0"/>
                <a:ea typeface="Calibri" pitchFamily="34" charset="-122"/>
                <a:cs typeface="Calibri" pitchFamily="34" charset="-120"/>
              </a:rPr>
              <a:t>No formal independent model-risk validation</a:t>
            </a:r>
            <a:endParaRPr lang="en-US" sz="1250" dirty="0"/>
          </a:p>
        </p:txBody>
      </p:sp>
      <p:sp>
        <p:nvSpPr>
          <p:cNvPr id="10" name="Text 8"/>
          <p:cNvSpPr/>
          <p:nvPr/>
        </p:nvSpPr>
        <p:spPr>
          <a:xfrm>
            <a:off x="4800600" y="3383280"/>
            <a:ext cx="6446520" cy="868680"/>
          </a:xfrm>
          <a:prstGeom prst="rect">
            <a:avLst/>
          </a:prstGeom>
          <a:noFill/>
          <a:ln/>
        </p:spPr>
        <p:txBody>
          <a:bodyPr wrap="square" lIns="0" tIns="0" rIns="0" bIns="0" rtlCol="0" anchor="ctr"/>
          <a:lstStyle/>
          <a:p>
            <a:pPr indent="0" marL="0">
              <a:lnSpc>
                <a:spcPct val="115000"/>
              </a:lnSpc>
              <a:buNone/>
            </a:pPr>
            <a:r>
              <a:rPr lang="en-US" sz="1130" dirty="0">
                <a:solidFill>
                  <a:srgbClr val="5B6B8C"/>
                </a:solidFill>
                <a:latin typeface="Calibri" pitchFamily="34" charset="0"/>
                <a:ea typeface="Calibri" pitchFamily="34" charset="-122"/>
                <a:cs typeface="Calibri" pitchFamily="34" charset="-120"/>
              </a:rPr>
              <a:t>Today's validation is design-based (McCrary, pre-trends, randomization balance) and, here, grading against a KNOWN synthetic truth — a real deployment needs an independent conceptual-soundness review per SR 11-7.</a:t>
            </a:r>
            <a:endParaRPr lang="en-US" sz="1130" dirty="0"/>
          </a:p>
        </p:txBody>
      </p:sp>
      <p:sp>
        <p:nvSpPr>
          <p:cNvPr id="11" name="Shape 9"/>
          <p:cNvSpPr/>
          <p:nvPr/>
        </p:nvSpPr>
        <p:spPr>
          <a:xfrm>
            <a:off x="548640" y="4526280"/>
            <a:ext cx="10881360" cy="1051560"/>
          </a:xfrm>
          <a:prstGeom prst="roundRect">
            <a:avLst>
              <a:gd name="adj" fmla="val 5217"/>
            </a:avLst>
          </a:prstGeom>
          <a:solidFill>
            <a:srgbClr val="EEF3FC"/>
          </a:solidFill>
          <a:ln/>
        </p:spPr>
      </p:sp>
      <p:sp>
        <p:nvSpPr>
          <p:cNvPr id="12" name="Text 10"/>
          <p:cNvSpPr/>
          <p:nvPr/>
        </p:nvSpPr>
        <p:spPr>
          <a:xfrm>
            <a:off x="822960" y="4617720"/>
            <a:ext cx="3840480" cy="868680"/>
          </a:xfrm>
          <a:prstGeom prst="rect">
            <a:avLst/>
          </a:prstGeom>
          <a:noFill/>
          <a:ln/>
        </p:spPr>
        <p:txBody>
          <a:bodyPr wrap="square" lIns="0" tIns="0" rIns="0" bIns="0" rtlCol="0" anchor="ctr"/>
          <a:lstStyle/>
          <a:p>
            <a:pPr indent="0" marL="0">
              <a:lnSpc>
                <a:spcPct val="110000"/>
              </a:lnSpc>
              <a:buNone/>
            </a:pPr>
            <a:r>
              <a:rPr lang="en-US" sz="1250" b="1" dirty="0">
                <a:solidFill>
                  <a:srgbClr val="1E2761"/>
                </a:solidFill>
                <a:latin typeface="Calibri" pitchFamily="34" charset="0"/>
                <a:ea typeface="Calibri" pitchFamily="34" charset="-122"/>
                <a:cs typeface="Calibri" pitchFamily="34" charset="-120"/>
              </a:rPr>
              <a:t>Synthetic data throughout</a:t>
            </a:r>
            <a:endParaRPr lang="en-US" sz="1250" dirty="0"/>
          </a:p>
        </p:txBody>
      </p:sp>
      <p:sp>
        <p:nvSpPr>
          <p:cNvPr id="13" name="Text 11"/>
          <p:cNvSpPr/>
          <p:nvPr/>
        </p:nvSpPr>
        <p:spPr>
          <a:xfrm>
            <a:off x="4800600" y="4617720"/>
            <a:ext cx="6446520" cy="868680"/>
          </a:xfrm>
          <a:prstGeom prst="rect">
            <a:avLst/>
          </a:prstGeom>
          <a:noFill/>
          <a:ln/>
        </p:spPr>
        <p:txBody>
          <a:bodyPr wrap="square" lIns="0" tIns="0" rIns="0" bIns="0" rtlCol="0" anchor="ctr"/>
          <a:lstStyle/>
          <a:p>
            <a:pPr indent="0" marL="0">
              <a:lnSpc>
                <a:spcPct val="115000"/>
              </a:lnSpc>
              <a:buNone/>
            </a:pPr>
            <a:r>
              <a:rPr lang="en-US" sz="1130" dirty="0">
                <a:solidFill>
                  <a:srgbClr val="5B6B8C"/>
                </a:solidFill>
                <a:latin typeface="Calibri" pitchFamily="34" charset="0"/>
                <a:ea typeface="Calibri" pitchFamily="34" charset="-122"/>
                <a:cs typeface="Calibri" pitchFamily="34" charset="-120"/>
              </a:rPr>
              <a:t>Built specifically so I could validate method correctness with a known ground truth — real deployment validates differently, without that luxury, and needs its own live monitoring for effect decay over time.</a:t>
            </a:r>
            <a:endParaRPr lang="en-US" sz="1130" dirty="0"/>
          </a:p>
        </p:txBody>
      </p:sp>
      <p:sp>
        <p:nvSpPr>
          <p:cNvPr id="14" name="Text 12"/>
          <p:cNvSpPr/>
          <p:nvPr/>
        </p:nvSpPr>
        <p:spPr>
          <a:xfrm>
            <a:off x="548640" y="5806440"/>
            <a:ext cx="10881360" cy="68580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That gap between “validated by outcome” and “validated by design, before launch” is exactly what draws me to this role — building the analytical engine where that rigor is the default, not a stretch goal.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4114800"/>
            <a:ext cx="5029200" cy="5029200"/>
          </a:xfrm>
          <a:prstGeom prst="ellipse">
            <a:avLst/>
          </a:prstGeom>
          <a:solidFill>
            <a:srgbClr val="2C4870"/>
          </a:solidFill>
          <a:ln/>
        </p:spPr>
      </p:sp>
      <p:sp>
        <p:nvSpPr>
          <p:cNvPr id="3" name="Text 1"/>
          <p:cNvSpPr/>
          <p:nvPr/>
        </p:nvSpPr>
        <p:spPr>
          <a:xfrm>
            <a:off x="640080" y="2286000"/>
            <a:ext cx="9144000" cy="10972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4" name="Text 2"/>
          <p:cNvSpPr/>
          <p:nvPr/>
        </p:nvSpPr>
        <p:spPr>
          <a:xfrm>
            <a:off x="640080" y="3291840"/>
            <a:ext cx="960120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Predict → Explain (causally) → Optimize → Act — one decision engine, four layers of rigor.</a:t>
            </a:r>
            <a:endParaRPr lang="en-US" sz="1500" dirty="0"/>
          </a:p>
        </p:txBody>
      </p:sp>
      <p:sp>
        <p:nvSpPr>
          <p:cNvPr id="5" name="Text 3"/>
          <p:cNvSpPr/>
          <p:nvPr/>
        </p:nvSpPr>
        <p:spPr>
          <a:xfrm>
            <a:off x="640080" y="3977640"/>
            <a:ext cx="73152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Questions welcome.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C1613C"/>
                </a:solidFill>
                <a:latin typeface="Calibri" pitchFamily="34" charset="0"/>
                <a:ea typeface="Calibri" pitchFamily="34" charset="-122"/>
                <a:cs typeface="Calibri" pitchFamily="34" charset="-120"/>
              </a:rPr>
              <a:t>APPENDIX — BACKUP, IN CASE ASKED</a:t>
            </a:r>
            <a:endParaRPr lang="en-US" sz="1200" dirty="0"/>
          </a:p>
        </p:txBody>
      </p:sp>
      <p:sp>
        <p:nvSpPr>
          <p:cNvPr id="3" name="Text 1"/>
          <p:cNvSpPr/>
          <p:nvPr/>
        </p:nvSpPr>
        <p:spPr>
          <a:xfrm>
            <a:off x="548640" y="658368"/>
            <a:ext cx="10789920" cy="822960"/>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Why a 90/10 holdout still has enough power to detect the effect</a:t>
            </a:r>
            <a:endParaRPr lang="en-US" sz="2800" dirty="0"/>
          </a:p>
        </p:txBody>
      </p:sp>
      <p:sp>
        <p:nvSpPr>
          <p:cNvPr id="4" name="Text 2"/>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548640" y="1874520"/>
            <a:ext cx="5212080" cy="4297680"/>
          </a:xfrm>
          <a:prstGeom prst="roundRect">
            <a:avLst>
              <a:gd name="adj" fmla="val 1702"/>
            </a:avLst>
          </a:prstGeom>
          <a:solidFill>
            <a:srgbClr val="EEF3FC"/>
          </a:solidFill>
          <a:ln/>
        </p:spPr>
      </p:sp>
      <p:sp>
        <p:nvSpPr>
          <p:cNvPr id="6" name="Text 4"/>
          <p:cNvSpPr/>
          <p:nvPr/>
        </p:nvSpPr>
        <p:spPr>
          <a:xfrm>
            <a:off x="822960" y="2057400"/>
            <a:ext cx="4663440" cy="320040"/>
          </a:xfrm>
          <a:prstGeom prst="rect">
            <a:avLst/>
          </a:prstGeom>
          <a:noFill/>
          <a:ln/>
        </p:spPr>
        <p:txBody>
          <a:bodyPr wrap="square" lIns="0" tIns="0" rIns="0" bIns="0" rtlCol="0" anchor="ctr"/>
          <a:lstStyle/>
          <a:p>
            <a:pPr indent="0" marL="0">
              <a:buNone/>
            </a:pPr>
            <a:r>
              <a:rPr lang="en-US" sz="1200" b="1" spc="150" kern="0" dirty="0">
                <a:solidFill>
                  <a:srgbClr val="C1613C"/>
                </a:solidFill>
                <a:latin typeface="Calibri" pitchFamily="34" charset="0"/>
                <a:ea typeface="Calibri" pitchFamily="34" charset="-122"/>
                <a:cs typeface="Calibri" pitchFamily="34" charset="-120"/>
              </a:rPr>
              <a:t>THE FORMULAS</a:t>
            </a:r>
            <a:endParaRPr lang="en-US" sz="1200" dirty="0"/>
          </a:p>
        </p:txBody>
      </p:sp>
      <p:sp>
        <p:nvSpPr>
          <p:cNvPr id="7" name="Text 5"/>
          <p:cNvSpPr/>
          <p:nvPr/>
        </p:nvSpPr>
        <p:spPr>
          <a:xfrm>
            <a:off x="822960" y="2423160"/>
            <a:ext cx="4709160" cy="1920240"/>
          </a:xfrm>
          <a:prstGeom prst="rect">
            <a:avLst/>
          </a:prstGeom>
          <a:noFill/>
          <a:ln/>
        </p:spPr>
        <p:txBody>
          <a:bodyPr wrap="square" lIns="0" tIns="0" rIns="0" bIns="0" rtlCol="0" anchor="ctr"/>
          <a:lstStyle/>
          <a:p>
            <a:pPr indent="0" marL="0">
              <a:lnSpc>
                <a:spcPct val="135000"/>
              </a:lnSpc>
              <a:spcAft>
                <a:spcPts val="800"/>
              </a:spcAft>
              <a:buNone/>
            </a:pPr>
            <a:r>
              <a:rPr lang="en-US" sz="1200" dirty="0">
                <a:solidFill>
                  <a:srgbClr val="1E2761"/>
                </a:solidFill>
                <a:latin typeface="Calibri" pitchFamily="34" charset="0"/>
                <a:ea typeface="Calibri" pitchFamily="34" charset="-122"/>
                <a:cs typeface="Calibri" pitchFamily="34" charset="-120"/>
              </a:rPr>
              <a:t>SE (pooled, for the test):  √[ p̄(1−p̄)(1/n₁ + 1/n₂) ]</a:t>
            </a:r>
            <a:endParaRPr lang="en-US" sz="1200" dirty="0"/>
          </a:p>
          <a:p>
            <a:pPr indent="0" marL="0">
              <a:lnSpc>
                <a:spcPct val="135000"/>
              </a:lnSpc>
              <a:spcAft>
                <a:spcPts val="800"/>
              </a:spcAft>
              <a:buNone/>
            </a:pPr>
            <a:r>
              <a:rPr lang="en-US" sz="1200" dirty="0">
                <a:solidFill>
                  <a:srgbClr val="1E2761"/>
                </a:solidFill>
                <a:latin typeface="Calibri" pitchFamily="34" charset="0"/>
                <a:ea typeface="Calibri" pitchFamily="34" charset="-122"/>
                <a:cs typeface="Calibri" pitchFamily="34" charset="-120"/>
              </a:rPr>
              <a:t>z = (p₁ − p₂) / SE</a:t>
            </a:r>
            <a:endParaRPr lang="en-US" sz="1200" dirty="0"/>
          </a:p>
          <a:p>
            <a:pPr indent="0" marL="0">
              <a:lnSpc>
                <a:spcPct val="135000"/>
              </a:lnSpc>
              <a:spcAft>
                <a:spcPts val="800"/>
              </a:spcAft>
              <a:buNone/>
            </a:pPr>
            <a:r>
              <a:rPr lang="en-US" sz="1200" dirty="0">
                <a:solidFill>
                  <a:srgbClr val="1E2761"/>
                </a:solidFill>
                <a:latin typeface="Calibri" pitchFamily="34" charset="0"/>
                <a:ea typeface="Calibri" pitchFamily="34" charset="-122"/>
                <a:cs typeface="Calibri" pitchFamily="34" charset="-120"/>
              </a:rPr>
              <a:t>Power ≈ Φ(|z| − z꜀ᵣᵢₜ), z꜀ᵣᵢₜ = 1.96 for a two-sided α=0.05</a:t>
            </a:r>
            <a:endParaRPr lang="en-US" sz="1200" dirty="0"/>
          </a:p>
          <a:p>
            <a:pPr indent="0" marL="0">
              <a:lnSpc>
                <a:spcPct val="135000"/>
              </a:lnSpc>
              <a:spcAft>
                <a:spcPts val="800"/>
              </a:spcAft>
              <a:buNone/>
            </a:pPr>
            <a:r>
              <a:rPr lang="en-US" sz="1200" dirty="0">
                <a:solidFill>
                  <a:srgbClr val="1E2761"/>
                </a:solidFill>
                <a:latin typeface="Calibri" pitchFamily="34" charset="0"/>
                <a:ea typeface="Calibri" pitchFamily="34" charset="-122"/>
                <a:cs typeface="Calibri" pitchFamily="34" charset="-120"/>
              </a:rPr>
              <a:t>Design effect (fixed total n, unequal split): 1 / [4·r·(1−r)], r = treated-arm share</a:t>
            </a:r>
            <a:endParaRPr lang="en-US" sz="1200" dirty="0"/>
          </a:p>
        </p:txBody>
      </p:sp>
      <p:sp>
        <p:nvSpPr>
          <p:cNvPr id="8" name="Text 6"/>
          <p:cNvSpPr/>
          <p:nvPr/>
        </p:nvSpPr>
        <p:spPr>
          <a:xfrm>
            <a:off x="822960" y="4434840"/>
            <a:ext cx="4709160" cy="1600200"/>
          </a:xfrm>
          <a:prstGeom prst="rect">
            <a:avLst/>
          </a:prstGeom>
          <a:noFill/>
          <a:ln/>
        </p:spPr>
        <p:txBody>
          <a:bodyPr wrap="square" lIns="0" tIns="0" rIns="0" bIns="0" rtlCol="0" anchor="ctr"/>
          <a:lstStyle/>
          <a:p>
            <a:pPr indent="0" marL="0">
              <a:lnSpc>
                <a:spcPct val="122000"/>
              </a:lnSpc>
              <a:buNone/>
            </a:pPr>
            <a:r>
              <a:rPr lang="en-US" sz="1100" i="1" dirty="0">
                <a:solidFill>
                  <a:srgbClr val="5B6B8C"/>
                </a:solidFill>
                <a:latin typeface="Calibri" pitchFamily="34" charset="0"/>
                <a:ea typeface="Calibri" pitchFamily="34" charset="-122"/>
                <a:cs typeface="Calibri" pitchFamily="34" charset="-120"/>
              </a:rPr>
              <a:t>At r=0.5 the design effect is exactly 1 (no penalty). At r=0.9 (this project's actual split), it's 1/(4·0.9·0.1) = 2.78× the variance a 50/50 split of the SAME total n would have had — worse, but only ~1.67× the SE (√2.78), not a 10x disaster. It's the ABSOLUTE size of the smaller arm (~600 accounts here), not its SHARE, that ultimately sets the precision floor.</a:t>
            </a:r>
            <a:endParaRPr lang="en-US" sz="1100" dirty="0"/>
          </a:p>
        </p:txBody>
      </p:sp>
      <p:sp>
        <p:nvSpPr>
          <p:cNvPr id="9" name="Shape 7"/>
          <p:cNvSpPr/>
          <p:nvPr/>
        </p:nvSpPr>
        <p:spPr>
          <a:xfrm>
            <a:off x="5989320" y="1874520"/>
            <a:ext cx="5532120" cy="4297680"/>
          </a:xfrm>
          <a:prstGeom prst="roundRect">
            <a:avLst>
              <a:gd name="adj" fmla="val 1702"/>
            </a:avLst>
          </a:prstGeom>
          <a:solidFill>
            <a:srgbClr val="1E2761"/>
          </a:solidFill>
          <a:ln/>
        </p:spPr>
      </p:sp>
      <p:sp>
        <p:nvSpPr>
          <p:cNvPr id="10" name="Text 8"/>
          <p:cNvSpPr/>
          <p:nvPr/>
        </p:nvSpPr>
        <p:spPr>
          <a:xfrm>
            <a:off x="6309360" y="2057400"/>
            <a:ext cx="4937760" cy="320040"/>
          </a:xfrm>
          <a:prstGeom prst="rect">
            <a:avLst/>
          </a:prstGeom>
          <a:noFill/>
          <a:ln/>
        </p:spPr>
        <p:txBody>
          <a:bodyPr wrap="square" lIns="0" tIns="0" rIns="0" bIns="0" rtlCol="0" anchor="ctr"/>
          <a:lstStyle/>
          <a:p>
            <a:pPr indent="0" marL="0">
              <a:buNone/>
            </a:pPr>
            <a:r>
              <a:rPr lang="en-US" sz="1080" b="1" spc="50" kern="0" dirty="0">
                <a:solidFill>
                  <a:srgbClr val="C1613C"/>
                </a:solidFill>
                <a:latin typeface="Calibri" pitchFamily="34" charset="0"/>
                <a:ea typeface="Calibri" pitchFamily="34" charset="-122"/>
                <a:cs typeface="Calibri" pitchFamily="34" charset="-120"/>
              </a:rPr>
              <a:t>WORKED EXAMPLE — LV TIER (SMS), FIXED TOTAL n=6,000</a:t>
            </a:r>
            <a:endParaRPr lang="en-US" sz="1080" dirty="0"/>
          </a:p>
        </p:txBody>
      </p:sp>
      <p:sp>
        <p:nvSpPr>
          <p:cNvPr id="11" name="Text 9"/>
          <p:cNvSpPr/>
          <p:nvPr/>
        </p:nvSpPr>
        <p:spPr>
          <a:xfrm>
            <a:off x="6309360" y="2450592"/>
            <a:ext cx="1143000" cy="310896"/>
          </a:xfrm>
          <a:prstGeom prst="rect">
            <a:avLst/>
          </a:prstGeom>
          <a:noFill/>
          <a:ln/>
        </p:spPr>
        <p:txBody>
          <a:bodyPr wrap="square" lIns="0" tIns="0" rIns="0" bIns="0" rtlCol="0" anchor="ctr"/>
          <a:lstStyle/>
          <a:p>
            <a:pPr algn="l" indent="0" marL="0">
              <a:buNone/>
            </a:pPr>
            <a:r>
              <a:rPr lang="en-US" sz="1000" b="1" dirty="0">
                <a:solidFill>
                  <a:srgbClr val="C1613C"/>
                </a:solidFill>
                <a:latin typeface="Calibri" pitchFamily="34" charset="0"/>
                <a:ea typeface="Calibri" pitchFamily="34" charset="-122"/>
                <a:cs typeface="Calibri" pitchFamily="34" charset="-120"/>
              </a:rPr>
              <a:t>treated share r</a:t>
            </a:r>
            <a:endParaRPr lang="en-US" sz="1000" dirty="0"/>
          </a:p>
        </p:txBody>
      </p:sp>
      <p:sp>
        <p:nvSpPr>
          <p:cNvPr id="12" name="Text 10"/>
          <p:cNvSpPr/>
          <p:nvPr/>
        </p:nvSpPr>
        <p:spPr>
          <a:xfrm>
            <a:off x="7452360" y="2450592"/>
            <a:ext cx="914400" cy="310896"/>
          </a:xfrm>
          <a:prstGeom prst="rect">
            <a:avLst/>
          </a:prstGeom>
          <a:noFill/>
          <a:ln/>
        </p:spPr>
        <p:txBody>
          <a:bodyPr wrap="square" lIns="0" tIns="0" rIns="0" bIns="0" rtlCol="0" anchor="ctr"/>
          <a:lstStyle/>
          <a:p>
            <a:pPr algn="r" indent="0" marL="0">
              <a:buNone/>
            </a:pPr>
            <a:r>
              <a:rPr lang="en-US" sz="1000" b="1" dirty="0">
                <a:solidFill>
                  <a:srgbClr val="C1613C"/>
                </a:solidFill>
                <a:latin typeface="Calibri" pitchFamily="34" charset="0"/>
                <a:ea typeface="Calibri" pitchFamily="34" charset="-122"/>
                <a:cs typeface="Calibri" pitchFamily="34" charset="-120"/>
              </a:rPr>
              <a:t>n treated</a:t>
            </a:r>
            <a:endParaRPr lang="en-US" sz="1000" dirty="0"/>
          </a:p>
        </p:txBody>
      </p:sp>
      <p:sp>
        <p:nvSpPr>
          <p:cNvPr id="13" name="Text 11"/>
          <p:cNvSpPr/>
          <p:nvPr/>
        </p:nvSpPr>
        <p:spPr>
          <a:xfrm>
            <a:off x="8366760" y="2450592"/>
            <a:ext cx="914400" cy="310896"/>
          </a:xfrm>
          <a:prstGeom prst="rect">
            <a:avLst/>
          </a:prstGeom>
          <a:noFill/>
          <a:ln/>
        </p:spPr>
        <p:txBody>
          <a:bodyPr wrap="square" lIns="0" tIns="0" rIns="0" bIns="0" rtlCol="0" anchor="ctr"/>
          <a:lstStyle/>
          <a:p>
            <a:pPr algn="r" indent="0" marL="0">
              <a:buNone/>
            </a:pPr>
            <a:r>
              <a:rPr lang="en-US" sz="1000" b="1" dirty="0">
                <a:solidFill>
                  <a:srgbClr val="C1613C"/>
                </a:solidFill>
                <a:latin typeface="Calibri" pitchFamily="34" charset="0"/>
                <a:ea typeface="Calibri" pitchFamily="34" charset="-122"/>
                <a:cs typeface="Calibri" pitchFamily="34" charset="-120"/>
              </a:rPr>
              <a:t>n holdout</a:t>
            </a:r>
            <a:endParaRPr lang="en-US" sz="1000" dirty="0"/>
          </a:p>
        </p:txBody>
      </p:sp>
      <p:sp>
        <p:nvSpPr>
          <p:cNvPr id="14" name="Text 12"/>
          <p:cNvSpPr/>
          <p:nvPr/>
        </p:nvSpPr>
        <p:spPr>
          <a:xfrm>
            <a:off x="9281160" y="2450592"/>
            <a:ext cx="731520" cy="310896"/>
          </a:xfrm>
          <a:prstGeom prst="rect">
            <a:avLst/>
          </a:prstGeom>
          <a:noFill/>
          <a:ln/>
        </p:spPr>
        <p:txBody>
          <a:bodyPr wrap="square" lIns="0" tIns="0" rIns="0" bIns="0" rtlCol="0" anchor="ctr"/>
          <a:lstStyle/>
          <a:p>
            <a:pPr algn="r" indent="0" marL="0">
              <a:buNone/>
            </a:pPr>
            <a:r>
              <a:rPr lang="en-US" sz="1000" b="1" dirty="0">
                <a:solidFill>
                  <a:srgbClr val="C1613C"/>
                </a:solidFill>
                <a:latin typeface="Calibri" pitchFamily="34" charset="0"/>
                <a:ea typeface="Calibri" pitchFamily="34" charset="-122"/>
                <a:cs typeface="Calibri" pitchFamily="34" charset="-120"/>
              </a:rPr>
              <a:t>SE</a:t>
            </a:r>
            <a:endParaRPr lang="en-US" sz="1000" dirty="0"/>
          </a:p>
        </p:txBody>
      </p:sp>
      <p:sp>
        <p:nvSpPr>
          <p:cNvPr id="15" name="Text 13"/>
          <p:cNvSpPr/>
          <p:nvPr/>
        </p:nvSpPr>
        <p:spPr>
          <a:xfrm>
            <a:off x="10012680" y="2450592"/>
            <a:ext cx="640080" cy="310896"/>
          </a:xfrm>
          <a:prstGeom prst="rect">
            <a:avLst/>
          </a:prstGeom>
          <a:noFill/>
          <a:ln/>
        </p:spPr>
        <p:txBody>
          <a:bodyPr wrap="square" lIns="0" tIns="0" rIns="0" bIns="0" rtlCol="0" anchor="ctr"/>
          <a:lstStyle/>
          <a:p>
            <a:pPr algn="r" indent="0" marL="0">
              <a:buNone/>
            </a:pPr>
            <a:r>
              <a:rPr lang="en-US" sz="1000" b="1" dirty="0">
                <a:solidFill>
                  <a:srgbClr val="C1613C"/>
                </a:solidFill>
                <a:latin typeface="Calibri" pitchFamily="34" charset="0"/>
                <a:ea typeface="Calibri" pitchFamily="34" charset="-122"/>
                <a:cs typeface="Calibri" pitchFamily="34" charset="-120"/>
              </a:rPr>
              <a:t>z</a:t>
            </a:r>
            <a:endParaRPr lang="en-US" sz="1000" dirty="0"/>
          </a:p>
        </p:txBody>
      </p:sp>
      <p:sp>
        <p:nvSpPr>
          <p:cNvPr id="16" name="Text 14"/>
          <p:cNvSpPr/>
          <p:nvPr/>
        </p:nvSpPr>
        <p:spPr>
          <a:xfrm>
            <a:off x="10652760" y="2450592"/>
            <a:ext cx="822960" cy="310896"/>
          </a:xfrm>
          <a:prstGeom prst="rect">
            <a:avLst/>
          </a:prstGeom>
          <a:noFill/>
          <a:ln/>
        </p:spPr>
        <p:txBody>
          <a:bodyPr wrap="square" lIns="0" tIns="0" rIns="0" bIns="0" rtlCol="0" anchor="ctr"/>
          <a:lstStyle/>
          <a:p>
            <a:pPr algn="r" indent="0" marL="0">
              <a:buNone/>
            </a:pPr>
            <a:r>
              <a:rPr lang="en-US" sz="1000" b="1" dirty="0">
                <a:solidFill>
                  <a:srgbClr val="C1613C"/>
                </a:solidFill>
                <a:latin typeface="Calibri" pitchFamily="34" charset="0"/>
                <a:ea typeface="Calibri" pitchFamily="34" charset="-122"/>
                <a:cs typeface="Calibri" pitchFamily="34" charset="-120"/>
              </a:rPr>
              <a:t>power</a:t>
            </a:r>
            <a:endParaRPr lang="en-US" sz="1000" dirty="0"/>
          </a:p>
        </p:txBody>
      </p:sp>
      <p:sp>
        <p:nvSpPr>
          <p:cNvPr id="17" name="Text 15"/>
          <p:cNvSpPr/>
          <p:nvPr/>
        </p:nvSpPr>
        <p:spPr>
          <a:xfrm>
            <a:off x="6309360" y="2779776"/>
            <a:ext cx="1143000" cy="31089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0.50</a:t>
            </a:r>
            <a:endParaRPr lang="en-US" sz="1000" dirty="0"/>
          </a:p>
        </p:txBody>
      </p:sp>
      <p:sp>
        <p:nvSpPr>
          <p:cNvPr id="18" name="Text 16"/>
          <p:cNvSpPr/>
          <p:nvPr/>
        </p:nvSpPr>
        <p:spPr>
          <a:xfrm>
            <a:off x="7452360" y="2779776"/>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3,000</a:t>
            </a:r>
            <a:endParaRPr lang="en-US" sz="1000" dirty="0"/>
          </a:p>
        </p:txBody>
      </p:sp>
      <p:sp>
        <p:nvSpPr>
          <p:cNvPr id="19" name="Text 17"/>
          <p:cNvSpPr/>
          <p:nvPr/>
        </p:nvSpPr>
        <p:spPr>
          <a:xfrm>
            <a:off x="8366760" y="2779776"/>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3,000</a:t>
            </a:r>
            <a:endParaRPr lang="en-US" sz="1000" dirty="0"/>
          </a:p>
        </p:txBody>
      </p:sp>
      <p:sp>
        <p:nvSpPr>
          <p:cNvPr id="20" name="Text 18"/>
          <p:cNvSpPr/>
          <p:nvPr/>
        </p:nvSpPr>
        <p:spPr>
          <a:xfrm>
            <a:off x="9281160" y="2779776"/>
            <a:ext cx="73152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0.0115</a:t>
            </a:r>
            <a:endParaRPr lang="en-US" sz="1000" dirty="0"/>
          </a:p>
        </p:txBody>
      </p:sp>
      <p:sp>
        <p:nvSpPr>
          <p:cNvPr id="21" name="Text 19"/>
          <p:cNvSpPr/>
          <p:nvPr/>
        </p:nvSpPr>
        <p:spPr>
          <a:xfrm>
            <a:off x="10012680" y="2779776"/>
            <a:ext cx="64008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-5.07</a:t>
            </a:r>
            <a:endParaRPr lang="en-US" sz="1000" dirty="0"/>
          </a:p>
        </p:txBody>
      </p:sp>
      <p:sp>
        <p:nvSpPr>
          <p:cNvPr id="22" name="Text 20"/>
          <p:cNvSpPr/>
          <p:nvPr/>
        </p:nvSpPr>
        <p:spPr>
          <a:xfrm>
            <a:off x="10652760" y="2779776"/>
            <a:ext cx="82296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~1.00</a:t>
            </a:r>
            <a:endParaRPr lang="en-US" sz="1000" dirty="0"/>
          </a:p>
        </p:txBody>
      </p:sp>
      <p:sp>
        <p:nvSpPr>
          <p:cNvPr id="23" name="Text 21"/>
          <p:cNvSpPr/>
          <p:nvPr/>
        </p:nvSpPr>
        <p:spPr>
          <a:xfrm>
            <a:off x="6309360" y="3108960"/>
            <a:ext cx="1143000" cy="31089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0.70</a:t>
            </a:r>
            <a:endParaRPr lang="en-US" sz="1000" dirty="0"/>
          </a:p>
        </p:txBody>
      </p:sp>
      <p:sp>
        <p:nvSpPr>
          <p:cNvPr id="24" name="Text 22"/>
          <p:cNvSpPr/>
          <p:nvPr/>
        </p:nvSpPr>
        <p:spPr>
          <a:xfrm>
            <a:off x="7452360" y="3108960"/>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4,200</a:t>
            </a:r>
            <a:endParaRPr lang="en-US" sz="1000" dirty="0"/>
          </a:p>
        </p:txBody>
      </p:sp>
      <p:sp>
        <p:nvSpPr>
          <p:cNvPr id="25" name="Text 23"/>
          <p:cNvSpPr/>
          <p:nvPr/>
        </p:nvSpPr>
        <p:spPr>
          <a:xfrm>
            <a:off x="8366760" y="3108960"/>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1,800</a:t>
            </a:r>
            <a:endParaRPr lang="en-US" sz="1000" dirty="0"/>
          </a:p>
        </p:txBody>
      </p:sp>
      <p:sp>
        <p:nvSpPr>
          <p:cNvPr id="26" name="Text 24"/>
          <p:cNvSpPr/>
          <p:nvPr/>
        </p:nvSpPr>
        <p:spPr>
          <a:xfrm>
            <a:off x="9281160" y="3108960"/>
            <a:ext cx="73152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0.0126</a:t>
            </a:r>
            <a:endParaRPr lang="en-US" sz="1000" dirty="0"/>
          </a:p>
        </p:txBody>
      </p:sp>
      <p:sp>
        <p:nvSpPr>
          <p:cNvPr id="27" name="Text 25"/>
          <p:cNvSpPr/>
          <p:nvPr/>
        </p:nvSpPr>
        <p:spPr>
          <a:xfrm>
            <a:off x="10012680" y="3108960"/>
            <a:ext cx="64008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-4.64</a:t>
            </a:r>
            <a:endParaRPr lang="en-US" sz="1000" dirty="0"/>
          </a:p>
        </p:txBody>
      </p:sp>
      <p:sp>
        <p:nvSpPr>
          <p:cNvPr id="28" name="Text 26"/>
          <p:cNvSpPr/>
          <p:nvPr/>
        </p:nvSpPr>
        <p:spPr>
          <a:xfrm>
            <a:off x="10652760" y="3108960"/>
            <a:ext cx="82296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~1.00</a:t>
            </a:r>
            <a:endParaRPr lang="en-US" sz="1000" dirty="0"/>
          </a:p>
        </p:txBody>
      </p:sp>
      <p:sp>
        <p:nvSpPr>
          <p:cNvPr id="29" name="Text 27"/>
          <p:cNvSpPr/>
          <p:nvPr/>
        </p:nvSpPr>
        <p:spPr>
          <a:xfrm>
            <a:off x="6309360" y="3438144"/>
            <a:ext cx="1143000" cy="31089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0.80</a:t>
            </a:r>
            <a:endParaRPr lang="en-US" sz="1000" dirty="0"/>
          </a:p>
        </p:txBody>
      </p:sp>
      <p:sp>
        <p:nvSpPr>
          <p:cNvPr id="30" name="Text 28"/>
          <p:cNvSpPr/>
          <p:nvPr/>
        </p:nvSpPr>
        <p:spPr>
          <a:xfrm>
            <a:off x="7452360" y="3438144"/>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4,800</a:t>
            </a:r>
            <a:endParaRPr lang="en-US" sz="1000" dirty="0"/>
          </a:p>
        </p:txBody>
      </p:sp>
      <p:sp>
        <p:nvSpPr>
          <p:cNvPr id="31" name="Text 29"/>
          <p:cNvSpPr/>
          <p:nvPr/>
        </p:nvSpPr>
        <p:spPr>
          <a:xfrm>
            <a:off x="8366760" y="3438144"/>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1,200</a:t>
            </a:r>
            <a:endParaRPr lang="en-US" sz="1000" dirty="0"/>
          </a:p>
        </p:txBody>
      </p:sp>
      <p:sp>
        <p:nvSpPr>
          <p:cNvPr id="32" name="Text 30"/>
          <p:cNvSpPr/>
          <p:nvPr/>
        </p:nvSpPr>
        <p:spPr>
          <a:xfrm>
            <a:off x="9281160" y="3438144"/>
            <a:ext cx="73152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0.0144</a:t>
            </a:r>
            <a:endParaRPr lang="en-US" sz="1000" dirty="0"/>
          </a:p>
        </p:txBody>
      </p:sp>
      <p:sp>
        <p:nvSpPr>
          <p:cNvPr id="33" name="Text 31"/>
          <p:cNvSpPr/>
          <p:nvPr/>
        </p:nvSpPr>
        <p:spPr>
          <a:xfrm>
            <a:off x="10012680" y="3438144"/>
            <a:ext cx="64008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-4.05</a:t>
            </a:r>
            <a:endParaRPr lang="en-US" sz="1000" dirty="0"/>
          </a:p>
        </p:txBody>
      </p:sp>
      <p:sp>
        <p:nvSpPr>
          <p:cNvPr id="34" name="Text 32"/>
          <p:cNvSpPr/>
          <p:nvPr/>
        </p:nvSpPr>
        <p:spPr>
          <a:xfrm>
            <a:off x="10652760" y="3438144"/>
            <a:ext cx="82296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0.98</a:t>
            </a:r>
            <a:endParaRPr lang="en-US" sz="1000" dirty="0"/>
          </a:p>
        </p:txBody>
      </p:sp>
      <p:sp>
        <p:nvSpPr>
          <p:cNvPr id="35" name="Text 33"/>
          <p:cNvSpPr/>
          <p:nvPr/>
        </p:nvSpPr>
        <p:spPr>
          <a:xfrm>
            <a:off x="6309360" y="3767328"/>
            <a:ext cx="1143000" cy="310896"/>
          </a:xfrm>
          <a:prstGeom prst="rect">
            <a:avLst/>
          </a:prstGeom>
          <a:noFill/>
          <a:ln/>
        </p:spPr>
        <p:txBody>
          <a:bodyPr wrap="square" lIns="0" tIns="0" rIns="0" bIns="0" rtlCol="0" anchor="ctr"/>
          <a:lstStyle/>
          <a:p>
            <a:pPr algn="l" indent="0" marL="0">
              <a:buNone/>
            </a:pPr>
            <a:r>
              <a:rPr lang="en-US" sz="1000" dirty="0">
                <a:solidFill>
                  <a:srgbClr val="C1613C"/>
                </a:solidFill>
                <a:latin typeface="Calibri" pitchFamily="34" charset="0"/>
                <a:ea typeface="Calibri" pitchFamily="34" charset="-122"/>
                <a:cs typeface="Calibri" pitchFamily="34" charset="-120"/>
              </a:rPr>
              <a:t>0.90*</a:t>
            </a:r>
            <a:endParaRPr lang="en-US" sz="1000" dirty="0"/>
          </a:p>
        </p:txBody>
      </p:sp>
      <p:sp>
        <p:nvSpPr>
          <p:cNvPr id="36" name="Text 34"/>
          <p:cNvSpPr/>
          <p:nvPr/>
        </p:nvSpPr>
        <p:spPr>
          <a:xfrm>
            <a:off x="7452360" y="3767328"/>
            <a:ext cx="914400" cy="310896"/>
          </a:xfrm>
          <a:prstGeom prst="rect">
            <a:avLst/>
          </a:prstGeom>
          <a:noFill/>
          <a:ln/>
        </p:spPr>
        <p:txBody>
          <a:bodyPr wrap="square" lIns="0" tIns="0" rIns="0" bIns="0" rtlCol="0" anchor="ctr"/>
          <a:lstStyle/>
          <a:p>
            <a:pPr algn="r" indent="0" marL="0">
              <a:buNone/>
            </a:pPr>
            <a:r>
              <a:rPr lang="en-US" sz="1000" dirty="0">
                <a:solidFill>
                  <a:srgbClr val="C1613C"/>
                </a:solidFill>
                <a:latin typeface="Calibri" pitchFamily="34" charset="0"/>
                <a:ea typeface="Calibri" pitchFamily="34" charset="-122"/>
                <a:cs typeface="Calibri" pitchFamily="34" charset="-120"/>
              </a:rPr>
              <a:t>5,400</a:t>
            </a:r>
            <a:endParaRPr lang="en-US" sz="1000" dirty="0"/>
          </a:p>
        </p:txBody>
      </p:sp>
      <p:sp>
        <p:nvSpPr>
          <p:cNvPr id="37" name="Text 35"/>
          <p:cNvSpPr/>
          <p:nvPr/>
        </p:nvSpPr>
        <p:spPr>
          <a:xfrm>
            <a:off x="8366760" y="3767328"/>
            <a:ext cx="914400" cy="310896"/>
          </a:xfrm>
          <a:prstGeom prst="rect">
            <a:avLst/>
          </a:prstGeom>
          <a:noFill/>
          <a:ln/>
        </p:spPr>
        <p:txBody>
          <a:bodyPr wrap="square" lIns="0" tIns="0" rIns="0" bIns="0" rtlCol="0" anchor="ctr"/>
          <a:lstStyle/>
          <a:p>
            <a:pPr algn="r" indent="0" marL="0">
              <a:buNone/>
            </a:pPr>
            <a:r>
              <a:rPr lang="en-US" sz="1000" dirty="0">
                <a:solidFill>
                  <a:srgbClr val="C1613C"/>
                </a:solidFill>
                <a:latin typeface="Calibri" pitchFamily="34" charset="0"/>
                <a:ea typeface="Calibri" pitchFamily="34" charset="-122"/>
                <a:cs typeface="Calibri" pitchFamily="34" charset="-120"/>
              </a:rPr>
              <a:t>600</a:t>
            </a:r>
            <a:endParaRPr lang="en-US" sz="1000" dirty="0"/>
          </a:p>
        </p:txBody>
      </p:sp>
      <p:sp>
        <p:nvSpPr>
          <p:cNvPr id="38" name="Text 36"/>
          <p:cNvSpPr/>
          <p:nvPr/>
        </p:nvSpPr>
        <p:spPr>
          <a:xfrm>
            <a:off x="9281160" y="3767328"/>
            <a:ext cx="731520" cy="310896"/>
          </a:xfrm>
          <a:prstGeom prst="rect">
            <a:avLst/>
          </a:prstGeom>
          <a:noFill/>
          <a:ln/>
        </p:spPr>
        <p:txBody>
          <a:bodyPr wrap="square" lIns="0" tIns="0" rIns="0" bIns="0" rtlCol="0" anchor="ctr"/>
          <a:lstStyle/>
          <a:p>
            <a:pPr algn="r" indent="0" marL="0">
              <a:buNone/>
            </a:pPr>
            <a:r>
              <a:rPr lang="en-US" sz="1000" dirty="0">
                <a:solidFill>
                  <a:srgbClr val="C1613C"/>
                </a:solidFill>
                <a:latin typeface="Calibri" pitchFamily="34" charset="0"/>
                <a:ea typeface="Calibri" pitchFamily="34" charset="-122"/>
                <a:cs typeface="Calibri" pitchFamily="34" charset="-120"/>
              </a:rPr>
              <a:t>0.0192</a:t>
            </a:r>
            <a:endParaRPr lang="en-US" sz="1000" dirty="0"/>
          </a:p>
        </p:txBody>
      </p:sp>
      <p:sp>
        <p:nvSpPr>
          <p:cNvPr id="39" name="Text 37"/>
          <p:cNvSpPr/>
          <p:nvPr/>
        </p:nvSpPr>
        <p:spPr>
          <a:xfrm>
            <a:off x="10012680" y="3767328"/>
            <a:ext cx="640080" cy="310896"/>
          </a:xfrm>
          <a:prstGeom prst="rect">
            <a:avLst/>
          </a:prstGeom>
          <a:noFill/>
          <a:ln/>
        </p:spPr>
        <p:txBody>
          <a:bodyPr wrap="square" lIns="0" tIns="0" rIns="0" bIns="0" rtlCol="0" anchor="ctr"/>
          <a:lstStyle/>
          <a:p>
            <a:pPr algn="r" indent="0" marL="0">
              <a:buNone/>
            </a:pPr>
            <a:r>
              <a:rPr lang="en-US" sz="1000" dirty="0">
                <a:solidFill>
                  <a:srgbClr val="C1613C"/>
                </a:solidFill>
                <a:latin typeface="Calibri" pitchFamily="34" charset="0"/>
                <a:ea typeface="Calibri" pitchFamily="34" charset="-122"/>
                <a:cs typeface="Calibri" pitchFamily="34" charset="-120"/>
              </a:rPr>
              <a:t>-3.04</a:t>
            </a:r>
            <a:endParaRPr lang="en-US" sz="1000" dirty="0"/>
          </a:p>
        </p:txBody>
      </p:sp>
      <p:sp>
        <p:nvSpPr>
          <p:cNvPr id="40" name="Text 38"/>
          <p:cNvSpPr/>
          <p:nvPr/>
        </p:nvSpPr>
        <p:spPr>
          <a:xfrm>
            <a:off x="10652760" y="3767328"/>
            <a:ext cx="822960" cy="310896"/>
          </a:xfrm>
          <a:prstGeom prst="rect">
            <a:avLst/>
          </a:prstGeom>
          <a:noFill/>
          <a:ln/>
        </p:spPr>
        <p:txBody>
          <a:bodyPr wrap="square" lIns="0" tIns="0" rIns="0" bIns="0" rtlCol="0" anchor="ctr"/>
          <a:lstStyle/>
          <a:p>
            <a:pPr algn="r" indent="0" marL="0">
              <a:buNone/>
            </a:pPr>
            <a:r>
              <a:rPr lang="en-US" sz="1000" dirty="0">
                <a:solidFill>
                  <a:srgbClr val="C1613C"/>
                </a:solidFill>
                <a:latin typeface="Calibri" pitchFamily="34" charset="0"/>
                <a:ea typeface="Calibri" pitchFamily="34" charset="-122"/>
                <a:cs typeface="Calibri" pitchFamily="34" charset="-120"/>
              </a:rPr>
              <a:t>0.86</a:t>
            </a:r>
            <a:endParaRPr lang="en-US" sz="1000" dirty="0"/>
          </a:p>
        </p:txBody>
      </p:sp>
      <p:sp>
        <p:nvSpPr>
          <p:cNvPr id="41" name="Text 39"/>
          <p:cNvSpPr/>
          <p:nvPr/>
        </p:nvSpPr>
        <p:spPr>
          <a:xfrm>
            <a:off x="6309360" y="4096512"/>
            <a:ext cx="1143000" cy="310896"/>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0.95</a:t>
            </a:r>
            <a:endParaRPr lang="en-US" sz="1000" dirty="0"/>
          </a:p>
        </p:txBody>
      </p:sp>
      <p:sp>
        <p:nvSpPr>
          <p:cNvPr id="42" name="Text 40"/>
          <p:cNvSpPr/>
          <p:nvPr/>
        </p:nvSpPr>
        <p:spPr>
          <a:xfrm>
            <a:off x="7452360" y="4096512"/>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5,700</a:t>
            </a:r>
            <a:endParaRPr lang="en-US" sz="1000" dirty="0"/>
          </a:p>
        </p:txBody>
      </p:sp>
      <p:sp>
        <p:nvSpPr>
          <p:cNvPr id="43" name="Text 41"/>
          <p:cNvSpPr/>
          <p:nvPr/>
        </p:nvSpPr>
        <p:spPr>
          <a:xfrm>
            <a:off x="8366760" y="4096512"/>
            <a:ext cx="91440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300</a:t>
            </a:r>
            <a:endParaRPr lang="en-US" sz="1000" dirty="0"/>
          </a:p>
        </p:txBody>
      </p:sp>
      <p:sp>
        <p:nvSpPr>
          <p:cNvPr id="44" name="Text 42"/>
          <p:cNvSpPr/>
          <p:nvPr/>
        </p:nvSpPr>
        <p:spPr>
          <a:xfrm>
            <a:off x="9281160" y="4096512"/>
            <a:ext cx="73152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0.0264</a:t>
            </a:r>
            <a:endParaRPr lang="en-US" sz="1000" dirty="0"/>
          </a:p>
        </p:txBody>
      </p:sp>
      <p:sp>
        <p:nvSpPr>
          <p:cNvPr id="45" name="Text 43"/>
          <p:cNvSpPr/>
          <p:nvPr/>
        </p:nvSpPr>
        <p:spPr>
          <a:xfrm>
            <a:off x="10012680" y="4096512"/>
            <a:ext cx="64008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-2.21</a:t>
            </a:r>
            <a:endParaRPr lang="en-US" sz="1000" dirty="0"/>
          </a:p>
        </p:txBody>
      </p:sp>
      <p:sp>
        <p:nvSpPr>
          <p:cNvPr id="46" name="Text 44"/>
          <p:cNvSpPr/>
          <p:nvPr/>
        </p:nvSpPr>
        <p:spPr>
          <a:xfrm>
            <a:off x="10652760" y="4096512"/>
            <a:ext cx="822960" cy="310896"/>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0.60</a:t>
            </a:r>
            <a:endParaRPr lang="en-US" sz="1000" dirty="0"/>
          </a:p>
        </p:txBody>
      </p:sp>
      <p:sp>
        <p:nvSpPr>
          <p:cNvPr id="47" name="Text 45"/>
          <p:cNvSpPr/>
          <p:nvPr/>
        </p:nvSpPr>
        <p:spPr>
          <a:xfrm>
            <a:off x="6309360" y="4526280"/>
            <a:ext cx="5029200" cy="1463040"/>
          </a:xfrm>
          <a:prstGeom prst="rect">
            <a:avLst/>
          </a:prstGeom>
          <a:noFill/>
          <a:ln/>
        </p:spPr>
        <p:txBody>
          <a:bodyPr wrap="square" lIns="0" tIns="0" rIns="0" bIns="0" rtlCol="0" anchor="ctr"/>
          <a:lstStyle/>
          <a:p>
            <a:pPr indent="0" marL="0">
              <a:lnSpc>
                <a:spcPct val="125000"/>
              </a:lnSpc>
              <a:buNone/>
            </a:pPr>
            <a:r>
              <a:rPr lang="en-US" sz="1080" i="1" dirty="0">
                <a:solidFill>
                  <a:srgbClr val="CADCFC"/>
                </a:solidFill>
                <a:latin typeface="Calibri" pitchFamily="34" charset="0"/>
                <a:ea typeface="Calibri" pitchFamily="34" charset="-122"/>
                <a:cs typeface="Calibri" pitchFamily="34" charset="-120"/>
              </a:rPr>
              <a:t>* actual design. Holding total n and the OBSERVED effect fixed, power stays reasonable (~0.86) at the actual 90/10 split — the point of running this table is to show that choice was checked, not assumed.</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2026-08-20T05:43:48Z</dcterms:created>
  <dcterms:modified xsi:type="dcterms:W3CDTF">2026-08-20T05:43:48Z</dcterms:modified>
</cp:coreProperties>
</file>